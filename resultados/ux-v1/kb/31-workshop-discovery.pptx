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6"/>
  </p:notesMasterIdLst>
  <p:sldIdLst>
    <p:sldId id="256" r:id="rId2"/>
    <p:sldId id="257" r:id="rId3"/>
    <p:sldId id="258" r:id="rId4"/>
    <p:sldId id="259" r:id="rId5"/>
    <p:sldId id="260" r:id="rId6"/>
    <p:sldId id="261" r:id="rId7"/>
    <p:sldId id="262" r:id="rId8"/>
    <p:sldId id="263" r:id="rId9"/>
    <p:sldId id="287" r:id="rId10"/>
    <p:sldId id="274" r:id="rId11"/>
    <p:sldId id="275" r:id="rId12"/>
    <p:sldId id="276" r:id="rId13"/>
    <p:sldId id="277" r:id="rId14"/>
    <p:sldId id="278" r:id="rId15"/>
    <p:sldId id="279" r:id="rId16"/>
    <p:sldId id="280" r:id="rId17"/>
    <p:sldId id="281" r:id="rId18"/>
    <p:sldId id="282" r:id="rId19"/>
    <p:sldId id="283" r:id="rId20"/>
    <p:sldId id="284" r:id="rId21"/>
    <p:sldId id="285" r:id="rId22"/>
    <p:sldId id="286" r:id="rId23"/>
    <p:sldId id="272" r:id="rId24"/>
    <p:sldId id="273" r:id="rId2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043" autoAdjust="0"/>
    <p:restoredTop sz="94610"/>
  </p:normalViewPr>
  <p:slideViewPr>
    <p:cSldViewPr snapToGrid="0" snapToObjects="1">
      <p:cViewPr varScale="1">
        <p:scale>
          <a:sx n="111" d="100"/>
          <a:sy n="111" d="100"/>
        </p:scale>
        <p:origin x="2142"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671411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APERTURA: 'Hola a todos, gracias por hacer espacio. Soy Eric Toledano, de Final Upgrade AI. 60 minutos exactos. Esta no es una presentación, es una sesión de trabajo donde la voz que más necesito escuchar es la suya.'</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5 min. Empieza tú. Round-robin alfabético. 30 seg cada uno. Captura nombres y números en Google Sheet. Si alguien se extiende: 'Excelente, vamos a profundizar más adelante.'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 min. Lee rápido. NO te detengas a explicar. Cierre: '¿Alguna duda? Si no, avanzamos.'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3 min. Lee la agenda. Frase clave: 'Esta sesión está cronometrada. Voy a cortar cuando se acabe cada bloque.'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 min. Cubre los 3 cards rápido. Punto crítico: 'NO les estoy mostrando una solución cocinada. Lo que digan en los próximos 50 minutos define qué se construye.'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3 min. Pasa los 4 stats con calma. Cierre crítico: 'Estos retos son reales y SW los está trabajando del lado operativo. Nuestro foco hoy NO es esos retos. Nuestro foco es cómo el asesor los maneja cuando aparecen en la conversación.'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3 min. Lee con ritmo. Transición: '¿Alguna les suena fuera de lugar? ¿Falta alguna que es igual o más crítica? Vamos a llegar a esa conversación.'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 min. NO la apures. 'El programa SOLO entrena al asesor. NO va a arreglar la app, ni el mantenimiento. PERO los temas operativos los capturé y quedan registrados separados del programa. No están enviando sus quejas al vacío.'</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9</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11</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12</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13</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14</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15</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16</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17</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18</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19</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20</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21</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22</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 Presenta los 3 cards. Pega pregunta de palabra final en chat. Lee 3-4 respuestas agradeciendo. Cierra: '60 minutos exactos. Gracias por su tiempo y honestidad.'</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final. 'Gracias a todos. Les llega el recap en 72 horas. Cualquier cosa, ya tienen mi correo.'</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0F1B"/>
        </a:solidFill>
        <a:effectLst/>
      </p:bgPr>
    </p:bg>
    <p:spTree>
      <p:nvGrpSpPr>
        <p:cNvPr id="1" name=""/>
        <p:cNvGrpSpPr/>
        <p:nvPr/>
      </p:nvGrpSpPr>
      <p:grpSpPr>
        <a:xfrm>
          <a:off x="0" y="0"/>
          <a:ext cx="0" cy="0"/>
          <a:chOff x="0" y="0"/>
          <a:chExt cx="0" cy="0"/>
        </a:xfrm>
      </p:grpSpPr>
      <p:sp>
        <p:nvSpPr>
          <p:cNvPr id="2" name="Text 0"/>
          <p:cNvSpPr/>
          <p:nvPr/>
        </p:nvSpPr>
        <p:spPr>
          <a:xfrm>
            <a:off x="548640" y="411480"/>
            <a:ext cx="5486400" cy="274320"/>
          </a:xfrm>
          <a:prstGeom prst="rect">
            <a:avLst/>
          </a:prstGeom>
          <a:noFill/>
          <a:ln/>
        </p:spPr>
        <p:txBody>
          <a:bodyPr wrap="square" lIns="0" tIns="0" rIns="0" bIns="0" rtlCol="0" anchor="ctr"/>
          <a:lstStyle/>
          <a:p>
            <a:pPr marL="0" indent="0">
              <a:buNone/>
            </a:pPr>
            <a:r>
              <a:rPr lang="en-US" sz="1100" b="1" kern="0" spc="600" dirty="0">
                <a:solidFill>
                  <a:srgbClr val="EC008C"/>
                </a:solidFill>
                <a:latin typeface="Calibri" pitchFamily="34" charset="0"/>
                <a:ea typeface="Calibri" pitchFamily="34" charset="-122"/>
                <a:cs typeface="Calibri" pitchFamily="34" charset="-120"/>
              </a:rPr>
              <a:t>FINAL UPGRADE AI</a:t>
            </a:r>
            <a:endParaRPr lang="en-US" sz="1100" dirty="0"/>
          </a:p>
        </p:txBody>
      </p:sp>
      <p:sp>
        <p:nvSpPr>
          <p:cNvPr id="3" name="Text 1"/>
          <p:cNvSpPr/>
          <p:nvPr/>
        </p:nvSpPr>
        <p:spPr>
          <a:xfrm>
            <a:off x="10362895" y="411480"/>
            <a:ext cx="1280160" cy="274320"/>
          </a:xfrm>
          <a:prstGeom prst="rect">
            <a:avLst/>
          </a:prstGeom>
          <a:noFill/>
          <a:ln/>
        </p:spPr>
        <p:txBody>
          <a:bodyPr wrap="square" lIns="0" tIns="0" rIns="0" bIns="0" rtlCol="0" anchor="ctr"/>
          <a:lstStyle/>
          <a:p>
            <a:pPr marL="0" indent="0" algn="r">
              <a:buNone/>
            </a:pPr>
            <a:r>
              <a:rPr lang="en-US" sz="1100" b="1" kern="0" spc="400" dirty="0">
                <a:solidFill>
                  <a:srgbClr val="B8B8C5"/>
                </a:solidFill>
                <a:latin typeface="Calibri" pitchFamily="34" charset="0"/>
                <a:ea typeface="Calibri" pitchFamily="34" charset="-122"/>
                <a:cs typeface="Calibri" pitchFamily="34" charset="-120"/>
              </a:rPr>
              <a:t>2026</a:t>
            </a:r>
            <a:endParaRPr lang="en-US" sz="1100" dirty="0"/>
          </a:p>
        </p:txBody>
      </p:sp>
      <p:sp>
        <p:nvSpPr>
          <p:cNvPr id="4" name="Shape 2"/>
          <p:cNvSpPr/>
          <p:nvPr/>
        </p:nvSpPr>
        <p:spPr>
          <a:xfrm>
            <a:off x="548640" y="914400"/>
            <a:ext cx="11094415" cy="0"/>
          </a:xfrm>
          <a:prstGeom prst="line">
            <a:avLst/>
          </a:prstGeom>
          <a:noFill/>
          <a:ln w="12700">
            <a:solidFill>
              <a:srgbClr val="EC008C"/>
            </a:solidFill>
            <a:prstDash val="solid"/>
          </a:ln>
        </p:spPr>
        <p:txBody>
          <a:bodyPr/>
          <a:lstStyle/>
          <a:p>
            <a:endParaRPr lang="es-MX"/>
          </a:p>
        </p:txBody>
      </p:sp>
      <p:sp>
        <p:nvSpPr>
          <p:cNvPr id="5" name="Text 3"/>
          <p:cNvSpPr/>
          <p:nvPr/>
        </p:nvSpPr>
        <p:spPr>
          <a:xfrm>
            <a:off x="548640" y="1554480"/>
            <a:ext cx="10972800" cy="1371600"/>
          </a:xfrm>
          <a:prstGeom prst="rect">
            <a:avLst/>
          </a:prstGeom>
          <a:noFill/>
          <a:ln/>
        </p:spPr>
        <p:txBody>
          <a:bodyPr wrap="square" lIns="0" tIns="0" rIns="0" bIns="0" rtlCol="0" anchor="ctr"/>
          <a:lstStyle/>
          <a:p>
            <a:pPr marL="0" indent="0">
              <a:buNone/>
            </a:pPr>
            <a:r>
              <a:rPr lang="en-US" sz="13000" b="1" dirty="0">
                <a:solidFill>
                  <a:srgbClr val="FFFFFF"/>
                </a:solidFill>
                <a:latin typeface="Calibri" pitchFamily="34" charset="0"/>
                <a:ea typeface="Calibri" pitchFamily="34" charset="-122"/>
                <a:cs typeface="Calibri" pitchFamily="34" charset="-120"/>
              </a:rPr>
              <a:t>WORKSHOP</a:t>
            </a:r>
            <a:endParaRPr lang="en-US" sz="13000" dirty="0"/>
          </a:p>
        </p:txBody>
      </p:sp>
      <p:sp>
        <p:nvSpPr>
          <p:cNvPr id="6" name="Text 4"/>
          <p:cNvSpPr/>
          <p:nvPr/>
        </p:nvSpPr>
        <p:spPr>
          <a:xfrm>
            <a:off x="548640" y="2926080"/>
            <a:ext cx="10972800" cy="1371600"/>
          </a:xfrm>
          <a:prstGeom prst="rect">
            <a:avLst/>
          </a:prstGeom>
          <a:noFill/>
          <a:ln/>
        </p:spPr>
        <p:txBody>
          <a:bodyPr wrap="square" lIns="0" tIns="0" rIns="0" bIns="0" rtlCol="0" anchor="ctr"/>
          <a:lstStyle/>
          <a:p>
            <a:pPr marL="0" indent="0">
              <a:buNone/>
            </a:pPr>
            <a:r>
              <a:rPr lang="en-US" sz="13000" b="1" dirty="0">
                <a:solidFill>
                  <a:srgbClr val="FFFFFF"/>
                </a:solidFill>
                <a:latin typeface="Calibri" pitchFamily="34" charset="0"/>
                <a:ea typeface="Calibri" pitchFamily="34" charset="-122"/>
                <a:cs typeface="Calibri" pitchFamily="34" charset="-120"/>
              </a:rPr>
              <a:t>DISCOVERY</a:t>
            </a:r>
            <a:endParaRPr lang="en-US" sz="13000" dirty="0"/>
          </a:p>
        </p:txBody>
      </p:sp>
      <p:pic>
        <p:nvPicPr>
          <p:cNvPr id="7" name="Image 0" descr="/home/claude/sw_pres/sw_logo_transparent.png"/>
          <p:cNvPicPr>
            <a:picLocks noChangeAspect="1"/>
          </p:cNvPicPr>
          <p:nvPr/>
        </p:nvPicPr>
        <p:blipFill>
          <a:blip r:embed="rId3"/>
          <a:stretch>
            <a:fillRect/>
          </a:stretch>
        </p:blipFill>
        <p:spPr>
          <a:xfrm>
            <a:off x="8987331" y="3886631"/>
            <a:ext cx="2534109" cy="2285137"/>
          </a:xfrm>
          <a:prstGeom prst="rect">
            <a:avLst/>
          </a:prstGeom>
        </p:spPr>
      </p:pic>
      <p:sp>
        <p:nvSpPr>
          <p:cNvPr id="8" name="Text 5"/>
          <p:cNvSpPr/>
          <p:nvPr/>
        </p:nvSpPr>
        <p:spPr>
          <a:xfrm>
            <a:off x="548640" y="4572000"/>
            <a:ext cx="8229600" cy="365760"/>
          </a:xfrm>
          <a:prstGeom prst="rect">
            <a:avLst/>
          </a:prstGeom>
          <a:noFill/>
          <a:ln/>
        </p:spPr>
        <p:txBody>
          <a:bodyPr wrap="square" lIns="0" tIns="0" rIns="0" bIns="0" rtlCol="0" anchor="ctr"/>
          <a:lstStyle/>
          <a:p>
            <a:pPr marL="0" indent="0">
              <a:buNone/>
            </a:pPr>
            <a:r>
              <a:rPr lang="en-US" sz="1300" b="1" kern="0" spc="500" dirty="0">
                <a:solidFill>
                  <a:srgbClr val="EC008C"/>
                </a:solidFill>
                <a:latin typeface="Calibri" pitchFamily="34" charset="0"/>
                <a:ea typeface="Calibri" pitchFamily="34" charset="-122"/>
                <a:cs typeface="Calibri" pitchFamily="34" charset="-120"/>
              </a:rPr>
              <a:t>SPORTS WORLD MÉXICO  ·  LÍDERES REGIONALES</a:t>
            </a:r>
            <a:endParaRPr lang="en-US" sz="1300" dirty="0"/>
          </a:p>
        </p:txBody>
      </p:sp>
      <p:sp>
        <p:nvSpPr>
          <p:cNvPr id="9" name="Text 6"/>
          <p:cNvSpPr/>
          <p:nvPr/>
        </p:nvSpPr>
        <p:spPr>
          <a:xfrm>
            <a:off x="548640" y="5029200"/>
            <a:ext cx="8686800" cy="457200"/>
          </a:xfrm>
          <a:prstGeom prst="rect">
            <a:avLst/>
          </a:prstGeom>
          <a:noFill/>
          <a:ln/>
        </p:spPr>
        <p:txBody>
          <a:bodyPr wrap="square" lIns="0" tIns="0" rIns="0" bIns="0" rtlCol="0" anchor="ctr"/>
          <a:lstStyle/>
          <a:p>
            <a:pPr marL="0" indent="0">
              <a:buNone/>
            </a:pPr>
            <a:r>
              <a:rPr lang="en-US" sz="1700" i="1" dirty="0">
                <a:solidFill>
                  <a:srgbClr val="FFFFFF"/>
                </a:solidFill>
                <a:latin typeface="Calibri" pitchFamily="34" charset="0"/>
                <a:ea typeface="Calibri" pitchFamily="34" charset="-122"/>
                <a:cs typeface="Calibri" pitchFamily="34" charset="-120"/>
              </a:rPr>
              <a:t>Sesión de detección de necesidades de capacitación y soporte para asesores comerciales.</a:t>
            </a:r>
            <a:endParaRPr lang="en-US" sz="1700" dirty="0"/>
          </a:p>
        </p:txBody>
      </p:sp>
      <p:sp>
        <p:nvSpPr>
          <p:cNvPr id="10" name="Shape 7"/>
          <p:cNvSpPr/>
          <p:nvPr/>
        </p:nvSpPr>
        <p:spPr>
          <a:xfrm>
            <a:off x="548640" y="6400800"/>
            <a:ext cx="118872" cy="118872"/>
          </a:xfrm>
          <a:prstGeom prst="ellipse">
            <a:avLst/>
          </a:prstGeom>
          <a:solidFill>
            <a:srgbClr val="EC008C"/>
          </a:solidFill>
          <a:ln w="12700">
            <a:solidFill>
              <a:srgbClr val="EC008C"/>
            </a:solidFill>
            <a:prstDash val="solid"/>
          </a:ln>
        </p:spPr>
        <p:txBody>
          <a:bodyPr/>
          <a:lstStyle/>
          <a:p>
            <a:endParaRPr lang="es-MX"/>
          </a:p>
        </p:txBody>
      </p:sp>
      <p:sp>
        <p:nvSpPr>
          <p:cNvPr id="11" name="Text 8"/>
          <p:cNvSpPr/>
          <p:nvPr/>
        </p:nvSpPr>
        <p:spPr>
          <a:xfrm>
            <a:off x="777240" y="6355080"/>
            <a:ext cx="6400800" cy="228600"/>
          </a:xfrm>
          <a:prstGeom prst="rect">
            <a:avLst/>
          </a:prstGeom>
          <a:noFill/>
          <a:ln/>
        </p:spPr>
        <p:txBody>
          <a:bodyPr wrap="square" lIns="0" tIns="0" rIns="0" bIns="0" rtlCol="0" anchor="ctr"/>
          <a:lstStyle/>
          <a:p>
            <a:pPr marL="0" indent="0">
              <a:buNone/>
            </a:pPr>
            <a:r>
              <a:rPr lang="en-US" sz="900" b="1" kern="0" spc="400" dirty="0">
                <a:solidFill>
                  <a:srgbClr val="FFFFFF"/>
                </a:solidFill>
                <a:latin typeface="Calibri" pitchFamily="34" charset="0"/>
                <a:ea typeface="Calibri" pitchFamily="34" charset="-122"/>
                <a:cs typeface="Calibri" pitchFamily="34" charset="-120"/>
              </a:rPr>
              <a:t>FINAL UPGRADE AI  ·  WORKSHOP SPORTS WORLD</a:t>
            </a:r>
            <a:endParaRPr lang="en-US" sz="900" dirty="0"/>
          </a:p>
        </p:txBody>
      </p:sp>
      <p:sp>
        <p:nvSpPr>
          <p:cNvPr id="12" name="Text 9"/>
          <p:cNvSpPr/>
          <p:nvPr/>
        </p:nvSpPr>
        <p:spPr>
          <a:xfrm>
            <a:off x="11002975" y="6355080"/>
            <a:ext cx="640080" cy="228600"/>
          </a:xfrm>
          <a:prstGeom prst="rect">
            <a:avLst/>
          </a:prstGeom>
          <a:noFill/>
          <a:ln/>
        </p:spPr>
        <p:txBody>
          <a:bodyPr wrap="square" lIns="0" tIns="0" rIns="0" bIns="0" rtlCol="0" anchor="ctr"/>
          <a:lstStyle/>
          <a:p>
            <a:pPr marL="0" indent="0" algn="r">
              <a:buNone/>
            </a:pPr>
            <a:r>
              <a:rPr lang="en-US" sz="900" b="1" dirty="0">
                <a:solidFill>
                  <a:srgbClr val="B8B8C5"/>
                </a:solidFill>
                <a:latin typeface="Calibri" pitchFamily="34" charset="0"/>
                <a:ea typeface="Calibri" pitchFamily="34" charset="-122"/>
                <a:cs typeface="Calibri" pitchFamily="34" charset="-120"/>
              </a:rPr>
              <a:t>01 / 18</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0F1B"/>
        </a:solidFill>
        <a:effectLst/>
      </p:bgPr>
    </p:bg>
    <p:spTree>
      <p:nvGrpSpPr>
        <p:cNvPr id="1" name=""/>
        <p:cNvGrpSpPr/>
        <p:nvPr/>
      </p:nvGrpSpPr>
      <p:grpSpPr>
        <a:xfrm>
          <a:off x="0" y="0"/>
          <a:ext cx="0" cy="0"/>
          <a:chOff x="0" y="0"/>
          <a:chExt cx="0" cy="0"/>
        </a:xfrm>
      </p:grpSpPr>
      <p:sp>
        <p:nvSpPr>
          <p:cNvPr id="2" name="Text 0"/>
          <p:cNvSpPr/>
          <p:nvPr/>
        </p:nvSpPr>
        <p:spPr>
          <a:xfrm>
            <a:off x="548640" y="411480"/>
            <a:ext cx="7315200" cy="274320"/>
          </a:xfrm>
          <a:prstGeom prst="rect">
            <a:avLst/>
          </a:prstGeom>
          <a:noFill/>
          <a:ln/>
        </p:spPr>
        <p:txBody>
          <a:bodyPr wrap="square" lIns="0" tIns="0" rIns="0" bIns="0" rtlCol="0" anchor="ctr"/>
          <a:lstStyle/>
          <a:p>
            <a:pPr marL="0" indent="0">
              <a:buNone/>
            </a:pPr>
            <a:r>
              <a:rPr lang="en-US" sz="1100" b="1" kern="0" spc="600" dirty="0">
                <a:solidFill>
                  <a:srgbClr val="EC008C"/>
                </a:solidFill>
                <a:latin typeface="Calibri" pitchFamily="34" charset="0"/>
                <a:ea typeface="Calibri" pitchFamily="34" charset="-122"/>
                <a:cs typeface="Calibri" pitchFamily="34" charset="-120"/>
              </a:rPr>
              <a:t>BIENVENIDA</a:t>
            </a:r>
            <a:endParaRPr lang="en-US" sz="1100" dirty="0"/>
          </a:p>
        </p:txBody>
      </p:sp>
      <p:pic>
        <p:nvPicPr>
          <p:cNvPr id="3" name="Image 0" descr="/home/claude/sw_pres/sw_logo_transparent.png"/>
          <p:cNvPicPr>
            <a:picLocks noChangeAspect="1"/>
          </p:cNvPicPr>
          <p:nvPr/>
        </p:nvPicPr>
        <p:blipFill>
          <a:blip r:embed="rId3"/>
          <a:stretch>
            <a:fillRect/>
          </a:stretch>
        </p:blipFill>
        <p:spPr>
          <a:xfrm>
            <a:off x="11094415" y="228600"/>
            <a:ext cx="777240" cy="777240"/>
          </a:xfrm>
          <a:prstGeom prst="rect">
            <a:avLst/>
          </a:prstGeom>
        </p:spPr>
      </p:pic>
      <p:sp>
        <p:nvSpPr>
          <p:cNvPr id="4" name="Shape 1"/>
          <p:cNvSpPr/>
          <p:nvPr/>
        </p:nvSpPr>
        <p:spPr>
          <a:xfrm>
            <a:off x="548640" y="1005840"/>
            <a:ext cx="9997135" cy="0"/>
          </a:xfrm>
          <a:prstGeom prst="line">
            <a:avLst/>
          </a:prstGeom>
          <a:noFill/>
          <a:ln w="12700">
            <a:solidFill>
              <a:srgbClr val="EC008C"/>
            </a:solidFill>
            <a:prstDash val="solid"/>
          </a:ln>
        </p:spPr>
        <p:txBody>
          <a:bodyPr/>
          <a:lstStyle/>
          <a:p>
            <a:endParaRPr lang="es-MX"/>
          </a:p>
        </p:txBody>
      </p:sp>
      <p:sp>
        <p:nvSpPr>
          <p:cNvPr id="5" name="Shape 2"/>
          <p:cNvSpPr/>
          <p:nvPr/>
        </p:nvSpPr>
        <p:spPr>
          <a:xfrm>
            <a:off x="9905695" y="1417320"/>
            <a:ext cx="1554480" cy="365760"/>
          </a:xfrm>
          <a:prstGeom prst="roundRect">
            <a:avLst>
              <a:gd name="adj" fmla="val 12500"/>
            </a:avLst>
          </a:prstGeom>
          <a:solidFill>
            <a:srgbClr val="1A1A28"/>
          </a:solidFill>
          <a:ln w="12700">
            <a:solidFill>
              <a:srgbClr val="EC008C"/>
            </a:solidFill>
            <a:prstDash val="solid"/>
          </a:ln>
        </p:spPr>
        <p:txBody>
          <a:bodyPr/>
          <a:lstStyle/>
          <a:p>
            <a:endParaRPr lang="es-MX"/>
          </a:p>
        </p:txBody>
      </p:sp>
      <p:sp>
        <p:nvSpPr>
          <p:cNvPr id="6" name="Text 3"/>
          <p:cNvSpPr/>
          <p:nvPr/>
        </p:nvSpPr>
        <p:spPr>
          <a:xfrm>
            <a:off x="9905695" y="1417320"/>
            <a:ext cx="1554480" cy="365760"/>
          </a:xfrm>
          <a:prstGeom prst="rect">
            <a:avLst/>
          </a:prstGeom>
          <a:noFill/>
          <a:ln/>
        </p:spPr>
        <p:txBody>
          <a:bodyPr wrap="square" lIns="0" tIns="0" rIns="0" bIns="0" rtlCol="0" anchor="ctr"/>
          <a:lstStyle/>
          <a:p>
            <a:pPr marL="0" indent="0" algn="ctr">
              <a:buNone/>
            </a:pPr>
            <a:r>
              <a:rPr lang="en-US" sz="1100" b="1" kern="0" spc="200" dirty="0">
                <a:solidFill>
                  <a:srgbClr val="FFFFFF"/>
                </a:solidFill>
                <a:latin typeface="Calibri" pitchFamily="34" charset="0"/>
                <a:ea typeface="Calibri" pitchFamily="34" charset="-122"/>
                <a:cs typeface="Calibri" pitchFamily="34" charset="-120"/>
              </a:rPr>
              <a:t>MIN 0 — 5</a:t>
            </a:r>
            <a:endParaRPr lang="en-US" sz="1100" dirty="0"/>
          </a:p>
        </p:txBody>
      </p:sp>
      <p:sp>
        <p:nvSpPr>
          <p:cNvPr id="7" name="Shape 4"/>
          <p:cNvSpPr/>
          <p:nvPr/>
        </p:nvSpPr>
        <p:spPr>
          <a:xfrm>
            <a:off x="548640" y="1371600"/>
            <a:ext cx="1463040" cy="411480"/>
          </a:xfrm>
          <a:prstGeom prst="roundRect">
            <a:avLst>
              <a:gd name="adj" fmla="val 50000"/>
            </a:avLst>
          </a:prstGeom>
          <a:solidFill>
            <a:srgbClr val="EC008C"/>
          </a:solidFill>
          <a:ln w="12700">
            <a:solidFill>
              <a:srgbClr val="EC008C"/>
            </a:solidFill>
            <a:prstDash val="solid"/>
          </a:ln>
        </p:spPr>
        <p:txBody>
          <a:bodyPr/>
          <a:lstStyle/>
          <a:p>
            <a:endParaRPr lang="es-MX"/>
          </a:p>
        </p:txBody>
      </p:sp>
      <p:sp>
        <p:nvSpPr>
          <p:cNvPr id="8" name="Text 5"/>
          <p:cNvSpPr/>
          <p:nvPr/>
        </p:nvSpPr>
        <p:spPr>
          <a:xfrm>
            <a:off x="548640" y="1371600"/>
            <a:ext cx="1463040" cy="411480"/>
          </a:xfrm>
          <a:prstGeom prst="rect">
            <a:avLst/>
          </a:prstGeom>
          <a:noFill/>
          <a:ln/>
        </p:spPr>
        <p:txBody>
          <a:bodyPr wrap="square" lIns="0" tIns="0" rIns="0" bIns="0" rtlCol="0" anchor="ctr"/>
          <a:lstStyle/>
          <a:p>
            <a:pPr marL="0" indent="0" algn="ctr">
              <a:buNone/>
            </a:pPr>
            <a:r>
              <a:rPr lang="en-US" sz="1100" b="1" kern="0" spc="400" dirty="0">
                <a:solidFill>
                  <a:srgbClr val="FFFFFF"/>
                </a:solidFill>
                <a:latin typeface="Calibri" pitchFamily="34" charset="0"/>
                <a:ea typeface="Calibri" pitchFamily="34" charset="-122"/>
                <a:cs typeface="Calibri" pitchFamily="34" charset="-120"/>
              </a:rPr>
              <a:t>WELCOME</a:t>
            </a:r>
            <a:endParaRPr lang="en-US" sz="1100" dirty="0"/>
          </a:p>
        </p:txBody>
      </p:sp>
      <p:sp>
        <p:nvSpPr>
          <p:cNvPr id="9" name="Text 6"/>
          <p:cNvSpPr/>
          <p:nvPr/>
        </p:nvSpPr>
        <p:spPr>
          <a:xfrm>
            <a:off x="548640" y="2011680"/>
            <a:ext cx="10972800" cy="1097280"/>
          </a:xfrm>
          <a:prstGeom prst="rect">
            <a:avLst/>
          </a:prstGeom>
          <a:noFill/>
          <a:ln/>
        </p:spPr>
        <p:txBody>
          <a:bodyPr wrap="square" lIns="0" tIns="0" rIns="0" bIns="0" rtlCol="0" anchor="ctr"/>
          <a:lstStyle/>
          <a:p>
            <a:pPr marL="0" indent="0">
              <a:buNone/>
            </a:pPr>
            <a:r>
              <a:rPr lang="en-US" sz="5600" b="1" dirty="0">
                <a:solidFill>
                  <a:srgbClr val="FFFFFF"/>
                </a:solidFill>
                <a:latin typeface="Calibri" pitchFamily="34" charset="0"/>
                <a:ea typeface="Calibri" pitchFamily="34" charset="-122"/>
                <a:cs typeface="Calibri" pitchFamily="34" charset="-120"/>
              </a:rPr>
              <a:t>Quiénes estamos en la sala</a:t>
            </a:r>
            <a:endParaRPr lang="en-US" sz="5600" dirty="0"/>
          </a:p>
        </p:txBody>
      </p:sp>
      <p:sp>
        <p:nvSpPr>
          <p:cNvPr id="10" name="Text 7"/>
          <p:cNvSpPr/>
          <p:nvPr/>
        </p:nvSpPr>
        <p:spPr>
          <a:xfrm>
            <a:off x="548640" y="3108960"/>
            <a:ext cx="10972800" cy="365760"/>
          </a:xfrm>
          <a:prstGeom prst="rect">
            <a:avLst/>
          </a:prstGeom>
          <a:noFill/>
          <a:ln/>
        </p:spPr>
        <p:txBody>
          <a:bodyPr wrap="square" lIns="0" tIns="0" rIns="0" bIns="0" rtlCol="0" anchor="ctr"/>
          <a:lstStyle/>
          <a:p>
            <a:pPr marL="0" indent="0">
              <a:buNone/>
            </a:pPr>
            <a:r>
              <a:rPr lang="en-US" sz="1600" i="1" dirty="0">
                <a:solidFill>
                  <a:srgbClr val="B8B8C5"/>
                </a:solidFill>
                <a:latin typeface="Calibri" pitchFamily="34" charset="0"/>
                <a:ea typeface="Calibri" pitchFamily="34" charset="-122"/>
                <a:cs typeface="Calibri" pitchFamily="34" charset="-120"/>
              </a:rPr>
              <a:t>Ronda rápida — 30 segundos por cada uno</a:t>
            </a:r>
            <a:endParaRPr lang="en-US" sz="1600" dirty="0"/>
          </a:p>
        </p:txBody>
      </p:sp>
      <p:sp>
        <p:nvSpPr>
          <p:cNvPr id="11" name="Shape 8"/>
          <p:cNvSpPr/>
          <p:nvPr/>
        </p:nvSpPr>
        <p:spPr>
          <a:xfrm>
            <a:off x="548640" y="3611880"/>
            <a:ext cx="5486400" cy="0"/>
          </a:xfrm>
          <a:prstGeom prst="line">
            <a:avLst/>
          </a:prstGeom>
          <a:noFill/>
          <a:ln w="12700">
            <a:solidFill>
              <a:srgbClr val="EC008C"/>
            </a:solidFill>
            <a:prstDash val="solid"/>
          </a:ln>
        </p:spPr>
        <p:txBody>
          <a:bodyPr/>
          <a:lstStyle/>
          <a:p>
            <a:endParaRPr lang="es-MX"/>
          </a:p>
        </p:txBody>
      </p:sp>
      <p:sp>
        <p:nvSpPr>
          <p:cNvPr id="12" name="Text 9"/>
          <p:cNvSpPr/>
          <p:nvPr/>
        </p:nvSpPr>
        <p:spPr>
          <a:xfrm>
            <a:off x="548640" y="3931920"/>
            <a:ext cx="914400" cy="457200"/>
          </a:xfrm>
          <a:prstGeom prst="rect">
            <a:avLst/>
          </a:prstGeom>
          <a:noFill/>
          <a:ln/>
        </p:spPr>
        <p:txBody>
          <a:bodyPr wrap="square" lIns="0" tIns="0" rIns="0" bIns="0" rtlCol="0" anchor="ctr"/>
          <a:lstStyle/>
          <a:p>
            <a:pPr marL="0" indent="0">
              <a:buNone/>
            </a:pPr>
            <a:r>
              <a:rPr lang="en-US" sz="2800" b="1" dirty="0">
                <a:solidFill>
                  <a:srgbClr val="EC008C"/>
                </a:solidFill>
                <a:latin typeface="Calibri" pitchFamily="34" charset="0"/>
                <a:ea typeface="Calibri" pitchFamily="34" charset="-122"/>
                <a:cs typeface="Calibri" pitchFamily="34" charset="-120"/>
              </a:rPr>
              <a:t>01</a:t>
            </a:r>
            <a:endParaRPr lang="en-US" sz="2800" dirty="0"/>
          </a:p>
        </p:txBody>
      </p:sp>
      <p:sp>
        <p:nvSpPr>
          <p:cNvPr id="13" name="Text 10"/>
          <p:cNvSpPr/>
          <p:nvPr/>
        </p:nvSpPr>
        <p:spPr>
          <a:xfrm>
            <a:off x="1554480" y="3977640"/>
            <a:ext cx="9144000" cy="457200"/>
          </a:xfrm>
          <a:prstGeom prst="rect">
            <a:avLst/>
          </a:prstGeom>
          <a:noFill/>
          <a:ln/>
        </p:spPr>
        <p:txBody>
          <a:bodyPr wrap="square" lIns="0" tIns="0" rIns="0" bIns="0" rtlCol="0" anchor="ctr"/>
          <a:lstStyle/>
          <a:p>
            <a:pPr marL="0" indent="0">
              <a:buNone/>
            </a:pPr>
            <a:r>
              <a:rPr lang="en-US" sz="1800" dirty="0">
                <a:solidFill>
                  <a:srgbClr val="FFFFFF"/>
                </a:solidFill>
                <a:latin typeface="Calibri" pitchFamily="34" charset="0"/>
                <a:ea typeface="Calibri" pitchFamily="34" charset="-122"/>
                <a:cs typeface="Calibri" pitchFamily="34" charset="-120"/>
              </a:rPr>
              <a:t>Tu nombre y región a cargo</a:t>
            </a:r>
            <a:endParaRPr lang="en-US" sz="1800" dirty="0"/>
          </a:p>
        </p:txBody>
      </p:sp>
      <p:sp>
        <p:nvSpPr>
          <p:cNvPr id="14" name="Text 11"/>
          <p:cNvSpPr/>
          <p:nvPr/>
        </p:nvSpPr>
        <p:spPr>
          <a:xfrm>
            <a:off x="548640" y="4572000"/>
            <a:ext cx="914400" cy="457200"/>
          </a:xfrm>
          <a:prstGeom prst="rect">
            <a:avLst/>
          </a:prstGeom>
          <a:noFill/>
          <a:ln/>
        </p:spPr>
        <p:txBody>
          <a:bodyPr wrap="square" lIns="0" tIns="0" rIns="0" bIns="0" rtlCol="0" anchor="ctr"/>
          <a:lstStyle/>
          <a:p>
            <a:pPr marL="0" indent="0">
              <a:buNone/>
            </a:pPr>
            <a:r>
              <a:rPr lang="en-US" sz="2800" b="1" dirty="0">
                <a:solidFill>
                  <a:srgbClr val="EC008C"/>
                </a:solidFill>
                <a:latin typeface="Calibri" pitchFamily="34" charset="0"/>
                <a:ea typeface="Calibri" pitchFamily="34" charset="-122"/>
                <a:cs typeface="Calibri" pitchFamily="34" charset="-120"/>
              </a:rPr>
              <a:t>02</a:t>
            </a:r>
            <a:endParaRPr lang="en-US" sz="2800" dirty="0"/>
          </a:p>
        </p:txBody>
      </p:sp>
      <p:sp>
        <p:nvSpPr>
          <p:cNvPr id="15" name="Text 12"/>
          <p:cNvSpPr/>
          <p:nvPr/>
        </p:nvSpPr>
        <p:spPr>
          <a:xfrm>
            <a:off x="1554480" y="4617720"/>
            <a:ext cx="9144000" cy="457200"/>
          </a:xfrm>
          <a:prstGeom prst="rect">
            <a:avLst/>
          </a:prstGeom>
          <a:noFill/>
          <a:ln/>
        </p:spPr>
        <p:txBody>
          <a:bodyPr wrap="square" lIns="0" tIns="0" rIns="0" bIns="0" rtlCol="0" anchor="ctr"/>
          <a:lstStyle/>
          <a:p>
            <a:pPr marL="0" indent="0">
              <a:buNone/>
            </a:pPr>
            <a:r>
              <a:rPr lang="en-US" sz="1800" dirty="0">
                <a:solidFill>
                  <a:srgbClr val="FFFFFF"/>
                </a:solidFill>
                <a:latin typeface="Calibri" pitchFamily="34" charset="0"/>
                <a:ea typeface="Calibri" pitchFamily="34" charset="-122"/>
                <a:cs typeface="Calibri" pitchFamily="34" charset="-120"/>
              </a:rPr>
              <a:t>Cuántos asesores tienes — números reales</a:t>
            </a:r>
            <a:endParaRPr lang="en-US" sz="1800" dirty="0"/>
          </a:p>
        </p:txBody>
      </p:sp>
      <p:sp>
        <p:nvSpPr>
          <p:cNvPr id="16" name="Text 13"/>
          <p:cNvSpPr/>
          <p:nvPr/>
        </p:nvSpPr>
        <p:spPr>
          <a:xfrm>
            <a:off x="548640" y="5212080"/>
            <a:ext cx="914400" cy="457200"/>
          </a:xfrm>
          <a:prstGeom prst="rect">
            <a:avLst/>
          </a:prstGeom>
          <a:noFill/>
          <a:ln/>
        </p:spPr>
        <p:txBody>
          <a:bodyPr wrap="square" lIns="0" tIns="0" rIns="0" bIns="0" rtlCol="0" anchor="ctr"/>
          <a:lstStyle/>
          <a:p>
            <a:pPr marL="0" indent="0">
              <a:buNone/>
            </a:pPr>
            <a:r>
              <a:rPr lang="en-US" sz="2800" b="1" dirty="0">
                <a:solidFill>
                  <a:srgbClr val="EC008C"/>
                </a:solidFill>
                <a:latin typeface="Calibri" pitchFamily="34" charset="0"/>
                <a:ea typeface="Calibri" pitchFamily="34" charset="-122"/>
                <a:cs typeface="Calibri" pitchFamily="34" charset="-120"/>
              </a:rPr>
              <a:t>03</a:t>
            </a:r>
            <a:endParaRPr lang="en-US" sz="2800" dirty="0"/>
          </a:p>
        </p:txBody>
      </p:sp>
      <p:sp>
        <p:nvSpPr>
          <p:cNvPr id="17" name="Text 14"/>
          <p:cNvSpPr/>
          <p:nvPr/>
        </p:nvSpPr>
        <p:spPr>
          <a:xfrm>
            <a:off x="1554480" y="5257800"/>
            <a:ext cx="9144000" cy="457200"/>
          </a:xfrm>
          <a:prstGeom prst="rect">
            <a:avLst/>
          </a:prstGeom>
          <a:noFill/>
          <a:ln/>
        </p:spPr>
        <p:txBody>
          <a:bodyPr wrap="square" lIns="0" tIns="0" rIns="0" bIns="0" rtlCol="0" anchor="ctr"/>
          <a:lstStyle/>
          <a:p>
            <a:pPr marL="0" indent="0">
              <a:buNone/>
            </a:pPr>
            <a:r>
              <a:rPr lang="en-US" sz="1800" dirty="0">
                <a:solidFill>
                  <a:srgbClr val="FFFFFF"/>
                </a:solidFill>
                <a:latin typeface="Calibri" pitchFamily="34" charset="0"/>
                <a:ea typeface="Calibri" pitchFamily="34" charset="-122"/>
                <a:cs typeface="Calibri" pitchFamily="34" charset="-120"/>
              </a:rPr>
              <a:t>Una palabra que describa cómo vienen las ventas este trimestre</a:t>
            </a:r>
            <a:endParaRPr lang="en-US" sz="1800" dirty="0"/>
          </a:p>
        </p:txBody>
      </p:sp>
      <p:sp>
        <p:nvSpPr>
          <p:cNvPr id="18" name="Shape 15"/>
          <p:cNvSpPr/>
          <p:nvPr/>
        </p:nvSpPr>
        <p:spPr>
          <a:xfrm>
            <a:off x="548640" y="6400800"/>
            <a:ext cx="118872" cy="118872"/>
          </a:xfrm>
          <a:prstGeom prst="ellipse">
            <a:avLst/>
          </a:prstGeom>
          <a:solidFill>
            <a:srgbClr val="EC008C"/>
          </a:solidFill>
          <a:ln w="12700">
            <a:solidFill>
              <a:srgbClr val="EC008C"/>
            </a:solidFill>
            <a:prstDash val="solid"/>
          </a:ln>
        </p:spPr>
        <p:txBody>
          <a:bodyPr/>
          <a:lstStyle/>
          <a:p>
            <a:endParaRPr lang="es-MX"/>
          </a:p>
        </p:txBody>
      </p:sp>
      <p:sp>
        <p:nvSpPr>
          <p:cNvPr id="19" name="Text 16"/>
          <p:cNvSpPr/>
          <p:nvPr/>
        </p:nvSpPr>
        <p:spPr>
          <a:xfrm>
            <a:off x="777240" y="6355080"/>
            <a:ext cx="6400800" cy="228600"/>
          </a:xfrm>
          <a:prstGeom prst="rect">
            <a:avLst/>
          </a:prstGeom>
          <a:noFill/>
          <a:ln/>
        </p:spPr>
        <p:txBody>
          <a:bodyPr wrap="square" lIns="0" tIns="0" rIns="0" bIns="0" rtlCol="0" anchor="ctr"/>
          <a:lstStyle/>
          <a:p>
            <a:pPr marL="0" indent="0">
              <a:buNone/>
            </a:pPr>
            <a:r>
              <a:rPr lang="en-US" sz="900" b="1" kern="0" spc="400" dirty="0">
                <a:solidFill>
                  <a:srgbClr val="FFFFFF"/>
                </a:solidFill>
                <a:latin typeface="Calibri" pitchFamily="34" charset="0"/>
                <a:ea typeface="Calibri" pitchFamily="34" charset="-122"/>
                <a:cs typeface="Calibri" pitchFamily="34" charset="-120"/>
              </a:rPr>
              <a:t>FINAL UPGRADE AI  ·  WORKSHOP SPORTS WORLD</a:t>
            </a:r>
            <a:endParaRPr lang="en-US" sz="900" dirty="0"/>
          </a:p>
        </p:txBody>
      </p:sp>
      <p:sp>
        <p:nvSpPr>
          <p:cNvPr id="20" name="Text 17"/>
          <p:cNvSpPr/>
          <p:nvPr/>
        </p:nvSpPr>
        <p:spPr>
          <a:xfrm>
            <a:off x="11002975" y="6355080"/>
            <a:ext cx="640080" cy="228600"/>
          </a:xfrm>
          <a:prstGeom prst="rect">
            <a:avLst/>
          </a:prstGeom>
          <a:noFill/>
          <a:ln/>
        </p:spPr>
        <p:txBody>
          <a:bodyPr wrap="square" lIns="0" tIns="0" rIns="0" bIns="0" rtlCol="0" anchor="ctr"/>
          <a:lstStyle/>
          <a:p>
            <a:pPr marL="0" indent="0" algn="r">
              <a:buNone/>
            </a:pPr>
            <a:r>
              <a:rPr lang="en-US" sz="900" b="1" dirty="0">
                <a:solidFill>
                  <a:srgbClr val="B8B8C5"/>
                </a:solidFill>
                <a:latin typeface="Calibri" pitchFamily="34" charset="0"/>
                <a:ea typeface="Calibri" pitchFamily="34" charset="-122"/>
                <a:cs typeface="Calibri" pitchFamily="34" charset="-120"/>
              </a:rPr>
              <a:t>02 / 18</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0F1B"/>
        </a:solidFill>
        <a:effectLst/>
      </p:bgPr>
    </p:bg>
    <p:spTree>
      <p:nvGrpSpPr>
        <p:cNvPr id="1" name=""/>
        <p:cNvGrpSpPr/>
        <p:nvPr/>
      </p:nvGrpSpPr>
      <p:grpSpPr>
        <a:xfrm>
          <a:off x="0" y="0"/>
          <a:ext cx="0" cy="0"/>
          <a:chOff x="0" y="0"/>
          <a:chExt cx="0" cy="0"/>
        </a:xfrm>
      </p:grpSpPr>
      <p:sp>
        <p:nvSpPr>
          <p:cNvPr id="2" name="Text 0"/>
          <p:cNvSpPr/>
          <p:nvPr/>
        </p:nvSpPr>
        <p:spPr>
          <a:xfrm>
            <a:off x="548640" y="411480"/>
            <a:ext cx="7315200" cy="274320"/>
          </a:xfrm>
          <a:prstGeom prst="rect">
            <a:avLst/>
          </a:prstGeom>
          <a:noFill/>
          <a:ln/>
        </p:spPr>
        <p:txBody>
          <a:bodyPr wrap="square" lIns="0" tIns="0" rIns="0" bIns="0" rtlCol="0" anchor="ctr"/>
          <a:lstStyle/>
          <a:p>
            <a:pPr marL="0" indent="0">
              <a:buNone/>
            </a:pPr>
            <a:r>
              <a:rPr lang="en-US" sz="1100" b="1" kern="0" spc="600" dirty="0">
                <a:solidFill>
                  <a:srgbClr val="EC008C"/>
                </a:solidFill>
                <a:latin typeface="Calibri" pitchFamily="34" charset="0"/>
                <a:ea typeface="Calibri" pitchFamily="34" charset="-122"/>
                <a:cs typeface="Calibri" pitchFamily="34" charset="-120"/>
              </a:rPr>
              <a:t>CÓMO VAMOS A TRABAJAR</a:t>
            </a:r>
            <a:endParaRPr lang="en-US" sz="1100" dirty="0"/>
          </a:p>
        </p:txBody>
      </p:sp>
      <p:pic>
        <p:nvPicPr>
          <p:cNvPr id="3" name="Image 0" descr="/home/claude/sw_pres/sw_logo_transparent.png"/>
          <p:cNvPicPr>
            <a:picLocks noChangeAspect="1"/>
          </p:cNvPicPr>
          <p:nvPr/>
        </p:nvPicPr>
        <p:blipFill>
          <a:blip r:embed="rId3"/>
          <a:stretch>
            <a:fillRect/>
          </a:stretch>
        </p:blipFill>
        <p:spPr>
          <a:xfrm>
            <a:off x="11094415" y="228600"/>
            <a:ext cx="777240" cy="777240"/>
          </a:xfrm>
          <a:prstGeom prst="rect">
            <a:avLst/>
          </a:prstGeom>
        </p:spPr>
      </p:pic>
      <p:sp>
        <p:nvSpPr>
          <p:cNvPr id="4" name="Shape 1"/>
          <p:cNvSpPr/>
          <p:nvPr/>
        </p:nvSpPr>
        <p:spPr>
          <a:xfrm>
            <a:off x="548640" y="1005840"/>
            <a:ext cx="9997135" cy="0"/>
          </a:xfrm>
          <a:prstGeom prst="line">
            <a:avLst/>
          </a:prstGeom>
          <a:noFill/>
          <a:ln w="12700">
            <a:solidFill>
              <a:srgbClr val="EC008C"/>
            </a:solidFill>
            <a:prstDash val="solid"/>
          </a:ln>
        </p:spPr>
        <p:txBody>
          <a:bodyPr/>
          <a:lstStyle/>
          <a:p>
            <a:endParaRPr lang="es-MX"/>
          </a:p>
        </p:txBody>
      </p:sp>
      <p:sp>
        <p:nvSpPr>
          <p:cNvPr id="5" name="Shape 2"/>
          <p:cNvSpPr/>
          <p:nvPr/>
        </p:nvSpPr>
        <p:spPr>
          <a:xfrm>
            <a:off x="9905695" y="1417320"/>
            <a:ext cx="1554480" cy="365760"/>
          </a:xfrm>
          <a:prstGeom prst="roundRect">
            <a:avLst>
              <a:gd name="adj" fmla="val 12500"/>
            </a:avLst>
          </a:prstGeom>
          <a:solidFill>
            <a:srgbClr val="1A1A28"/>
          </a:solidFill>
          <a:ln w="12700">
            <a:solidFill>
              <a:srgbClr val="EC008C"/>
            </a:solidFill>
            <a:prstDash val="solid"/>
          </a:ln>
        </p:spPr>
        <p:txBody>
          <a:bodyPr/>
          <a:lstStyle/>
          <a:p>
            <a:endParaRPr lang="es-MX"/>
          </a:p>
        </p:txBody>
      </p:sp>
      <p:sp>
        <p:nvSpPr>
          <p:cNvPr id="6" name="Text 3"/>
          <p:cNvSpPr/>
          <p:nvPr/>
        </p:nvSpPr>
        <p:spPr>
          <a:xfrm>
            <a:off x="9905695" y="1417320"/>
            <a:ext cx="1554480" cy="365760"/>
          </a:xfrm>
          <a:prstGeom prst="rect">
            <a:avLst/>
          </a:prstGeom>
          <a:noFill/>
          <a:ln/>
        </p:spPr>
        <p:txBody>
          <a:bodyPr wrap="square" lIns="0" tIns="0" rIns="0" bIns="0" rtlCol="0" anchor="ctr"/>
          <a:lstStyle/>
          <a:p>
            <a:pPr marL="0" indent="0" algn="ctr">
              <a:buNone/>
            </a:pPr>
            <a:r>
              <a:rPr lang="en-US" sz="1100" b="1" kern="0" spc="200" dirty="0">
                <a:solidFill>
                  <a:srgbClr val="FFFFFF"/>
                </a:solidFill>
                <a:latin typeface="Calibri" pitchFamily="34" charset="0"/>
                <a:ea typeface="Calibri" pitchFamily="34" charset="-122"/>
                <a:cs typeface="Calibri" pitchFamily="34" charset="-120"/>
              </a:rPr>
              <a:t>MIN 5 — 7</a:t>
            </a:r>
            <a:endParaRPr lang="en-US" sz="1100" dirty="0"/>
          </a:p>
        </p:txBody>
      </p:sp>
      <p:sp>
        <p:nvSpPr>
          <p:cNvPr id="7" name="Shape 4"/>
          <p:cNvSpPr/>
          <p:nvPr/>
        </p:nvSpPr>
        <p:spPr>
          <a:xfrm>
            <a:off x="548640" y="1371600"/>
            <a:ext cx="1280160" cy="411480"/>
          </a:xfrm>
          <a:prstGeom prst="roundRect">
            <a:avLst>
              <a:gd name="adj" fmla="val 50000"/>
            </a:avLst>
          </a:prstGeom>
          <a:solidFill>
            <a:srgbClr val="EC008C"/>
          </a:solidFill>
          <a:ln w="12700">
            <a:solidFill>
              <a:srgbClr val="EC008C"/>
            </a:solidFill>
            <a:prstDash val="solid"/>
          </a:ln>
        </p:spPr>
        <p:txBody>
          <a:bodyPr/>
          <a:lstStyle/>
          <a:p>
            <a:endParaRPr lang="es-MX"/>
          </a:p>
        </p:txBody>
      </p:sp>
      <p:sp>
        <p:nvSpPr>
          <p:cNvPr id="8" name="Text 5"/>
          <p:cNvSpPr/>
          <p:nvPr/>
        </p:nvSpPr>
        <p:spPr>
          <a:xfrm>
            <a:off x="548640" y="1371600"/>
            <a:ext cx="1280160" cy="411480"/>
          </a:xfrm>
          <a:prstGeom prst="rect">
            <a:avLst/>
          </a:prstGeom>
          <a:noFill/>
          <a:ln/>
        </p:spPr>
        <p:txBody>
          <a:bodyPr wrap="square" lIns="0" tIns="0" rIns="0" bIns="0" rtlCol="0" anchor="ctr"/>
          <a:lstStyle/>
          <a:p>
            <a:pPr marL="0" indent="0" algn="ctr">
              <a:buNone/>
            </a:pPr>
            <a:r>
              <a:rPr lang="en-US" sz="1100" b="1" kern="0" spc="400" dirty="0">
                <a:solidFill>
                  <a:srgbClr val="FFFFFF"/>
                </a:solidFill>
                <a:latin typeface="Calibri" pitchFamily="34" charset="0"/>
                <a:ea typeface="Calibri" pitchFamily="34" charset="-122"/>
                <a:cs typeface="Calibri" pitchFamily="34" charset="-120"/>
              </a:rPr>
              <a:t>REGLAS</a:t>
            </a:r>
            <a:endParaRPr lang="en-US" sz="1100" dirty="0"/>
          </a:p>
        </p:txBody>
      </p:sp>
      <p:sp>
        <p:nvSpPr>
          <p:cNvPr id="9" name="Text 6"/>
          <p:cNvSpPr/>
          <p:nvPr/>
        </p:nvSpPr>
        <p:spPr>
          <a:xfrm>
            <a:off x="548640" y="2011680"/>
            <a:ext cx="10972800" cy="914400"/>
          </a:xfrm>
          <a:prstGeom prst="rect">
            <a:avLst/>
          </a:prstGeom>
          <a:noFill/>
          <a:ln/>
        </p:spPr>
        <p:txBody>
          <a:bodyPr wrap="square" lIns="0" tIns="0" rIns="0" bIns="0" rtlCol="0" anchor="ctr"/>
          <a:lstStyle/>
          <a:p>
            <a:pPr marL="0" indent="0">
              <a:buNone/>
            </a:pPr>
            <a:r>
              <a:rPr lang="en-US" sz="5000" b="1" dirty="0">
                <a:solidFill>
                  <a:srgbClr val="FFFFFF"/>
                </a:solidFill>
                <a:latin typeface="Calibri" pitchFamily="34" charset="0"/>
                <a:ea typeface="Calibri" pitchFamily="34" charset="-122"/>
                <a:cs typeface="Calibri" pitchFamily="34" charset="-120"/>
              </a:rPr>
              <a:t>Cinco reglas claras</a:t>
            </a:r>
            <a:endParaRPr lang="en-US" sz="5000" dirty="0"/>
          </a:p>
        </p:txBody>
      </p:sp>
      <p:sp>
        <p:nvSpPr>
          <p:cNvPr id="10" name="Text 7"/>
          <p:cNvSpPr/>
          <p:nvPr/>
        </p:nvSpPr>
        <p:spPr>
          <a:xfrm>
            <a:off x="548640" y="2971800"/>
            <a:ext cx="8229600" cy="365760"/>
          </a:xfrm>
          <a:prstGeom prst="rect">
            <a:avLst/>
          </a:prstGeom>
          <a:noFill/>
          <a:ln/>
        </p:spPr>
        <p:txBody>
          <a:bodyPr wrap="square" lIns="0" tIns="0" rIns="0" bIns="0" rtlCol="0" anchor="ctr"/>
          <a:lstStyle/>
          <a:p>
            <a:pPr marL="0" indent="0">
              <a:buNone/>
            </a:pPr>
            <a:r>
              <a:rPr lang="en-US" sz="1600" i="1" dirty="0">
                <a:solidFill>
                  <a:srgbClr val="EC008C"/>
                </a:solidFill>
                <a:latin typeface="Calibri" pitchFamily="34" charset="0"/>
                <a:ea typeface="Calibri" pitchFamily="34" charset="-122"/>
                <a:cs typeface="Calibri" pitchFamily="34" charset="-120"/>
              </a:rPr>
              <a:t>Para que los 60 minutos rindan</a:t>
            </a:r>
            <a:endParaRPr lang="en-US" sz="1600" dirty="0"/>
          </a:p>
        </p:txBody>
      </p:sp>
      <p:sp>
        <p:nvSpPr>
          <p:cNvPr id="11" name="Shape 8"/>
          <p:cNvSpPr/>
          <p:nvPr/>
        </p:nvSpPr>
        <p:spPr>
          <a:xfrm>
            <a:off x="548640" y="3429000"/>
            <a:ext cx="5486400" cy="0"/>
          </a:xfrm>
          <a:prstGeom prst="line">
            <a:avLst/>
          </a:prstGeom>
          <a:noFill/>
          <a:ln w="12700">
            <a:solidFill>
              <a:srgbClr val="EC008C"/>
            </a:solidFill>
            <a:prstDash val="solid"/>
          </a:ln>
        </p:spPr>
        <p:txBody>
          <a:bodyPr/>
          <a:lstStyle/>
          <a:p>
            <a:endParaRPr lang="es-MX"/>
          </a:p>
        </p:txBody>
      </p:sp>
      <p:sp>
        <p:nvSpPr>
          <p:cNvPr id="12" name="Text 9"/>
          <p:cNvSpPr/>
          <p:nvPr/>
        </p:nvSpPr>
        <p:spPr>
          <a:xfrm>
            <a:off x="548640" y="3703320"/>
            <a:ext cx="731520" cy="411480"/>
          </a:xfrm>
          <a:prstGeom prst="rect">
            <a:avLst/>
          </a:prstGeom>
          <a:noFill/>
          <a:ln/>
        </p:spPr>
        <p:txBody>
          <a:bodyPr wrap="square" lIns="0" tIns="0" rIns="0" bIns="0" rtlCol="0" anchor="ctr"/>
          <a:lstStyle/>
          <a:p>
            <a:pPr marL="0" indent="0">
              <a:buNone/>
            </a:pPr>
            <a:r>
              <a:rPr lang="en-US" sz="1800" b="1" dirty="0">
                <a:solidFill>
                  <a:srgbClr val="EC008C"/>
                </a:solidFill>
                <a:latin typeface="Calibri" pitchFamily="34" charset="0"/>
                <a:ea typeface="Calibri" pitchFamily="34" charset="-122"/>
                <a:cs typeface="Calibri" pitchFamily="34" charset="-120"/>
              </a:rPr>
              <a:t>01</a:t>
            </a:r>
            <a:endParaRPr lang="en-US" sz="1800" dirty="0"/>
          </a:p>
        </p:txBody>
      </p:sp>
      <p:sp>
        <p:nvSpPr>
          <p:cNvPr id="13" name="Text 10"/>
          <p:cNvSpPr/>
          <p:nvPr/>
        </p:nvSpPr>
        <p:spPr>
          <a:xfrm>
            <a:off x="1371600" y="3703320"/>
            <a:ext cx="4114800" cy="41148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Cámara encendida</a:t>
            </a:r>
            <a:endParaRPr lang="en-US" sz="1600" dirty="0"/>
          </a:p>
        </p:txBody>
      </p:sp>
      <p:sp>
        <p:nvSpPr>
          <p:cNvPr id="14" name="Text 11"/>
          <p:cNvSpPr/>
          <p:nvPr/>
        </p:nvSpPr>
        <p:spPr>
          <a:xfrm>
            <a:off x="5486400" y="3703320"/>
            <a:ext cx="6217920" cy="411480"/>
          </a:xfrm>
          <a:prstGeom prst="rect">
            <a:avLst/>
          </a:prstGeom>
          <a:noFill/>
          <a:ln/>
        </p:spPr>
        <p:txBody>
          <a:bodyPr wrap="square" lIns="0" tIns="0" rIns="0" bIns="0" rtlCol="0" anchor="ctr"/>
          <a:lstStyle/>
          <a:p>
            <a:pPr marL="0" indent="0">
              <a:buNone/>
            </a:pPr>
            <a:r>
              <a:rPr lang="en-US" sz="1300" i="1" dirty="0">
                <a:solidFill>
                  <a:srgbClr val="B8B8C5"/>
                </a:solidFill>
                <a:latin typeface="Calibri" pitchFamily="34" charset="0"/>
                <a:ea typeface="Calibri" pitchFamily="34" charset="-122"/>
                <a:cs typeface="Calibri" pitchFamily="34" charset="-120"/>
              </a:rPr>
              <a:t>Toda la sesión. Nos ayuda a leer al grupo.</a:t>
            </a:r>
            <a:endParaRPr lang="en-US" sz="1300" dirty="0"/>
          </a:p>
        </p:txBody>
      </p:sp>
      <p:sp>
        <p:nvSpPr>
          <p:cNvPr id="15" name="Text 12"/>
          <p:cNvSpPr/>
          <p:nvPr/>
        </p:nvSpPr>
        <p:spPr>
          <a:xfrm>
            <a:off x="548640" y="4206240"/>
            <a:ext cx="731520" cy="411480"/>
          </a:xfrm>
          <a:prstGeom prst="rect">
            <a:avLst/>
          </a:prstGeom>
          <a:noFill/>
          <a:ln/>
        </p:spPr>
        <p:txBody>
          <a:bodyPr wrap="square" lIns="0" tIns="0" rIns="0" bIns="0" rtlCol="0" anchor="ctr"/>
          <a:lstStyle/>
          <a:p>
            <a:pPr marL="0" indent="0">
              <a:buNone/>
            </a:pPr>
            <a:r>
              <a:rPr lang="en-US" sz="1800" b="1" dirty="0">
                <a:solidFill>
                  <a:srgbClr val="EC008C"/>
                </a:solidFill>
                <a:latin typeface="Calibri" pitchFamily="34" charset="0"/>
                <a:ea typeface="Calibri" pitchFamily="34" charset="-122"/>
                <a:cs typeface="Calibri" pitchFamily="34" charset="-120"/>
              </a:rPr>
              <a:t>02</a:t>
            </a:r>
            <a:endParaRPr lang="en-US" sz="1800" dirty="0"/>
          </a:p>
        </p:txBody>
      </p:sp>
      <p:sp>
        <p:nvSpPr>
          <p:cNvPr id="16" name="Text 13"/>
          <p:cNvSpPr/>
          <p:nvPr/>
        </p:nvSpPr>
        <p:spPr>
          <a:xfrm>
            <a:off x="1371600" y="4206240"/>
            <a:ext cx="4114800" cy="41148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Una persona habla a la vez</a:t>
            </a:r>
            <a:endParaRPr lang="en-US" sz="1600" dirty="0"/>
          </a:p>
        </p:txBody>
      </p:sp>
      <p:sp>
        <p:nvSpPr>
          <p:cNvPr id="17" name="Text 14"/>
          <p:cNvSpPr/>
          <p:nvPr/>
        </p:nvSpPr>
        <p:spPr>
          <a:xfrm>
            <a:off x="5486400" y="4206240"/>
            <a:ext cx="6217920" cy="411480"/>
          </a:xfrm>
          <a:prstGeom prst="rect">
            <a:avLst/>
          </a:prstGeom>
          <a:noFill/>
          <a:ln/>
        </p:spPr>
        <p:txBody>
          <a:bodyPr wrap="square" lIns="0" tIns="0" rIns="0" bIns="0" rtlCol="0" anchor="ctr"/>
          <a:lstStyle/>
          <a:p>
            <a:pPr marL="0" indent="0">
              <a:buNone/>
            </a:pPr>
            <a:r>
              <a:rPr lang="en-US" sz="1300" i="1" dirty="0">
                <a:solidFill>
                  <a:srgbClr val="B8B8C5"/>
                </a:solidFill>
                <a:latin typeface="Calibri" pitchFamily="34" charset="0"/>
                <a:ea typeface="Calibri" pitchFamily="34" charset="-122"/>
                <a:cs typeface="Calibri" pitchFamily="34" charset="-120"/>
              </a:rPr>
              <a:t>Si alguien interrumpe, voy a silenciar amablemente.</a:t>
            </a:r>
            <a:endParaRPr lang="en-US" sz="1300" dirty="0"/>
          </a:p>
        </p:txBody>
      </p:sp>
      <p:sp>
        <p:nvSpPr>
          <p:cNvPr id="18" name="Text 15"/>
          <p:cNvSpPr/>
          <p:nvPr/>
        </p:nvSpPr>
        <p:spPr>
          <a:xfrm>
            <a:off x="548640" y="4709160"/>
            <a:ext cx="731520" cy="411480"/>
          </a:xfrm>
          <a:prstGeom prst="rect">
            <a:avLst/>
          </a:prstGeom>
          <a:noFill/>
          <a:ln/>
        </p:spPr>
        <p:txBody>
          <a:bodyPr wrap="square" lIns="0" tIns="0" rIns="0" bIns="0" rtlCol="0" anchor="ctr"/>
          <a:lstStyle/>
          <a:p>
            <a:pPr marL="0" indent="0">
              <a:buNone/>
            </a:pPr>
            <a:r>
              <a:rPr lang="en-US" sz="1800" b="1" dirty="0">
                <a:solidFill>
                  <a:srgbClr val="EC008C"/>
                </a:solidFill>
                <a:latin typeface="Calibri" pitchFamily="34" charset="0"/>
                <a:ea typeface="Calibri" pitchFamily="34" charset="-122"/>
                <a:cs typeface="Calibri" pitchFamily="34" charset="-120"/>
              </a:rPr>
              <a:t>03</a:t>
            </a:r>
            <a:endParaRPr lang="en-US" sz="1800" dirty="0"/>
          </a:p>
        </p:txBody>
      </p:sp>
      <p:sp>
        <p:nvSpPr>
          <p:cNvPr id="19" name="Text 16"/>
          <p:cNvSpPr/>
          <p:nvPr/>
        </p:nvSpPr>
        <p:spPr>
          <a:xfrm>
            <a:off x="1371600" y="4709160"/>
            <a:ext cx="4114800" cy="41148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Hablen con ejemplos concretos</a:t>
            </a:r>
            <a:endParaRPr lang="en-US" sz="1600" dirty="0"/>
          </a:p>
        </p:txBody>
      </p:sp>
      <p:sp>
        <p:nvSpPr>
          <p:cNvPr id="20" name="Text 17"/>
          <p:cNvSpPr/>
          <p:nvPr/>
        </p:nvSpPr>
        <p:spPr>
          <a:xfrm>
            <a:off x="5486400" y="4709160"/>
            <a:ext cx="6217920" cy="411480"/>
          </a:xfrm>
          <a:prstGeom prst="rect">
            <a:avLst/>
          </a:prstGeom>
          <a:noFill/>
          <a:ln/>
        </p:spPr>
        <p:txBody>
          <a:bodyPr wrap="square" lIns="0" tIns="0" rIns="0" bIns="0" rtlCol="0" anchor="ctr"/>
          <a:lstStyle/>
          <a:p>
            <a:pPr marL="0" indent="0">
              <a:buNone/>
            </a:pPr>
            <a:r>
              <a:rPr lang="en-US" sz="1300" i="1" dirty="0">
                <a:solidFill>
                  <a:srgbClr val="B8B8C5"/>
                </a:solidFill>
                <a:latin typeface="Calibri" pitchFamily="34" charset="0"/>
                <a:ea typeface="Calibri" pitchFamily="34" charset="-122"/>
                <a:cs typeface="Calibri" pitchFamily="34" charset="-120"/>
              </a:rPr>
              <a:t>Del último trimestre. No generalidades.</a:t>
            </a:r>
            <a:endParaRPr lang="en-US" sz="1300" dirty="0"/>
          </a:p>
        </p:txBody>
      </p:sp>
      <p:sp>
        <p:nvSpPr>
          <p:cNvPr id="21" name="Text 18"/>
          <p:cNvSpPr/>
          <p:nvPr/>
        </p:nvSpPr>
        <p:spPr>
          <a:xfrm>
            <a:off x="548640" y="5212080"/>
            <a:ext cx="731520" cy="411480"/>
          </a:xfrm>
          <a:prstGeom prst="rect">
            <a:avLst/>
          </a:prstGeom>
          <a:noFill/>
          <a:ln/>
        </p:spPr>
        <p:txBody>
          <a:bodyPr wrap="square" lIns="0" tIns="0" rIns="0" bIns="0" rtlCol="0" anchor="ctr"/>
          <a:lstStyle/>
          <a:p>
            <a:pPr marL="0" indent="0">
              <a:buNone/>
            </a:pPr>
            <a:r>
              <a:rPr lang="en-US" sz="1800" b="1" dirty="0">
                <a:solidFill>
                  <a:srgbClr val="EC008C"/>
                </a:solidFill>
                <a:latin typeface="Calibri" pitchFamily="34" charset="0"/>
                <a:ea typeface="Calibri" pitchFamily="34" charset="-122"/>
                <a:cs typeface="Calibri" pitchFamily="34" charset="-120"/>
              </a:rPr>
              <a:t>04</a:t>
            </a:r>
            <a:endParaRPr lang="en-US" sz="1800" dirty="0"/>
          </a:p>
        </p:txBody>
      </p:sp>
      <p:sp>
        <p:nvSpPr>
          <p:cNvPr id="22" name="Text 19"/>
          <p:cNvSpPr/>
          <p:nvPr/>
        </p:nvSpPr>
        <p:spPr>
          <a:xfrm>
            <a:off x="1371600" y="5212080"/>
            <a:ext cx="4114800" cy="41148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Confidencialidad total</a:t>
            </a:r>
            <a:endParaRPr lang="en-US" sz="1600" dirty="0"/>
          </a:p>
        </p:txBody>
      </p:sp>
      <p:sp>
        <p:nvSpPr>
          <p:cNvPr id="23" name="Text 20"/>
          <p:cNvSpPr/>
          <p:nvPr/>
        </p:nvSpPr>
        <p:spPr>
          <a:xfrm>
            <a:off x="5486400" y="5212080"/>
            <a:ext cx="6217920" cy="411480"/>
          </a:xfrm>
          <a:prstGeom prst="rect">
            <a:avLst/>
          </a:prstGeom>
          <a:noFill/>
          <a:ln/>
        </p:spPr>
        <p:txBody>
          <a:bodyPr wrap="square" lIns="0" tIns="0" rIns="0" bIns="0" rtlCol="0" anchor="ctr"/>
          <a:lstStyle/>
          <a:p>
            <a:pPr marL="0" indent="0">
              <a:buNone/>
            </a:pPr>
            <a:r>
              <a:rPr lang="en-US" sz="1300" i="1" dirty="0">
                <a:solidFill>
                  <a:srgbClr val="B8B8C5"/>
                </a:solidFill>
                <a:latin typeface="Calibri" pitchFamily="34" charset="0"/>
                <a:ea typeface="Calibri" pitchFamily="34" charset="-122"/>
                <a:cs typeface="Calibri" pitchFamily="34" charset="-120"/>
              </a:rPr>
              <a:t>Lo que se dice aquí no se comparte con ninguna otra área.</a:t>
            </a:r>
            <a:endParaRPr lang="en-US" sz="1300" dirty="0"/>
          </a:p>
        </p:txBody>
      </p:sp>
      <p:sp>
        <p:nvSpPr>
          <p:cNvPr id="24" name="Text 21"/>
          <p:cNvSpPr/>
          <p:nvPr/>
        </p:nvSpPr>
        <p:spPr>
          <a:xfrm>
            <a:off x="548640" y="5715000"/>
            <a:ext cx="731520" cy="411480"/>
          </a:xfrm>
          <a:prstGeom prst="rect">
            <a:avLst/>
          </a:prstGeom>
          <a:noFill/>
          <a:ln/>
        </p:spPr>
        <p:txBody>
          <a:bodyPr wrap="square" lIns="0" tIns="0" rIns="0" bIns="0" rtlCol="0" anchor="ctr"/>
          <a:lstStyle/>
          <a:p>
            <a:pPr marL="0" indent="0">
              <a:buNone/>
            </a:pPr>
            <a:r>
              <a:rPr lang="en-US" sz="1800" b="1" dirty="0">
                <a:solidFill>
                  <a:srgbClr val="EC008C"/>
                </a:solidFill>
                <a:latin typeface="Calibri" pitchFamily="34" charset="0"/>
                <a:ea typeface="Calibri" pitchFamily="34" charset="-122"/>
                <a:cs typeface="Calibri" pitchFamily="34" charset="-120"/>
              </a:rPr>
              <a:t>05</a:t>
            </a:r>
            <a:endParaRPr lang="en-US" sz="1800" dirty="0"/>
          </a:p>
        </p:txBody>
      </p:sp>
      <p:sp>
        <p:nvSpPr>
          <p:cNvPr id="25" name="Text 22"/>
          <p:cNvSpPr/>
          <p:nvPr/>
        </p:nvSpPr>
        <p:spPr>
          <a:xfrm>
            <a:off x="1371600" y="5715000"/>
            <a:ext cx="4114800" cy="41148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Parking lot para desviaciones</a:t>
            </a:r>
            <a:endParaRPr lang="en-US" sz="1600" dirty="0"/>
          </a:p>
        </p:txBody>
      </p:sp>
      <p:sp>
        <p:nvSpPr>
          <p:cNvPr id="26" name="Text 23"/>
          <p:cNvSpPr/>
          <p:nvPr/>
        </p:nvSpPr>
        <p:spPr>
          <a:xfrm>
            <a:off x="5486400" y="5715000"/>
            <a:ext cx="6217920" cy="411480"/>
          </a:xfrm>
          <a:prstGeom prst="rect">
            <a:avLst/>
          </a:prstGeom>
          <a:noFill/>
          <a:ln/>
        </p:spPr>
        <p:txBody>
          <a:bodyPr wrap="square" lIns="0" tIns="0" rIns="0" bIns="0" rtlCol="0" anchor="ctr"/>
          <a:lstStyle/>
          <a:p>
            <a:pPr marL="0" indent="0">
              <a:buNone/>
            </a:pPr>
            <a:r>
              <a:rPr lang="en-US" sz="1300" i="1" dirty="0">
                <a:solidFill>
                  <a:srgbClr val="B8B8C5"/>
                </a:solidFill>
                <a:latin typeface="Calibri" pitchFamily="34" charset="0"/>
                <a:ea typeface="Calibri" pitchFamily="34" charset="-122"/>
                <a:cs typeface="Calibri" pitchFamily="34" charset="-120"/>
              </a:rPr>
              <a:t>Si una idea se desvía, la anoto y regresamos al final.</a:t>
            </a:r>
            <a:endParaRPr lang="en-US" sz="1300" dirty="0"/>
          </a:p>
        </p:txBody>
      </p:sp>
      <p:sp>
        <p:nvSpPr>
          <p:cNvPr id="27" name="Shape 24"/>
          <p:cNvSpPr/>
          <p:nvPr/>
        </p:nvSpPr>
        <p:spPr>
          <a:xfrm>
            <a:off x="548640" y="6400800"/>
            <a:ext cx="118872" cy="118872"/>
          </a:xfrm>
          <a:prstGeom prst="ellipse">
            <a:avLst/>
          </a:prstGeom>
          <a:solidFill>
            <a:srgbClr val="EC008C"/>
          </a:solidFill>
          <a:ln w="12700">
            <a:solidFill>
              <a:srgbClr val="EC008C"/>
            </a:solidFill>
            <a:prstDash val="solid"/>
          </a:ln>
        </p:spPr>
        <p:txBody>
          <a:bodyPr/>
          <a:lstStyle/>
          <a:p>
            <a:endParaRPr lang="es-MX"/>
          </a:p>
        </p:txBody>
      </p:sp>
      <p:sp>
        <p:nvSpPr>
          <p:cNvPr id="28" name="Text 25"/>
          <p:cNvSpPr/>
          <p:nvPr/>
        </p:nvSpPr>
        <p:spPr>
          <a:xfrm>
            <a:off x="777240" y="6355080"/>
            <a:ext cx="6400800" cy="228600"/>
          </a:xfrm>
          <a:prstGeom prst="rect">
            <a:avLst/>
          </a:prstGeom>
          <a:noFill/>
          <a:ln/>
        </p:spPr>
        <p:txBody>
          <a:bodyPr wrap="square" lIns="0" tIns="0" rIns="0" bIns="0" rtlCol="0" anchor="ctr"/>
          <a:lstStyle/>
          <a:p>
            <a:pPr marL="0" indent="0">
              <a:buNone/>
            </a:pPr>
            <a:r>
              <a:rPr lang="en-US" sz="900" b="1" kern="0" spc="400" dirty="0">
                <a:solidFill>
                  <a:srgbClr val="FFFFFF"/>
                </a:solidFill>
                <a:latin typeface="Calibri" pitchFamily="34" charset="0"/>
                <a:ea typeface="Calibri" pitchFamily="34" charset="-122"/>
                <a:cs typeface="Calibri" pitchFamily="34" charset="-120"/>
              </a:rPr>
              <a:t>FINAL UPGRADE AI  ·  WORKSHOP SPORTS WORLD</a:t>
            </a:r>
            <a:endParaRPr lang="en-US" sz="900" dirty="0"/>
          </a:p>
        </p:txBody>
      </p:sp>
      <p:sp>
        <p:nvSpPr>
          <p:cNvPr id="29" name="Text 26"/>
          <p:cNvSpPr/>
          <p:nvPr/>
        </p:nvSpPr>
        <p:spPr>
          <a:xfrm>
            <a:off x="11002975" y="6355080"/>
            <a:ext cx="640080" cy="228600"/>
          </a:xfrm>
          <a:prstGeom prst="rect">
            <a:avLst/>
          </a:prstGeom>
          <a:noFill/>
          <a:ln/>
        </p:spPr>
        <p:txBody>
          <a:bodyPr wrap="square" lIns="0" tIns="0" rIns="0" bIns="0" rtlCol="0" anchor="ctr"/>
          <a:lstStyle/>
          <a:p>
            <a:pPr marL="0" indent="0" algn="r">
              <a:buNone/>
            </a:pPr>
            <a:r>
              <a:rPr lang="en-US" sz="900" b="1" dirty="0">
                <a:solidFill>
                  <a:srgbClr val="B8B8C5"/>
                </a:solidFill>
                <a:latin typeface="Calibri" pitchFamily="34" charset="0"/>
                <a:ea typeface="Calibri" pitchFamily="34" charset="-122"/>
                <a:cs typeface="Calibri" pitchFamily="34" charset="-120"/>
              </a:rPr>
              <a:t>03 / 18</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0F1B"/>
        </a:solidFill>
        <a:effectLst/>
      </p:bgPr>
    </p:bg>
    <p:spTree>
      <p:nvGrpSpPr>
        <p:cNvPr id="1" name=""/>
        <p:cNvGrpSpPr/>
        <p:nvPr/>
      </p:nvGrpSpPr>
      <p:grpSpPr>
        <a:xfrm>
          <a:off x="0" y="0"/>
          <a:ext cx="0" cy="0"/>
          <a:chOff x="0" y="0"/>
          <a:chExt cx="0" cy="0"/>
        </a:xfrm>
      </p:grpSpPr>
      <p:sp>
        <p:nvSpPr>
          <p:cNvPr id="2" name="Text 0"/>
          <p:cNvSpPr/>
          <p:nvPr/>
        </p:nvSpPr>
        <p:spPr>
          <a:xfrm>
            <a:off x="548640" y="411480"/>
            <a:ext cx="7315200" cy="274320"/>
          </a:xfrm>
          <a:prstGeom prst="rect">
            <a:avLst/>
          </a:prstGeom>
          <a:noFill/>
          <a:ln/>
        </p:spPr>
        <p:txBody>
          <a:bodyPr wrap="square" lIns="0" tIns="0" rIns="0" bIns="0" rtlCol="0" anchor="ctr"/>
          <a:lstStyle/>
          <a:p>
            <a:pPr marL="0" indent="0">
              <a:buNone/>
            </a:pPr>
            <a:r>
              <a:rPr lang="en-US" sz="1100" b="1" kern="0" spc="600" dirty="0">
                <a:solidFill>
                  <a:srgbClr val="EC008C"/>
                </a:solidFill>
                <a:latin typeface="Calibri" pitchFamily="34" charset="0"/>
                <a:ea typeface="Calibri" pitchFamily="34" charset="-122"/>
                <a:cs typeface="Calibri" pitchFamily="34" charset="-120"/>
              </a:rPr>
              <a:t>AGENDA</a:t>
            </a:r>
            <a:endParaRPr lang="en-US" sz="1100" dirty="0"/>
          </a:p>
        </p:txBody>
      </p:sp>
      <p:pic>
        <p:nvPicPr>
          <p:cNvPr id="3" name="Image 0" descr="/home/claude/sw_pres/sw_logo_transparent.png"/>
          <p:cNvPicPr>
            <a:picLocks noChangeAspect="1"/>
          </p:cNvPicPr>
          <p:nvPr/>
        </p:nvPicPr>
        <p:blipFill>
          <a:blip r:embed="rId3"/>
          <a:stretch>
            <a:fillRect/>
          </a:stretch>
        </p:blipFill>
        <p:spPr>
          <a:xfrm>
            <a:off x="11094415" y="228600"/>
            <a:ext cx="777240" cy="777240"/>
          </a:xfrm>
          <a:prstGeom prst="rect">
            <a:avLst/>
          </a:prstGeom>
        </p:spPr>
      </p:pic>
      <p:sp>
        <p:nvSpPr>
          <p:cNvPr id="4" name="Shape 1"/>
          <p:cNvSpPr/>
          <p:nvPr/>
        </p:nvSpPr>
        <p:spPr>
          <a:xfrm>
            <a:off x="548640" y="1005840"/>
            <a:ext cx="9997135" cy="0"/>
          </a:xfrm>
          <a:prstGeom prst="line">
            <a:avLst/>
          </a:prstGeom>
          <a:noFill/>
          <a:ln w="12700">
            <a:solidFill>
              <a:srgbClr val="EC008C"/>
            </a:solidFill>
            <a:prstDash val="solid"/>
          </a:ln>
        </p:spPr>
        <p:txBody>
          <a:bodyPr/>
          <a:lstStyle/>
          <a:p>
            <a:endParaRPr lang="es-MX"/>
          </a:p>
        </p:txBody>
      </p:sp>
      <p:sp>
        <p:nvSpPr>
          <p:cNvPr id="5" name="Shape 2"/>
          <p:cNvSpPr/>
          <p:nvPr/>
        </p:nvSpPr>
        <p:spPr>
          <a:xfrm>
            <a:off x="9905695" y="1417320"/>
            <a:ext cx="1554480" cy="365760"/>
          </a:xfrm>
          <a:prstGeom prst="roundRect">
            <a:avLst>
              <a:gd name="adj" fmla="val 12500"/>
            </a:avLst>
          </a:prstGeom>
          <a:solidFill>
            <a:srgbClr val="1A1A28"/>
          </a:solidFill>
          <a:ln w="12700">
            <a:solidFill>
              <a:srgbClr val="EC008C"/>
            </a:solidFill>
            <a:prstDash val="solid"/>
          </a:ln>
        </p:spPr>
        <p:txBody>
          <a:bodyPr/>
          <a:lstStyle/>
          <a:p>
            <a:endParaRPr lang="es-MX"/>
          </a:p>
        </p:txBody>
      </p:sp>
      <p:sp>
        <p:nvSpPr>
          <p:cNvPr id="6" name="Text 3"/>
          <p:cNvSpPr/>
          <p:nvPr/>
        </p:nvSpPr>
        <p:spPr>
          <a:xfrm>
            <a:off x="9905695" y="1417320"/>
            <a:ext cx="1554480" cy="365760"/>
          </a:xfrm>
          <a:prstGeom prst="rect">
            <a:avLst/>
          </a:prstGeom>
          <a:noFill/>
          <a:ln/>
        </p:spPr>
        <p:txBody>
          <a:bodyPr wrap="square" lIns="0" tIns="0" rIns="0" bIns="0" rtlCol="0" anchor="ctr"/>
          <a:lstStyle/>
          <a:p>
            <a:pPr marL="0" indent="0" algn="ctr">
              <a:buNone/>
            </a:pPr>
            <a:r>
              <a:rPr lang="en-US" sz="1100" b="1" kern="0" spc="200" dirty="0">
                <a:solidFill>
                  <a:srgbClr val="FFFFFF"/>
                </a:solidFill>
                <a:latin typeface="Calibri" pitchFamily="34" charset="0"/>
                <a:ea typeface="Calibri" pitchFamily="34" charset="-122"/>
                <a:cs typeface="Calibri" pitchFamily="34" charset="-120"/>
              </a:rPr>
              <a:t>MIN 7 — 10</a:t>
            </a:r>
            <a:endParaRPr lang="en-US" sz="1100" dirty="0"/>
          </a:p>
        </p:txBody>
      </p:sp>
      <p:sp>
        <p:nvSpPr>
          <p:cNvPr id="7" name="Shape 4"/>
          <p:cNvSpPr/>
          <p:nvPr/>
        </p:nvSpPr>
        <p:spPr>
          <a:xfrm>
            <a:off x="548640" y="1371600"/>
            <a:ext cx="1280160" cy="411480"/>
          </a:xfrm>
          <a:prstGeom prst="roundRect">
            <a:avLst>
              <a:gd name="adj" fmla="val 50000"/>
            </a:avLst>
          </a:prstGeom>
          <a:solidFill>
            <a:srgbClr val="EC008C"/>
          </a:solidFill>
          <a:ln w="12700">
            <a:solidFill>
              <a:srgbClr val="EC008C"/>
            </a:solidFill>
            <a:prstDash val="solid"/>
          </a:ln>
        </p:spPr>
        <p:txBody>
          <a:bodyPr/>
          <a:lstStyle/>
          <a:p>
            <a:endParaRPr lang="es-MX"/>
          </a:p>
        </p:txBody>
      </p:sp>
      <p:sp>
        <p:nvSpPr>
          <p:cNvPr id="8" name="Text 5"/>
          <p:cNvSpPr/>
          <p:nvPr/>
        </p:nvSpPr>
        <p:spPr>
          <a:xfrm>
            <a:off x="548640" y="1371600"/>
            <a:ext cx="1280160" cy="411480"/>
          </a:xfrm>
          <a:prstGeom prst="rect">
            <a:avLst/>
          </a:prstGeom>
          <a:noFill/>
          <a:ln/>
        </p:spPr>
        <p:txBody>
          <a:bodyPr wrap="square" lIns="0" tIns="0" rIns="0" bIns="0" rtlCol="0" anchor="ctr"/>
          <a:lstStyle/>
          <a:p>
            <a:pPr marL="0" indent="0" algn="ctr">
              <a:buNone/>
            </a:pPr>
            <a:r>
              <a:rPr lang="en-US" sz="1100" b="1" kern="0" spc="400" dirty="0">
                <a:solidFill>
                  <a:srgbClr val="FFFFFF"/>
                </a:solidFill>
                <a:latin typeface="Calibri" pitchFamily="34" charset="0"/>
                <a:ea typeface="Calibri" pitchFamily="34" charset="-122"/>
                <a:cs typeface="Calibri" pitchFamily="34" charset="-120"/>
              </a:rPr>
              <a:t>AGENDA</a:t>
            </a:r>
            <a:endParaRPr lang="en-US" sz="1100" dirty="0"/>
          </a:p>
        </p:txBody>
      </p:sp>
      <p:sp>
        <p:nvSpPr>
          <p:cNvPr id="9" name="Text 6"/>
          <p:cNvSpPr/>
          <p:nvPr/>
        </p:nvSpPr>
        <p:spPr>
          <a:xfrm>
            <a:off x="487375" y="1953450"/>
            <a:ext cx="10972800" cy="1005840"/>
          </a:xfrm>
          <a:prstGeom prst="rect">
            <a:avLst/>
          </a:prstGeom>
          <a:noFill/>
          <a:ln/>
        </p:spPr>
        <p:txBody>
          <a:bodyPr wrap="square" lIns="0" tIns="0" rIns="0" bIns="0" rtlCol="0" anchor="ctr"/>
          <a:lstStyle/>
          <a:p>
            <a:pPr marL="0" indent="0">
              <a:buNone/>
            </a:pPr>
            <a:r>
              <a:rPr lang="en-US" sz="5000" b="1" dirty="0">
                <a:solidFill>
                  <a:srgbClr val="FFFFFF"/>
                </a:solidFill>
                <a:latin typeface="Calibri" pitchFamily="34" charset="0"/>
                <a:ea typeface="Calibri" pitchFamily="34" charset="-122"/>
                <a:cs typeface="Calibri" pitchFamily="34" charset="-120"/>
              </a:rPr>
              <a:t>60 minutos </a:t>
            </a:r>
            <a:r>
              <a:rPr lang="en-US" sz="5000" b="1" dirty="0" err="1">
                <a:solidFill>
                  <a:srgbClr val="FFFFFF"/>
                </a:solidFill>
                <a:latin typeface="Calibri" pitchFamily="34" charset="0"/>
                <a:ea typeface="Calibri" pitchFamily="34" charset="-122"/>
                <a:cs typeface="Calibri" pitchFamily="34" charset="-120"/>
              </a:rPr>
              <a:t>en</a:t>
            </a:r>
            <a:r>
              <a:rPr lang="en-US" sz="5000" b="1" dirty="0">
                <a:solidFill>
                  <a:srgbClr val="FFFFFF"/>
                </a:solidFill>
                <a:latin typeface="Calibri" pitchFamily="34" charset="0"/>
                <a:ea typeface="Calibri" pitchFamily="34" charset="-122"/>
                <a:cs typeface="Calibri" pitchFamily="34" charset="-120"/>
              </a:rPr>
              <a:t> 4 bloques</a:t>
            </a:r>
            <a:endParaRPr lang="en-US" sz="5000" dirty="0"/>
          </a:p>
        </p:txBody>
      </p:sp>
      <p:sp>
        <p:nvSpPr>
          <p:cNvPr id="11" name="Shape 8"/>
          <p:cNvSpPr/>
          <p:nvPr/>
        </p:nvSpPr>
        <p:spPr>
          <a:xfrm>
            <a:off x="487375" y="2959290"/>
            <a:ext cx="5486400" cy="0"/>
          </a:xfrm>
          <a:prstGeom prst="line">
            <a:avLst/>
          </a:prstGeom>
          <a:noFill/>
          <a:ln w="12700">
            <a:solidFill>
              <a:srgbClr val="EC008C"/>
            </a:solidFill>
            <a:prstDash val="solid"/>
          </a:ln>
        </p:spPr>
        <p:txBody>
          <a:bodyPr/>
          <a:lstStyle/>
          <a:p>
            <a:endParaRPr lang="es-MX"/>
          </a:p>
        </p:txBody>
      </p:sp>
      <p:sp>
        <p:nvSpPr>
          <p:cNvPr id="12" name="Text 9"/>
          <p:cNvSpPr/>
          <p:nvPr/>
        </p:nvSpPr>
        <p:spPr>
          <a:xfrm>
            <a:off x="548640" y="3724452"/>
            <a:ext cx="1280160" cy="365760"/>
          </a:xfrm>
          <a:prstGeom prst="rect">
            <a:avLst/>
          </a:prstGeom>
          <a:noFill/>
          <a:ln/>
        </p:spPr>
        <p:txBody>
          <a:bodyPr wrap="square" lIns="0" tIns="0" rIns="0" bIns="0" rtlCol="0" anchor="ctr"/>
          <a:lstStyle/>
          <a:p>
            <a:pPr marL="0" indent="0">
              <a:buNone/>
            </a:pPr>
            <a:r>
              <a:rPr lang="en-US" sz="1800" b="1" dirty="0">
                <a:solidFill>
                  <a:srgbClr val="EC008C"/>
                </a:solidFill>
                <a:latin typeface="Calibri" pitchFamily="34" charset="0"/>
                <a:ea typeface="Calibri" pitchFamily="34" charset="-122"/>
                <a:cs typeface="Calibri" pitchFamily="34" charset="-120"/>
              </a:rPr>
              <a:t>1</a:t>
            </a:r>
            <a:endParaRPr lang="en-US" sz="1800" dirty="0"/>
          </a:p>
        </p:txBody>
      </p:sp>
      <p:sp>
        <p:nvSpPr>
          <p:cNvPr id="14" name="Text 11"/>
          <p:cNvSpPr/>
          <p:nvPr/>
        </p:nvSpPr>
        <p:spPr>
          <a:xfrm>
            <a:off x="777240" y="3713886"/>
            <a:ext cx="9144000" cy="365760"/>
          </a:xfrm>
          <a:prstGeom prst="rect">
            <a:avLst/>
          </a:prstGeom>
          <a:noFill/>
          <a:ln/>
        </p:spPr>
        <p:txBody>
          <a:bodyPr wrap="square" lIns="0" tIns="0" rIns="0" bIns="0" rtlCol="0" anchor="ctr"/>
          <a:lstStyle/>
          <a:p>
            <a:pPr marL="0" indent="0">
              <a:buNone/>
            </a:pPr>
            <a:r>
              <a:rPr lang="en-US" sz="1500" dirty="0">
                <a:solidFill>
                  <a:srgbClr val="FFFFFF"/>
                </a:solidFill>
                <a:latin typeface="Calibri" pitchFamily="34" charset="0"/>
                <a:ea typeface="Calibri" pitchFamily="34" charset="-122"/>
                <a:cs typeface="Calibri" pitchFamily="34" charset="-120"/>
              </a:rPr>
              <a:t>Apertura, contexto del proyecto, hipótesis</a:t>
            </a:r>
            <a:endParaRPr lang="en-US" sz="1500" dirty="0"/>
          </a:p>
        </p:txBody>
      </p:sp>
      <p:sp>
        <p:nvSpPr>
          <p:cNvPr id="15" name="Text 12"/>
          <p:cNvSpPr/>
          <p:nvPr/>
        </p:nvSpPr>
        <p:spPr>
          <a:xfrm>
            <a:off x="548640" y="4181652"/>
            <a:ext cx="1280160" cy="365760"/>
          </a:xfrm>
          <a:prstGeom prst="rect">
            <a:avLst/>
          </a:prstGeom>
          <a:noFill/>
          <a:ln/>
        </p:spPr>
        <p:txBody>
          <a:bodyPr wrap="square" lIns="0" tIns="0" rIns="0" bIns="0" rtlCol="0" anchor="ctr"/>
          <a:lstStyle/>
          <a:p>
            <a:pPr marL="0" indent="0">
              <a:buNone/>
            </a:pPr>
            <a:r>
              <a:rPr lang="en-US" sz="1800" b="1" dirty="0">
                <a:solidFill>
                  <a:srgbClr val="EC008C"/>
                </a:solidFill>
                <a:latin typeface="Calibri" pitchFamily="34" charset="0"/>
                <a:ea typeface="Calibri" pitchFamily="34" charset="-122"/>
                <a:cs typeface="Calibri" pitchFamily="34" charset="-120"/>
              </a:rPr>
              <a:t>2</a:t>
            </a:r>
            <a:endParaRPr lang="en-US" sz="1800" dirty="0"/>
          </a:p>
        </p:txBody>
      </p:sp>
      <p:sp>
        <p:nvSpPr>
          <p:cNvPr id="17" name="Text 14"/>
          <p:cNvSpPr/>
          <p:nvPr/>
        </p:nvSpPr>
        <p:spPr>
          <a:xfrm>
            <a:off x="777240" y="4171086"/>
            <a:ext cx="9144000" cy="365760"/>
          </a:xfrm>
          <a:prstGeom prst="rect">
            <a:avLst/>
          </a:prstGeom>
          <a:noFill/>
          <a:ln/>
        </p:spPr>
        <p:txBody>
          <a:bodyPr wrap="square" lIns="0" tIns="0" rIns="0" bIns="0" rtlCol="0" anchor="ctr"/>
          <a:lstStyle/>
          <a:p>
            <a:pPr marL="0" indent="0">
              <a:buNone/>
            </a:pPr>
            <a:r>
              <a:rPr lang="en-US" sz="1500" dirty="0">
                <a:solidFill>
                  <a:srgbClr val="FFFFFF"/>
                </a:solidFill>
                <a:latin typeface="Calibri" pitchFamily="34" charset="0"/>
                <a:ea typeface="Calibri" pitchFamily="34" charset="-122"/>
                <a:cs typeface="Calibri" pitchFamily="34" charset="-120"/>
              </a:rPr>
              <a:t>Hallazgos del cuestionario · validación grupal</a:t>
            </a:r>
            <a:endParaRPr lang="en-US" sz="1500" dirty="0"/>
          </a:p>
        </p:txBody>
      </p:sp>
      <p:sp>
        <p:nvSpPr>
          <p:cNvPr id="24" name="Text 21"/>
          <p:cNvSpPr/>
          <p:nvPr/>
        </p:nvSpPr>
        <p:spPr>
          <a:xfrm>
            <a:off x="548640" y="4754880"/>
            <a:ext cx="1280160" cy="365760"/>
          </a:xfrm>
          <a:prstGeom prst="rect">
            <a:avLst/>
          </a:prstGeom>
          <a:noFill/>
          <a:ln/>
        </p:spPr>
        <p:txBody>
          <a:bodyPr wrap="square" lIns="0" tIns="0" rIns="0" bIns="0" rtlCol="0" anchor="ctr"/>
          <a:lstStyle/>
          <a:p>
            <a:pPr marL="0" indent="0">
              <a:buNone/>
            </a:pPr>
            <a:r>
              <a:rPr lang="en-US" sz="1800" b="1" dirty="0">
                <a:solidFill>
                  <a:srgbClr val="EC008C"/>
                </a:solidFill>
                <a:latin typeface="Calibri" pitchFamily="34" charset="0"/>
                <a:ea typeface="Calibri" pitchFamily="34" charset="-122"/>
                <a:cs typeface="Calibri" pitchFamily="34" charset="-120"/>
              </a:rPr>
              <a:t>3</a:t>
            </a:r>
            <a:endParaRPr lang="en-US" sz="1800" dirty="0"/>
          </a:p>
        </p:txBody>
      </p:sp>
      <p:sp>
        <p:nvSpPr>
          <p:cNvPr id="26" name="Text 23"/>
          <p:cNvSpPr/>
          <p:nvPr/>
        </p:nvSpPr>
        <p:spPr>
          <a:xfrm>
            <a:off x="777240" y="4744314"/>
            <a:ext cx="9144000" cy="365760"/>
          </a:xfrm>
          <a:prstGeom prst="rect">
            <a:avLst/>
          </a:prstGeom>
          <a:noFill/>
          <a:ln/>
        </p:spPr>
        <p:txBody>
          <a:bodyPr wrap="square" lIns="0" tIns="0" rIns="0" bIns="0" rtlCol="0" anchor="ctr"/>
          <a:lstStyle/>
          <a:p>
            <a:pPr marL="0" indent="0">
              <a:buNone/>
            </a:pPr>
            <a:r>
              <a:rPr lang="en-US" sz="1500" dirty="0">
                <a:solidFill>
                  <a:srgbClr val="FFFFFF"/>
                </a:solidFill>
                <a:latin typeface="Calibri" pitchFamily="34" charset="0"/>
                <a:ea typeface="Calibri" pitchFamily="34" charset="-122"/>
                <a:cs typeface="Calibri" pitchFamily="34" charset="-120"/>
              </a:rPr>
              <a:t>Priorización conjunta · top 3</a:t>
            </a:r>
            <a:endParaRPr lang="en-US" sz="1500" dirty="0"/>
          </a:p>
        </p:txBody>
      </p:sp>
      <p:sp>
        <p:nvSpPr>
          <p:cNvPr id="27" name="Text 24"/>
          <p:cNvSpPr/>
          <p:nvPr/>
        </p:nvSpPr>
        <p:spPr>
          <a:xfrm>
            <a:off x="548640" y="5212080"/>
            <a:ext cx="1280160" cy="365760"/>
          </a:xfrm>
          <a:prstGeom prst="rect">
            <a:avLst/>
          </a:prstGeom>
          <a:noFill/>
          <a:ln/>
        </p:spPr>
        <p:txBody>
          <a:bodyPr wrap="square" lIns="0" tIns="0" rIns="0" bIns="0" rtlCol="0" anchor="ctr"/>
          <a:lstStyle/>
          <a:p>
            <a:pPr marL="0" indent="0">
              <a:buNone/>
            </a:pPr>
            <a:r>
              <a:rPr lang="en-US" sz="1800" b="1" dirty="0">
                <a:solidFill>
                  <a:srgbClr val="EC008C"/>
                </a:solidFill>
                <a:latin typeface="Calibri" pitchFamily="34" charset="0"/>
                <a:ea typeface="Calibri" pitchFamily="34" charset="-122"/>
                <a:cs typeface="Calibri" pitchFamily="34" charset="-120"/>
              </a:rPr>
              <a:t>4</a:t>
            </a:r>
            <a:endParaRPr lang="en-US" sz="1800" dirty="0"/>
          </a:p>
        </p:txBody>
      </p:sp>
      <p:sp>
        <p:nvSpPr>
          <p:cNvPr id="29" name="Text 26"/>
          <p:cNvSpPr/>
          <p:nvPr/>
        </p:nvSpPr>
        <p:spPr>
          <a:xfrm>
            <a:off x="777240" y="5201514"/>
            <a:ext cx="9144000" cy="365760"/>
          </a:xfrm>
          <a:prstGeom prst="rect">
            <a:avLst/>
          </a:prstGeom>
          <a:noFill/>
          <a:ln/>
        </p:spPr>
        <p:txBody>
          <a:bodyPr wrap="square" lIns="0" tIns="0" rIns="0" bIns="0" rtlCol="0" anchor="ctr"/>
          <a:lstStyle/>
          <a:p>
            <a:pPr marL="0" indent="0">
              <a:buNone/>
            </a:pPr>
            <a:r>
              <a:rPr lang="en-US" sz="1500" dirty="0">
                <a:solidFill>
                  <a:srgbClr val="FFFFFF"/>
                </a:solidFill>
                <a:latin typeface="Calibri" pitchFamily="34" charset="0"/>
                <a:ea typeface="Calibri" pitchFamily="34" charset="-122"/>
                <a:cs typeface="Calibri" pitchFamily="34" charset="-120"/>
              </a:rPr>
              <a:t>Cierre · compromisos · próximos pasos</a:t>
            </a:r>
            <a:endParaRPr lang="en-US" sz="1500" dirty="0"/>
          </a:p>
        </p:txBody>
      </p:sp>
      <p:sp>
        <p:nvSpPr>
          <p:cNvPr id="30" name="Shape 27"/>
          <p:cNvSpPr/>
          <p:nvPr/>
        </p:nvSpPr>
        <p:spPr>
          <a:xfrm>
            <a:off x="548640" y="6400800"/>
            <a:ext cx="118872" cy="118872"/>
          </a:xfrm>
          <a:prstGeom prst="ellipse">
            <a:avLst/>
          </a:prstGeom>
          <a:solidFill>
            <a:srgbClr val="EC008C"/>
          </a:solidFill>
          <a:ln w="12700">
            <a:solidFill>
              <a:srgbClr val="EC008C"/>
            </a:solidFill>
            <a:prstDash val="solid"/>
          </a:ln>
        </p:spPr>
        <p:txBody>
          <a:bodyPr/>
          <a:lstStyle/>
          <a:p>
            <a:endParaRPr lang="es-MX"/>
          </a:p>
        </p:txBody>
      </p:sp>
      <p:sp>
        <p:nvSpPr>
          <p:cNvPr id="31" name="Text 28"/>
          <p:cNvSpPr/>
          <p:nvPr/>
        </p:nvSpPr>
        <p:spPr>
          <a:xfrm>
            <a:off x="777240" y="6355080"/>
            <a:ext cx="6400800" cy="228600"/>
          </a:xfrm>
          <a:prstGeom prst="rect">
            <a:avLst/>
          </a:prstGeom>
          <a:noFill/>
          <a:ln/>
        </p:spPr>
        <p:txBody>
          <a:bodyPr wrap="square" lIns="0" tIns="0" rIns="0" bIns="0" rtlCol="0" anchor="ctr"/>
          <a:lstStyle/>
          <a:p>
            <a:pPr marL="0" indent="0">
              <a:buNone/>
            </a:pPr>
            <a:r>
              <a:rPr lang="en-US" sz="900" b="1" kern="0" spc="400" dirty="0">
                <a:solidFill>
                  <a:srgbClr val="FFFFFF"/>
                </a:solidFill>
                <a:latin typeface="Calibri" pitchFamily="34" charset="0"/>
                <a:ea typeface="Calibri" pitchFamily="34" charset="-122"/>
                <a:cs typeface="Calibri" pitchFamily="34" charset="-120"/>
              </a:rPr>
              <a:t>FINAL UPGRADE AI  ·  WORKSHOP SPORTS WORLD</a:t>
            </a:r>
            <a:endParaRPr lang="en-US" sz="900" dirty="0"/>
          </a:p>
        </p:txBody>
      </p:sp>
      <p:sp>
        <p:nvSpPr>
          <p:cNvPr id="32" name="Text 29"/>
          <p:cNvSpPr/>
          <p:nvPr/>
        </p:nvSpPr>
        <p:spPr>
          <a:xfrm>
            <a:off x="11002975" y="6355080"/>
            <a:ext cx="640080" cy="228600"/>
          </a:xfrm>
          <a:prstGeom prst="rect">
            <a:avLst/>
          </a:prstGeom>
          <a:noFill/>
          <a:ln/>
        </p:spPr>
        <p:txBody>
          <a:bodyPr wrap="square" lIns="0" tIns="0" rIns="0" bIns="0" rtlCol="0" anchor="ctr"/>
          <a:lstStyle/>
          <a:p>
            <a:pPr marL="0" indent="0" algn="r">
              <a:buNone/>
            </a:pPr>
            <a:r>
              <a:rPr lang="en-US" sz="900" b="1" dirty="0">
                <a:solidFill>
                  <a:srgbClr val="B8B8C5"/>
                </a:solidFill>
                <a:latin typeface="Calibri" pitchFamily="34" charset="0"/>
                <a:ea typeface="Calibri" pitchFamily="34" charset="-122"/>
                <a:cs typeface="Calibri" pitchFamily="34" charset="-120"/>
              </a:rPr>
              <a:t>04 / 18</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0F1B"/>
        </a:solidFill>
        <a:effectLst/>
      </p:bgPr>
    </p:bg>
    <p:spTree>
      <p:nvGrpSpPr>
        <p:cNvPr id="1" name=""/>
        <p:cNvGrpSpPr/>
        <p:nvPr/>
      </p:nvGrpSpPr>
      <p:grpSpPr>
        <a:xfrm>
          <a:off x="0" y="0"/>
          <a:ext cx="0" cy="0"/>
          <a:chOff x="0" y="0"/>
          <a:chExt cx="0" cy="0"/>
        </a:xfrm>
      </p:grpSpPr>
      <p:sp>
        <p:nvSpPr>
          <p:cNvPr id="2" name="Text 0"/>
          <p:cNvSpPr/>
          <p:nvPr/>
        </p:nvSpPr>
        <p:spPr>
          <a:xfrm>
            <a:off x="548640" y="411480"/>
            <a:ext cx="7315200" cy="274320"/>
          </a:xfrm>
          <a:prstGeom prst="rect">
            <a:avLst/>
          </a:prstGeom>
          <a:noFill/>
          <a:ln/>
        </p:spPr>
        <p:txBody>
          <a:bodyPr wrap="square" lIns="0" tIns="0" rIns="0" bIns="0" rtlCol="0" anchor="ctr"/>
          <a:lstStyle/>
          <a:p>
            <a:pPr marL="0" indent="0">
              <a:buNone/>
            </a:pPr>
            <a:r>
              <a:rPr lang="en-US" sz="1100" b="1" kern="0" spc="600" dirty="0">
                <a:solidFill>
                  <a:srgbClr val="EC008C"/>
                </a:solidFill>
                <a:latin typeface="Calibri" pitchFamily="34" charset="0"/>
                <a:ea typeface="Calibri" pitchFamily="34" charset="-122"/>
                <a:cs typeface="Calibri" pitchFamily="34" charset="-120"/>
              </a:rPr>
              <a:t>CONTEXTO DEL PROYECTO</a:t>
            </a:r>
            <a:endParaRPr lang="en-US" sz="1100" dirty="0"/>
          </a:p>
        </p:txBody>
      </p:sp>
      <p:pic>
        <p:nvPicPr>
          <p:cNvPr id="3" name="Image 0" descr="/home/claude/sw_pres/sw_logo_transparent.png"/>
          <p:cNvPicPr>
            <a:picLocks noChangeAspect="1"/>
          </p:cNvPicPr>
          <p:nvPr/>
        </p:nvPicPr>
        <p:blipFill>
          <a:blip r:embed="rId3"/>
          <a:stretch>
            <a:fillRect/>
          </a:stretch>
        </p:blipFill>
        <p:spPr>
          <a:xfrm>
            <a:off x="11094415" y="228600"/>
            <a:ext cx="777240" cy="777240"/>
          </a:xfrm>
          <a:prstGeom prst="rect">
            <a:avLst/>
          </a:prstGeom>
        </p:spPr>
      </p:pic>
      <p:sp>
        <p:nvSpPr>
          <p:cNvPr id="4" name="Shape 1"/>
          <p:cNvSpPr/>
          <p:nvPr/>
        </p:nvSpPr>
        <p:spPr>
          <a:xfrm>
            <a:off x="548640" y="1005840"/>
            <a:ext cx="9997135" cy="0"/>
          </a:xfrm>
          <a:prstGeom prst="line">
            <a:avLst/>
          </a:prstGeom>
          <a:noFill/>
          <a:ln w="12700">
            <a:solidFill>
              <a:srgbClr val="EC008C"/>
            </a:solidFill>
            <a:prstDash val="solid"/>
          </a:ln>
        </p:spPr>
        <p:txBody>
          <a:bodyPr/>
          <a:lstStyle/>
          <a:p>
            <a:endParaRPr lang="es-MX"/>
          </a:p>
        </p:txBody>
      </p:sp>
      <p:sp>
        <p:nvSpPr>
          <p:cNvPr id="5" name="Shape 2"/>
          <p:cNvSpPr/>
          <p:nvPr/>
        </p:nvSpPr>
        <p:spPr>
          <a:xfrm>
            <a:off x="9905695" y="1417320"/>
            <a:ext cx="1554480" cy="365760"/>
          </a:xfrm>
          <a:prstGeom prst="roundRect">
            <a:avLst>
              <a:gd name="adj" fmla="val 12500"/>
            </a:avLst>
          </a:prstGeom>
          <a:solidFill>
            <a:srgbClr val="1A1A28"/>
          </a:solidFill>
          <a:ln w="12700">
            <a:solidFill>
              <a:srgbClr val="EC008C"/>
            </a:solidFill>
            <a:prstDash val="solid"/>
          </a:ln>
        </p:spPr>
        <p:txBody>
          <a:bodyPr/>
          <a:lstStyle/>
          <a:p>
            <a:endParaRPr lang="es-MX"/>
          </a:p>
        </p:txBody>
      </p:sp>
      <p:sp>
        <p:nvSpPr>
          <p:cNvPr id="6" name="Text 3"/>
          <p:cNvSpPr/>
          <p:nvPr/>
        </p:nvSpPr>
        <p:spPr>
          <a:xfrm>
            <a:off x="9905695" y="1417320"/>
            <a:ext cx="1554480" cy="365760"/>
          </a:xfrm>
          <a:prstGeom prst="rect">
            <a:avLst/>
          </a:prstGeom>
          <a:noFill/>
          <a:ln/>
        </p:spPr>
        <p:txBody>
          <a:bodyPr wrap="square" lIns="0" tIns="0" rIns="0" bIns="0" rtlCol="0" anchor="ctr"/>
          <a:lstStyle/>
          <a:p>
            <a:pPr marL="0" indent="0" algn="ctr">
              <a:buNone/>
            </a:pPr>
            <a:r>
              <a:rPr lang="en-US" sz="1100" b="1" kern="0" spc="200" dirty="0">
                <a:solidFill>
                  <a:srgbClr val="FFFFFF"/>
                </a:solidFill>
                <a:latin typeface="Calibri" pitchFamily="34" charset="0"/>
                <a:ea typeface="Calibri" pitchFamily="34" charset="-122"/>
                <a:cs typeface="Calibri" pitchFamily="34" charset="-120"/>
              </a:rPr>
              <a:t>MIN 10 — 12</a:t>
            </a:r>
            <a:endParaRPr lang="en-US" sz="1100" dirty="0"/>
          </a:p>
        </p:txBody>
      </p:sp>
      <p:sp>
        <p:nvSpPr>
          <p:cNvPr id="7" name="Shape 4"/>
          <p:cNvSpPr/>
          <p:nvPr/>
        </p:nvSpPr>
        <p:spPr>
          <a:xfrm>
            <a:off x="548640" y="1371600"/>
            <a:ext cx="1371600" cy="411480"/>
          </a:xfrm>
          <a:prstGeom prst="roundRect">
            <a:avLst>
              <a:gd name="adj" fmla="val 50000"/>
            </a:avLst>
          </a:prstGeom>
          <a:solidFill>
            <a:srgbClr val="EC008C"/>
          </a:solidFill>
          <a:ln w="12700">
            <a:solidFill>
              <a:srgbClr val="EC008C"/>
            </a:solidFill>
            <a:prstDash val="solid"/>
          </a:ln>
        </p:spPr>
        <p:txBody>
          <a:bodyPr/>
          <a:lstStyle/>
          <a:p>
            <a:endParaRPr lang="es-MX"/>
          </a:p>
        </p:txBody>
      </p:sp>
      <p:sp>
        <p:nvSpPr>
          <p:cNvPr id="8" name="Text 5"/>
          <p:cNvSpPr/>
          <p:nvPr/>
        </p:nvSpPr>
        <p:spPr>
          <a:xfrm>
            <a:off x="548640" y="1371600"/>
            <a:ext cx="1371600" cy="411480"/>
          </a:xfrm>
          <a:prstGeom prst="rect">
            <a:avLst/>
          </a:prstGeom>
          <a:noFill/>
          <a:ln/>
        </p:spPr>
        <p:txBody>
          <a:bodyPr wrap="square" lIns="0" tIns="0" rIns="0" bIns="0" rtlCol="0" anchor="ctr"/>
          <a:lstStyle/>
          <a:p>
            <a:pPr marL="0" indent="0" algn="ctr">
              <a:buNone/>
            </a:pPr>
            <a:r>
              <a:rPr lang="en-US" sz="1100" b="1" kern="0" spc="400" dirty="0">
                <a:solidFill>
                  <a:srgbClr val="FFFFFF"/>
                </a:solidFill>
                <a:latin typeface="Calibri" pitchFamily="34" charset="0"/>
                <a:ea typeface="Calibri" pitchFamily="34" charset="-122"/>
                <a:cs typeface="Calibri" pitchFamily="34" charset="-120"/>
              </a:rPr>
              <a:t>CONTEXT</a:t>
            </a:r>
            <a:endParaRPr lang="en-US" sz="1100" dirty="0"/>
          </a:p>
        </p:txBody>
      </p:sp>
      <p:sp>
        <p:nvSpPr>
          <p:cNvPr id="9" name="Text 6"/>
          <p:cNvSpPr/>
          <p:nvPr/>
        </p:nvSpPr>
        <p:spPr>
          <a:xfrm>
            <a:off x="548640" y="2011680"/>
            <a:ext cx="10972800" cy="1005840"/>
          </a:xfrm>
          <a:prstGeom prst="rect">
            <a:avLst/>
          </a:prstGeom>
          <a:noFill/>
          <a:ln/>
        </p:spPr>
        <p:txBody>
          <a:bodyPr wrap="square" lIns="0" tIns="0" rIns="0" bIns="0" rtlCol="0" anchor="ctr"/>
          <a:lstStyle/>
          <a:p>
            <a:pPr marL="0" indent="0">
              <a:buNone/>
            </a:pPr>
            <a:r>
              <a:rPr lang="en-US" sz="5600" b="1" dirty="0">
                <a:solidFill>
                  <a:srgbClr val="FFFFFF"/>
                </a:solidFill>
                <a:latin typeface="Calibri" pitchFamily="34" charset="0"/>
                <a:ea typeface="Calibri" pitchFamily="34" charset="-122"/>
                <a:cs typeface="Calibri" pitchFamily="34" charset="-120"/>
              </a:rPr>
              <a:t>Por qué estamos aquí</a:t>
            </a:r>
            <a:endParaRPr lang="en-US" sz="5600" dirty="0"/>
          </a:p>
        </p:txBody>
      </p:sp>
      <p:sp>
        <p:nvSpPr>
          <p:cNvPr id="10" name="Shape 7"/>
          <p:cNvSpPr/>
          <p:nvPr/>
        </p:nvSpPr>
        <p:spPr>
          <a:xfrm>
            <a:off x="548640" y="3337560"/>
            <a:ext cx="5486400" cy="0"/>
          </a:xfrm>
          <a:prstGeom prst="line">
            <a:avLst/>
          </a:prstGeom>
          <a:noFill/>
          <a:ln w="12700">
            <a:solidFill>
              <a:srgbClr val="EC008C"/>
            </a:solidFill>
            <a:prstDash val="solid"/>
          </a:ln>
        </p:spPr>
        <p:txBody>
          <a:bodyPr/>
          <a:lstStyle/>
          <a:p>
            <a:endParaRPr lang="es-MX"/>
          </a:p>
        </p:txBody>
      </p:sp>
      <p:sp>
        <p:nvSpPr>
          <p:cNvPr id="11" name="Shape 8"/>
          <p:cNvSpPr/>
          <p:nvPr/>
        </p:nvSpPr>
        <p:spPr>
          <a:xfrm>
            <a:off x="548640" y="3749040"/>
            <a:ext cx="3611880" cy="2606040"/>
          </a:xfrm>
          <a:prstGeom prst="rect">
            <a:avLst/>
          </a:prstGeom>
          <a:solidFill>
            <a:srgbClr val="1A1A28"/>
          </a:solidFill>
          <a:ln w="6350">
            <a:solidFill>
              <a:srgbClr val="333344"/>
            </a:solidFill>
            <a:prstDash val="solid"/>
          </a:ln>
        </p:spPr>
        <p:txBody>
          <a:bodyPr/>
          <a:lstStyle/>
          <a:p>
            <a:endParaRPr lang="es-MX"/>
          </a:p>
        </p:txBody>
      </p:sp>
      <p:sp>
        <p:nvSpPr>
          <p:cNvPr id="12" name="Shape 9"/>
          <p:cNvSpPr/>
          <p:nvPr/>
        </p:nvSpPr>
        <p:spPr>
          <a:xfrm>
            <a:off x="548640" y="3749040"/>
            <a:ext cx="3611880" cy="73152"/>
          </a:xfrm>
          <a:prstGeom prst="rect">
            <a:avLst/>
          </a:prstGeom>
          <a:solidFill>
            <a:srgbClr val="EC008C"/>
          </a:solidFill>
          <a:ln w="12700">
            <a:solidFill>
              <a:srgbClr val="EC008C"/>
            </a:solidFill>
            <a:prstDash val="solid"/>
          </a:ln>
        </p:spPr>
        <p:txBody>
          <a:bodyPr/>
          <a:lstStyle/>
          <a:p>
            <a:endParaRPr lang="es-MX"/>
          </a:p>
        </p:txBody>
      </p:sp>
      <p:sp>
        <p:nvSpPr>
          <p:cNvPr id="13" name="Text 10"/>
          <p:cNvSpPr/>
          <p:nvPr/>
        </p:nvSpPr>
        <p:spPr>
          <a:xfrm>
            <a:off x="822960" y="3931920"/>
            <a:ext cx="3200400" cy="274320"/>
          </a:xfrm>
          <a:prstGeom prst="rect">
            <a:avLst/>
          </a:prstGeom>
          <a:noFill/>
          <a:ln/>
        </p:spPr>
        <p:txBody>
          <a:bodyPr wrap="square" lIns="0" tIns="0" rIns="0" bIns="0" rtlCol="0" anchor="ctr"/>
          <a:lstStyle/>
          <a:p>
            <a:pPr marL="0" indent="0">
              <a:buNone/>
            </a:pPr>
            <a:r>
              <a:rPr lang="en-US" sz="1000" b="1" kern="0" spc="400" dirty="0">
                <a:solidFill>
                  <a:srgbClr val="EC008C"/>
                </a:solidFill>
                <a:latin typeface="Calibri" pitchFamily="34" charset="0"/>
                <a:ea typeface="Calibri" pitchFamily="34" charset="-122"/>
                <a:cs typeface="Calibri" pitchFamily="34" charset="-120"/>
              </a:rPr>
              <a:t>EL PROYECTO</a:t>
            </a:r>
            <a:endParaRPr lang="en-US" sz="1000" dirty="0"/>
          </a:p>
        </p:txBody>
      </p:sp>
      <p:sp>
        <p:nvSpPr>
          <p:cNvPr id="14" name="Text 11"/>
          <p:cNvSpPr/>
          <p:nvPr/>
        </p:nvSpPr>
        <p:spPr>
          <a:xfrm>
            <a:off x="822960" y="4251960"/>
            <a:ext cx="3200400" cy="548640"/>
          </a:xfrm>
          <a:prstGeom prst="rect">
            <a:avLst/>
          </a:prstGeom>
          <a:noFill/>
          <a:ln/>
        </p:spPr>
        <p:txBody>
          <a:bodyPr wrap="square" lIns="0" tIns="0" rIns="0" bIns="0"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Programa integral</a:t>
            </a:r>
            <a:endParaRPr lang="en-US" sz="2400" dirty="0"/>
          </a:p>
        </p:txBody>
      </p:sp>
      <p:sp>
        <p:nvSpPr>
          <p:cNvPr id="15" name="Text 12"/>
          <p:cNvSpPr/>
          <p:nvPr/>
        </p:nvSpPr>
        <p:spPr>
          <a:xfrm>
            <a:off x="822960" y="4937760"/>
            <a:ext cx="3200400" cy="1371600"/>
          </a:xfrm>
          <a:prstGeom prst="rect">
            <a:avLst/>
          </a:prstGeom>
          <a:noFill/>
          <a:ln/>
        </p:spPr>
        <p:txBody>
          <a:bodyPr wrap="square" lIns="0" tIns="0" rIns="0" bIns="0" rtlCol="0" anchor="t"/>
          <a:lstStyle/>
          <a:p>
            <a:pPr marL="0" indent="0">
              <a:buNone/>
            </a:pPr>
            <a:r>
              <a:rPr lang="en-US" sz="1300" dirty="0">
                <a:solidFill>
                  <a:srgbClr val="B8B8C5"/>
                </a:solidFill>
                <a:latin typeface="Calibri" pitchFamily="34" charset="0"/>
                <a:ea typeface="Calibri" pitchFamily="34" charset="-122"/>
                <a:cs typeface="Calibri" pitchFamily="34" charset="-120"/>
              </a:rPr>
              <a:t>Curso interactivo de capacitación, role-play con voz y dashboard de readiness para los 200 asesores.</a:t>
            </a:r>
            <a:endParaRPr lang="en-US" sz="1300" dirty="0"/>
          </a:p>
        </p:txBody>
      </p:sp>
      <p:sp>
        <p:nvSpPr>
          <p:cNvPr id="16" name="Shape 13"/>
          <p:cNvSpPr/>
          <p:nvPr/>
        </p:nvSpPr>
        <p:spPr>
          <a:xfrm>
            <a:off x="4343400" y="3749040"/>
            <a:ext cx="3611880" cy="2606040"/>
          </a:xfrm>
          <a:prstGeom prst="rect">
            <a:avLst/>
          </a:prstGeom>
          <a:solidFill>
            <a:srgbClr val="1A1A28"/>
          </a:solidFill>
          <a:ln w="6350">
            <a:solidFill>
              <a:srgbClr val="333344"/>
            </a:solidFill>
            <a:prstDash val="solid"/>
          </a:ln>
        </p:spPr>
        <p:txBody>
          <a:bodyPr/>
          <a:lstStyle/>
          <a:p>
            <a:endParaRPr lang="es-MX"/>
          </a:p>
        </p:txBody>
      </p:sp>
      <p:sp>
        <p:nvSpPr>
          <p:cNvPr id="17" name="Shape 14"/>
          <p:cNvSpPr/>
          <p:nvPr/>
        </p:nvSpPr>
        <p:spPr>
          <a:xfrm>
            <a:off x="4343400" y="3749040"/>
            <a:ext cx="3611880" cy="73152"/>
          </a:xfrm>
          <a:prstGeom prst="rect">
            <a:avLst/>
          </a:prstGeom>
          <a:solidFill>
            <a:srgbClr val="EC008C"/>
          </a:solidFill>
          <a:ln w="12700">
            <a:solidFill>
              <a:srgbClr val="EC008C"/>
            </a:solidFill>
            <a:prstDash val="solid"/>
          </a:ln>
        </p:spPr>
        <p:txBody>
          <a:bodyPr/>
          <a:lstStyle/>
          <a:p>
            <a:endParaRPr lang="es-MX"/>
          </a:p>
        </p:txBody>
      </p:sp>
      <p:sp>
        <p:nvSpPr>
          <p:cNvPr id="18" name="Text 15"/>
          <p:cNvSpPr/>
          <p:nvPr/>
        </p:nvSpPr>
        <p:spPr>
          <a:xfrm>
            <a:off x="4617720" y="3931920"/>
            <a:ext cx="3200400" cy="274320"/>
          </a:xfrm>
          <a:prstGeom prst="rect">
            <a:avLst/>
          </a:prstGeom>
          <a:noFill/>
          <a:ln/>
        </p:spPr>
        <p:txBody>
          <a:bodyPr wrap="square" lIns="0" tIns="0" rIns="0" bIns="0" rtlCol="0" anchor="ctr"/>
          <a:lstStyle/>
          <a:p>
            <a:pPr marL="0" indent="0">
              <a:buNone/>
            </a:pPr>
            <a:r>
              <a:rPr lang="en-US" sz="1000" b="1" kern="0" spc="400" dirty="0">
                <a:solidFill>
                  <a:srgbClr val="EC008C"/>
                </a:solidFill>
                <a:latin typeface="Calibri" pitchFamily="34" charset="0"/>
                <a:ea typeface="Calibri" pitchFamily="34" charset="-122"/>
                <a:cs typeface="Calibri" pitchFamily="34" charset="-120"/>
              </a:rPr>
              <a:t>EL MOMENTO</a:t>
            </a:r>
            <a:endParaRPr lang="en-US" sz="1000" dirty="0"/>
          </a:p>
        </p:txBody>
      </p:sp>
      <p:sp>
        <p:nvSpPr>
          <p:cNvPr id="19" name="Text 16"/>
          <p:cNvSpPr/>
          <p:nvPr/>
        </p:nvSpPr>
        <p:spPr>
          <a:xfrm>
            <a:off x="4617720" y="4251960"/>
            <a:ext cx="3200400" cy="548640"/>
          </a:xfrm>
          <a:prstGeom prst="rect">
            <a:avLst/>
          </a:prstGeom>
          <a:noFill/>
          <a:ln/>
        </p:spPr>
        <p:txBody>
          <a:bodyPr wrap="square" lIns="0" tIns="0" rIns="0" bIns="0"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Antes del diseño</a:t>
            </a:r>
            <a:endParaRPr lang="en-US" sz="2400" dirty="0"/>
          </a:p>
        </p:txBody>
      </p:sp>
      <p:sp>
        <p:nvSpPr>
          <p:cNvPr id="20" name="Text 17"/>
          <p:cNvSpPr/>
          <p:nvPr/>
        </p:nvSpPr>
        <p:spPr>
          <a:xfrm>
            <a:off x="4617720" y="4937760"/>
            <a:ext cx="3200400" cy="1371600"/>
          </a:xfrm>
          <a:prstGeom prst="rect">
            <a:avLst/>
          </a:prstGeom>
          <a:noFill/>
          <a:ln/>
        </p:spPr>
        <p:txBody>
          <a:bodyPr wrap="square" lIns="0" tIns="0" rIns="0" bIns="0" rtlCol="0" anchor="t"/>
          <a:lstStyle/>
          <a:p>
            <a:pPr marL="0" indent="0">
              <a:buNone/>
            </a:pPr>
            <a:r>
              <a:rPr lang="en-US" sz="1300" dirty="0">
                <a:solidFill>
                  <a:srgbClr val="B8B8C5"/>
                </a:solidFill>
                <a:latin typeface="Calibri" pitchFamily="34" charset="0"/>
                <a:ea typeface="Calibri" pitchFamily="34" charset="-122"/>
                <a:cs typeface="Calibri" pitchFamily="34" charset="-120"/>
              </a:rPr>
              <a:t>Estamos en discovery. El programa aún no se diseña. Lo que ustedes aporten hoy define el contenido.</a:t>
            </a:r>
            <a:endParaRPr lang="en-US" sz="1300" dirty="0"/>
          </a:p>
        </p:txBody>
      </p:sp>
      <p:sp>
        <p:nvSpPr>
          <p:cNvPr id="21" name="Shape 18"/>
          <p:cNvSpPr/>
          <p:nvPr/>
        </p:nvSpPr>
        <p:spPr>
          <a:xfrm>
            <a:off x="8138160" y="3749040"/>
            <a:ext cx="3611880" cy="2606040"/>
          </a:xfrm>
          <a:prstGeom prst="rect">
            <a:avLst/>
          </a:prstGeom>
          <a:solidFill>
            <a:srgbClr val="1A1A28"/>
          </a:solidFill>
          <a:ln w="6350">
            <a:solidFill>
              <a:srgbClr val="333344"/>
            </a:solidFill>
            <a:prstDash val="solid"/>
          </a:ln>
        </p:spPr>
        <p:txBody>
          <a:bodyPr/>
          <a:lstStyle/>
          <a:p>
            <a:endParaRPr lang="es-MX"/>
          </a:p>
        </p:txBody>
      </p:sp>
      <p:sp>
        <p:nvSpPr>
          <p:cNvPr id="22" name="Shape 19"/>
          <p:cNvSpPr/>
          <p:nvPr/>
        </p:nvSpPr>
        <p:spPr>
          <a:xfrm>
            <a:off x="8138160" y="3749040"/>
            <a:ext cx="3611880" cy="73152"/>
          </a:xfrm>
          <a:prstGeom prst="rect">
            <a:avLst/>
          </a:prstGeom>
          <a:solidFill>
            <a:srgbClr val="EC008C"/>
          </a:solidFill>
          <a:ln w="12700">
            <a:solidFill>
              <a:srgbClr val="EC008C"/>
            </a:solidFill>
            <a:prstDash val="solid"/>
          </a:ln>
        </p:spPr>
        <p:txBody>
          <a:bodyPr/>
          <a:lstStyle/>
          <a:p>
            <a:endParaRPr lang="es-MX"/>
          </a:p>
        </p:txBody>
      </p:sp>
      <p:sp>
        <p:nvSpPr>
          <p:cNvPr id="23" name="Text 20"/>
          <p:cNvSpPr/>
          <p:nvPr/>
        </p:nvSpPr>
        <p:spPr>
          <a:xfrm>
            <a:off x="8412480" y="3931920"/>
            <a:ext cx="3200400" cy="274320"/>
          </a:xfrm>
          <a:prstGeom prst="rect">
            <a:avLst/>
          </a:prstGeom>
          <a:noFill/>
          <a:ln/>
        </p:spPr>
        <p:txBody>
          <a:bodyPr wrap="square" lIns="0" tIns="0" rIns="0" bIns="0" rtlCol="0" anchor="ctr"/>
          <a:lstStyle/>
          <a:p>
            <a:pPr marL="0" indent="0">
              <a:buNone/>
            </a:pPr>
            <a:r>
              <a:rPr lang="en-US" sz="1000" b="1" kern="0" spc="400" dirty="0">
                <a:solidFill>
                  <a:srgbClr val="EC008C"/>
                </a:solidFill>
                <a:latin typeface="Calibri" pitchFamily="34" charset="0"/>
                <a:ea typeface="Calibri" pitchFamily="34" charset="-122"/>
                <a:cs typeface="Calibri" pitchFamily="34" charset="-120"/>
              </a:rPr>
              <a:t>POR QUÉ USTEDES</a:t>
            </a:r>
            <a:endParaRPr lang="en-US" sz="1000" dirty="0"/>
          </a:p>
        </p:txBody>
      </p:sp>
      <p:sp>
        <p:nvSpPr>
          <p:cNvPr id="24" name="Text 21"/>
          <p:cNvSpPr/>
          <p:nvPr/>
        </p:nvSpPr>
        <p:spPr>
          <a:xfrm>
            <a:off x="8412480" y="4251960"/>
            <a:ext cx="3200400" cy="548640"/>
          </a:xfrm>
          <a:prstGeom prst="rect">
            <a:avLst/>
          </a:prstGeom>
          <a:noFill/>
          <a:ln/>
        </p:spPr>
        <p:txBody>
          <a:bodyPr wrap="square" lIns="0" tIns="0" rIns="0" bIns="0"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Voz del campo</a:t>
            </a:r>
            <a:endParaRPr lang="en-US" sz="2400" dirty="0"/>
          </a:p>
        </p:txBody>
      </p:sp>
      <p:sp>
        <p:nvSpPr>
          <p:cNvPr id="25" name="Text 22"/>
          <p:cNvSpPr/>
          <p:nvPr/>
        </p:nvSpPr>
        <p:spPr>
          <a:xfrm>
            <a:off x="8412480" y="4937760"/>
            <a:ext cx="3200400" cy="1371600"/>
          </a:xfrm>
          <a:prstGeom prst="rect">
            <a:avLst/>
          </a:prstGeom>
          <a:noFill/>
          <a:ln/>
        </p:spPr>
        <p:txBody>
          <a:bodyPr wrap="square" lIns="0" tIns="0" rIns="0" bIns="0" rtlCol="0" anchor="t"/>
          <a:lstStyle/>
          <a:p>
            <a:pPr marL="0" indent="0">
              <a:buNone/>
            </a:pPr>
            <a:r>
              <a:rPr lang="en-US" sz="1300" dirty="0">
                <a:solidFill>
                  <a:srgbClr val="B8B8C5"/>
                </a:solidFill>
                <a:latin typeface="Calibri" pitchFamily="34" charset="0"/>
                <a:ea typeface="Calibri" pitchFamily="34" charset="-122"/>
                <a:cs typeface="Calibri" pitchFamily="34" charset="-120"/>
              </a:rPr>
              <a:t>Ustedes ven el comportamiento real de los asesores cada día. Nadie más tiene esa visión.</a:t>
            </a:r>
            <a:endParaRPr lang="en-US" sz="1300" dirty="0"/>
          </a:p>
        </p:txBody>
      </p:sp>
      <p:sp>
        <p:nvSpPr>
          <p:cNvPr id="26" name="Shape 23"/>
          <p:cNvSpPr/>
          <p:nvPr/>
        </p:nvSpPr>
        <p:spPr>
          <a:xfrm>
            <a:off x="548640" y="6400800"/>
            <a:ext cx="118872" cy="118872"/>
          </a:xfrm>
          <a:prstGeom prst="ellipse">
            <a:avLst/>
          </a:prstGeom>
          <a:solidFill>
            <a:srgbClr val="EC008C"/>
          </a:solidFill>
          <a:ln w="12700">
            <a:solidFill>
              <a:srgbClr val="EC008C"/>
            </a:solidFill>
            <a:prstDash val="solid"/>
          </a:ln>
        </p:spPr>
        <p:txBody>
          <a:bodyPr/>
          <a:lstStyle/>
          <a:p>
            <a:endParaRPr lang="es-MX"/>
          </a:p>
        </p:txBody>
      </p:sp>
      <p:sp>
        <p:nvSpPr>
          <p:cNvPr id="27" name="Text 24"/>
          <p:cNvSpPr/>
          <p:nvPr/>
        </p:nvSpPr>
        <p:spPr>
          <a:xfrm>
            <a:off x="777240" y="6355080"/>
            <a:ext cx="6400800" cy="228600"/>
          </a:xfrm>
          <a:prstGeom prst="rect">
            <a:avLst/>
          </a:prstGeom>
          <a:noFill/>
          <a:ln/>
        </p:spPr>
        <p:txBody>
          <a:bodyPr wrap="square" lIns="0" tIns="0" rIns="0" bIns="0" rtlCol="0" anchor="ctr"/>
          <a:lstStyle/>
          <a:p>
            <a:pPr marL="0" indent="0">
              <a:buNone/>
            </a:pPr>
            <a:r>
              <a:rPr lang="en-US" sz="900" b="1" kern="0" spc="400" dirty="0">
                <a:solidFill>
                  <a:srgbClr val="FFFFFF"/>
                </a:solidFill>
                <a:latin typeface="Calibri" pitchFamily="34" charset="0"/>
                <a:ea typeface="Calibri" pitchFamily="34" charset="-122"/>
                <a:cs typeface="Calibri" pitchFamily="34" charset="-120"/>
              </a:rPr>
              <a:t>FINAL UPGRADE AI  ·  WORKSHOP SPORTS WORLD</a:t>
            </a:r>
            <a:endParaRPr lang="en-US" sz="900" dirty="0"/>
          </a:p>
        </p:txBody>
      </p:sp>
      <p:sp>
        <p:nvSpPr>
          <p:cNvPr id="28" name="Text 25"/>
          <p:cNvSpPr/>
          <p:nvPr/>
        </p:nvSpPr>
        <p:spPr>
          <a:xfrm>
            <a:off x="11002975" y="6355080"/>
            <a:ext cx="640080" cy="228600"/>
          </a:xfrm>
          <a:prstGeom prst="rect">
            <a:avLst/>
          </a:prstGeom>
          <a:noFill/>
          <a:ln/>
        </p:spPr>
        <p:txBody>
          <a:bodyPr wrap="square" lIns="0" tIns="0" rIns="0" bIns="0" rtlCol="0" anchor="ctr"/>
          <a:lstStyle/>
          <a:p>
            <a:pPr marL="0" indent="0" algn="r">
              <a:buNone/>
            </a:pPr>
            <a:r>
              <a:rPr lang="en-US" sz="900" b="1" dirty="0">
                <a:solidFill>
                  <a:srgbClr val="B8B8C5"/>
                </a:solidFill>
                <a:latin typeface="Calibri" pitchFamily="34" charset="0"/>
                <a:ea typeface="Calibri" pitchFamily="34" charset="-122"/>
                <a:cs typeface="Calibri" pitchFamily="34" charset="-120"/>
              </a:rPr>
              <a:t>05 / 18</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0F1B"/>
        </a:solidFill>
        <a:effectLst/>
      </p:bgPr>
    </p:bg>
    <p:spTree>
      <p:nvGrpSpPr>
        <p:cNvPr id="1" name=""/>
        <p:cNvGrpSpPr/>
        <p:nvPr/>
      </p:nvGrpSpPr>
      <p:grpSpPr>
        <a:xfrm>
          <a:off x="0" y="0"/>
          <a:ext cx="0" cy="0"/>
          <a:chOff x="0" y="0"/>
          <a:chExt cx="0" cy="0"/>
        </a:xfrm>
      </p:grpSpPr>
      <p:sp>
        <p:nvSpPr>
          <p:cNvPr id="2" name="Text 0"/>
          <p:cNvSpPr/>
          <p:nvPr/>
        </p:nvSpPr>
        <p:spPr>
          <a:xfrm>
            <a:off x="548640" y="411480"/>
            <a:ext cx="7315200" cy="274320"/>
          </a:xfrm>
          <a:prstGeom prst="rect">
            <a:avLst/>
          </a:prstGeom>
          <a:noFill/>
          <a:ln/>
        </p:spPr>
        <p:txBody>
          <a:bodyPr wrap="square" lIns="0" tIns="0" rIns="0" bIns="0" rtlCol="0" anchor="ctr"/>
          <a:lstStyle/>
          <a:p>
            <a:pPr marL="0" indent="0">
              <a:buNone/>
            </a:pPr>
            <a:r>
              <a:rPr lang="en-US" sz="1100" b="1" kern="0" spc="600" dirty="0">
                <a:solidFill>
                  <a:srgbClr val="EC008C"/>
                </a:solidFill>
                <a:latin typeface="Calibri" pitchFamily="34" charset="0"/>
                <a:ea typeface="Calibri" pitchFamily="34" charset="-122"/>
                <a:cs typeface="Calibri" pitchFamily="34" charset="-120"/>
              </a:rPr>
              <a:t>HALLAZGOS DEL INFORME DE AUDITORÍA REPUTACIONAL 2023–2026</a:t>
            </a:r>
            <a:endParaRPr lang="en-US" sz="1100" dirty="0"/>
          </a:p>
        </p:txBody>
      </p:sp>
      <p:pic>
        <p:nvPicPr>
          <p:cNvPr id="3" name="Image 0" descr="/home/claude/sw_pres/sw_logo_transparent.png"/>
          <p:cNvPicPr>
            <a:picLocks noChangeAspect="1"/>
          </p:cNvPicPr>
          <p:nvPr/>
        </p:nvPicPr>
        <p:blipFill>
          <a:blip r:embed="rId3"/>
          <a:stretch>
            <a:fillRect/>
          </a:stretch>
        </p:blipFill>
        <p:spPr>
          <a:xfrm>
            <a:off x="11094415" y="228600"/>
            <a:ext cx="777240" cy="777240"/>
          </a:xfrm>
          <a:prstGeom prst="rect">
            <a:avLst/>
          </a:prstGeom>
        </p:spPr>
      </p:pic>
      <p:sp>
        <p:nvSpPr>
          <p:cNvPr id="4" name="Shape 1"/>
          <p:cNvSpPr/>
          <p:nvPr/>
        </p:nvSpPr>
        <p:spPr>
          <a:xfrm>
            <a:off x="548640" y="1005840"/>
            <a:ext cx="9997135" cy="0"/>
          </a:xfrm>
          <a:prstGeom prst="line">
            <a:avLst/>
          </a:prstGeom>
          <a:noFill/>
          <a:ln w="12700">
            <a:solidFill>
              <a:srgbClr val="EC008C"/>
            </a:solidFill>
            <a:prstDash val="solid"/>
          </a:ln>
        </p:spPr>
        <p:txBody>
          <a:bodyPr/>
          <a:lstStyle/>
          <a:p>
            <a:endParaRPr lang="es-MX"/>
          </a:p>
        </p:txBody>
      </p:sp>
      <p:sp>
        <p:nvSpPr>
          <p:cNvPr id="5" name="Shape 2"/>
          <p:cNvSpPr/>
          <p:nvPr/>
        </p:nvSpPr>
        <p:spPr>
          <a:xfrm>
            <a:off x="9905695" y="1417320"/>
            <a:ext cx="1554480" cy="365760"/>
          </a:xfrm>
          <a:prstGeom prst="roundRect">
            <a:avLst>
              <a:gd name="adj" fmla="val 12500"/>
            </a:avLst>
          </a:prstGeom>
          <a:solidFill>
            <a:srgbClr val="1A1A28"/>
          </a:solidFill>
          <a:ln w="12700">
            <a:solidFill>
              <a:srgbClr val="EC008C"/>
            </a:solidFill>
            <a:prstDash val="solid"/>
          </a:ln>
        </p:spPr>
        <p:txBody>
          <a:bodyPr/>
          <a:lstStyle/>
          <a:p>
            <a:endParaRPr lang="es-MX"/>
          </a:p>
        </p:txBody>
      </p:sp>
      <p:sp>
        <p:nvSpPr>
          <p:cNvPr id="6" name="Text 3"/>
          <p:cNvSpPr/>
          <p:nvPr/>
        </p:nvSpPr>
        <p:spPr>
          <a:xfrm>
            <a:off x="9905695" y="1417320"/>
            <a:ext cx="1554480" cy="365760"/>
          </a:xfrm>
          <a:prstGeom prst="rect">
            <a:avLst/>
          </a:prstGeom>
          <a:noFill/>
          <a:ln/>
        </p:spPr>
        <p:txBody>
          <a:bodyPr wrap="square" lIns="0" tIns="0" rIns="0" bIns="0" rtlCol="0" anchor="ctr"/>
          <a:lstStyle/>
          <a:p>
            <a:pPr marL="0" indent="0" algn="ctr">
              <a:buNone/>
            </a:pPr>
            <a:r>
              <a:rPr lang="en-US" sz="1100" b="1" kern="0" spc="200" dirty="0">
                <a:solidFill>
                  <a:srgbClr val="FFFFFF"/>
                </a:solidFill>
                <a:latin typeface="Calibri" pitchFamily="34" charset="0"/>
                <a:ea typeface="Calibri" pitchFamily="34" charset="-122"/>
                <a:cs typeface="Calibri" pitchFamily="34" charset="-120"/>
              </a:rPr>
              <a:t>MIN 12 — 15</a:t>
            </a:r>
            <a:endParaRPr lang="en-US" sz="1100" dirty="0"/>
          </a:p>
        </p:txBody>
      </p:sp>
      <p:sp>
        <p:nvSpPr>
          <p:cNvPr id="7" name="Shape 4"/>
          <p:cNvSpPr/>
          <p:nvPr/>
        </p:nvSpPr>
        <p:spPr>
          <a:xfrm>
            <a:off x="548640" y="1371600"/>
            <a:ext cx="1188720" cy="411480"/>
          </a:xfrm>
          <a:prstGeom prst="roundRect">
            <a:avLst>
              <a:gd name="adj" fmla="val 50000"/>
            </a:avLst>
          </a:prstGeom>
          <a:solidFill>
            <a:srgbClr val="EC008C"/>
          </a:solidFill>
          <a:ln w="12700">
            <a:solidFill>
              <a:srgbClr val="EC008C"/>
            </a:solidFill>
            <a:prstDash val="solid"/>
          </a:ln>
        </p:spPr>
        <p:txBody>
          <a:bodyPr/>
          <a:lstStyle/>
          <a:p>
            <a:endParaRPr lang="es-MX"/>
          </a:p>
        </p:txBody>
      </p:sp>
      <p:sp>
        <p:nvSpPr>
          <p:cNvPr id="8" name="Text 5"/>
          <p:cNvSpPr/>
          <p:nvPr/>
        </p:nvSpPr>
        <p:spPr>
          <a:xfrm>
            <a:off x="548640" y="1371600"/>
            <a:ext cx="1188720" cy="411480"/>
          </a:xfrm>
          <a:prstGeom prst="rect">
            <a:avLst/>
          </a:prstGeom>
          <a:noFill/>
          <a:ln/>
        </p:spPr>
        <p:txBody>
          <a:bodyPr wrap="square" lIns="0" tIns="0" rIns="0" bIns="0" rtlCol="0" anchor="ctr"/>
          <a:lstStyle/>
          <a:p>
            <a:pPr marL="0" indent="0" algn="ctr">
              <a:buNone/>
            </a:pPr>
            <a:r>
              <a:rPr lang="en-US" sz="1100" b="1" kern="0" spc="400" dirty="0">
                <a:solidFill>
                  <a:srgbClr val="FFFFFF"/>
                </a:solidFill>
                <a:latin typeface="Calibri" pitchFamily="34" charset="0"/>
                <a:ea typeface="Calibri" pitchFamily="34" charset="-122"/>
                <a:cs typeface="Calibri" pitchFamily="34" charset="-120"/>
              </a:rPr>
              <a:t>DATA</a:t>
            </a:r>
            <a:endParaRPr lang="en-US" sz="1100" dirty="0"/>
          </a:p>
        </p:txBody>
      </p:sp>
      <p:sp>
        <p:nvSpPr>
          <p:cNvPr id="9" name="Text 6"/>
          <p:cNvSpPr/>
          <p:nvPr/>
        </p:nvSpPr>
        <p:spPr>
          <a:xfrm>
            <a:off x="548640" y="2011680"/>
            <a:ext cx="10972800" cy="1005840"/>
          </a:xfrm>
          <a:prstGeom prst="rect">
            <a:avLst/>
          </a:prstGeom>
          <a:noFill/>
          <a:ln/>
        </p:spPr>
        <p:txBody>
          <a:bodyPr wrap="square" lIns="0" tIns="0" rIns="0" bIns="0" rtlCol="0" anchor="ctr"/>
          <a:lstStyle/>
          <a:p>
            <a:pPr marL="0" indent="0">
              <a:buNone/>
            </a:pPr>
            <a:r>
              <a:rPr lang="en-US" sz="5600" b="1" dirty="0">
                <a:solidFill>
                  <a:srgbClr val="FFFFFF"/>
                </a:solidFill>
                <a:latin typeface="Calibri" pitchFamily="34" charset="0"/>
                <a:ea typeface="Calibri" pitchFamily="34" charset="-122"/>
                <a:cs typeface="Calibri" pitchFamily="34" charset="-120"/>
              </a:rPr>
              <a:t>Lo que ya sabemos</a:t>
            </a:r>
            <a:endParaRPr lang="en-US" sz="5600" dirty="0"/>
          </a:p>
        </p:txBody>
      </p:sp>
      <p:sp>
        <p:nvSpPr>
          <p:cNvPr id="10" name="Text 7"/>
          <p:cNvSpPr/>
          <p:nvPr/>
        </p:nvSpPr>
        <p:spPr>
          <a:xfrm>
            <a:off x="548640" y="3017520"/>
            <a:ext cx="10972800" cy="365760"/>
          </a:xfrm>
          <a:prstGeom prst="rect">
            <a:avLst/>
          </a:prstGeom>
          <a:noFill/>
          <a:ln/>
        </p:spPr>
        <p:txBody>
          <a:bodyPr wrap="square" lIns="0" tIns="0" rIns="0" bIns="0" rtlCol="0" anchor="ctr"/>
          <a:lstStyle/>
          <a:p>
            <a:pPr marL="0" indent="0">
              <a:buNone/>
            </a:pPr>
            <a:r>
              <a:rPr lang="en-US" sz="1500" i="1" dirty="0">
                <a:solidFill>
                  <a:srgbClr val="EC008C"/>
                </a:solidFill>
                <a:latin typeface="Calibri" pitchFamily="34" charset="0"/>
                <a:ea typeface="Calibri" pitchFamily="34" charset="-122"/>
                <a:cs typeface="Calibri" pitchFamily="34" charset="-120"/>
              </a:rPr>
              <a:t>Datos de Profeco, App Stores, redes sociales y portales de empleo</a:t>
            </a:r>
            <a:endParaRPr lang="en-US" sz="1500" dirty="0"/>
          </a:p>
        </p:txBody>
      </p:sp>
      <p:sp>
        <p:nvSpPr>
          <p:cNvPr id="11" name="Shape 8"/>
          <p:cNvSpPr/>
          <p:nvPr/>
        </p:nvSpPr>
        <p:spPr>
          <a:xfrm>
            <a:off x="548640" y="3474720"/>
            <a:ext cx="5486400" cy="0"/>
          </a:xfrm>
          <a:prstGeom prst="line">
            <a:avLst/>
          </a:prstGeom>
          <a:noFill/>
          <a:ln w="12700">
            <a:solidFill>
              <a:srgbClr val="EC008C"/>
            </a:solidFill>
            <a:prstDash val="solid"/>
          </a:ln>
        </p:spPr>
        <p:txBody>
          <a:bodyPr/>
          <a:lstStyle/>
          <a:p>
            <a:endParaRPr lang="es-MX"/>
          </a:p>
        </p:txBody>
      </p:sp>
      <p:sp>
        <p:nvSpPr>
          <p:cNvPr id="12" name="Text 9"/>
          <p:cNvSpPr/>
          <p:nvPr/>
        </p:nvSpPr>
        <p:spPr>
          <a:xfrm>
            <a:off x="548640" y="3840480"/>
            <a:ext cx="2560320" cy="1188720"/>
          </a:xfrm>
          <a:prstGeom prst="rect">
            <a:avLst/>
          </a:prstGeom>
          <a:noFill/>
          <a:ln/>
        </p:spPr>
        <p:txBody>
          <a:bodyPr wrap="square" lIns="0" tIns="0" rIns="0" bIns="0" rtlCol="0" anchor="ctr"/>
          <a:lstStyle/>
          <a:p>
            <a:pPr marL="0" indent="0" algn="l">
              <a:buNone/>
            </a:pPr>
            <a:r>
              <a:rPr lang="en-US" sz="7600" b="1" dirty="0">
                <a:solidFill>
                  <a:srgbClr val="FFFFFF"/>
                </a:solidFill>
                <a:latin typeface="Calibri" pitchFamily="34" charset="0"/>
                <a:ea typeface="Calibri" pitchFamily="34" charset="-122"/>
                <a:cs typeface="Calibri" pitchFamily="34" charset="-120"/>
              </a:rPr>
              <a:t>435</a:t>
            </a:r>
            <a:endParaRPr lang="en-US" sz="7600" dirty="0"/>
          </a:p>
        </p:txBody>
      </p:sp>
      <p:sp>
        <p:nvSpPr>
          <p:cNvPr id="13" name="Text 10"/>
          <p:cNvSpPr/>
          <p:nvPr/>
        </p:nvSpPr>
        <p:spPr>
          <a:xfrm>
            <a:off x="548640" y="5120640"/>
            <a:ext cx="2560320" cy="274320"/>
          </a:xfrm>
          <a:prstGeom prst="rect">
            <a:avLst/>
          </a:prstGeom>
          <a:noFill/>
          <a:ln/>
        </p:spPr>
        <p:txBody>
          <a:bodyPr wrap="square" lIns="0" tIns="0" rIns="0" bIns="0" rtlCol="0" anchor="ctr"/>
          <a:lstStyle/>
          <a:p>
            <a:pPr marL="0" indent="0">
              <a:buNone/>
            </a:pPr>
            <a:r>
              <a:rPr lang="en-US" sz="1100" b="1" kern="0" spc="300" dirty="0">
                <a:solidFill>
                  <a:srgbClr val="EC008C"/>
                </a:solidFill>
                <a:latin typeface="Calibri" pitchFamily="34" charset="0"/>
                <a:ea typeface="Calibri" pitchFamily="34" charset="-122"/>
                <a:cs typeface="Calibri" pitchFamily="34" charset="-120"/>
              </a:rPr>
              <a:t>QUEJAS PROFECO</a:t>
            </a:r>
            <a:endParaRPr lang="en-US" sz="1100" dirty="0"/>
          </a:p>
        </p:txBody>
      </p:sp>
      <p:sp>
        <p:nvSpPr>
          <p:cNvPr id="14" name="Text 11"/>
          <p:cNvSpPr/>
          <p:nvPr/>
        </p:nvSpPr>
        <p:spPr>
          <a:xfrm>
            <a:off x="548640" y="5440680"/>
            <a:ext cx="2560320" cy="274320"/>
          </a:xfrm>
          <a:prstGeom prst="rect">
            <a:avLst/>
          </a:prstGeom>
          <a:noFill/>
          <a:ln/>
        </p:spPr>
        <p:txBody>
          <a:bodyPr wrap="square" lIns="0" tIns="0" rIns="0" bIns="0" rtlCol="0" anchor="ctr"/>
          <a:lstStyle/>
          <a:p>
            <a:pPr marL="0" indent="0">
              <a:buNone/>
            </a:pPr>
            <a:r>
              <a:rPr lang="en-US" sz="1100" dirty="0">
                <a:solidFill>
                  <a:srgbClr val="B8B8C5"/>
                </a:solidFill>
                <a:latin typeface="Calibri" pitchFamily="34" charset="0"/>
                <a:ea typeface="Calibri" pitchFamily="34" charset="-122"/>
                <a:cs typeface="Calibri" pitchFamily="34" charset="-120"/>
              </a:rPr>
              <a:t>3er lugar fitness México</a:t>
            </a:r>
            <a:endParaRPr lang="en-US" sz="1100" dirty="0"/>
          </a:p>
        </p:txBody>
      </p:sp>
      <p:sp>
        <p:nvSpPr>
          <p:cNvPr id="15" name="Text 12"/>
          <p:cNvSpPr/>
          <p:nvPr/>
        </p:nvSpPr>
        <p:spPr>
          <a:xfrm>
            <a:off x="3383280" y="3840480"/>
            <a:ext cx="2560320" cy="1188720"/>
          </a:xfrm>
          <a:prstGeom prst="rect">
            <a:avLst/>
          </a:prstGeom>
          <a:noFill/>
          <a:ln/>
        </p:spPr>
        <p:txBody>
          <a:bodyPr wrap="square" lIns="0" tIns="0" rIns="0" bIns="0" rtlCol="0" anchor="ctr"/>
          <a:lstStyle/>
          <a:p>
            <a:pPr marL="0" indent="0" algn="l">
              <a:buNone/>
            </a:pPr>
            <a:r>
              <a:rPr lang="en-US" sz="7600" b="1" dirty="0">
                <a:solidFill>
                  <a:srgbClr val="FFFFFF"/>
                </a:solidFill>
                <a:latin typeface="Calibri" pitchFamily="34" charset="0"/>
                <a:ea typeface="Calibri" pitchFamily="34" charset="-122"/>
                <a:cs typeface="Calibri" pitchFamily="34" charset="-120"/>
              </a:rPr>
              <a:t>72%</a:t>
            </a:r>
            <a:endParaRPr lang="en-US" sz="7600" dirty="0"/>
          </a:p>
        </p:txBody>
      </p:sp>
      <p:sp>
        <p:nvSpPr>
          <p:cNvPr id="16" name="Text 13"/>
          <p:cNvSpPr/>
          <p:nvPr/>
        </p:nvSpPr>
        <p:spPr>
          <a:xfrm>
            <a:off x="3383280" y="5120640"/>
            <a:ext cx="2560320" cy="274320"/>
          </a:xfrm>
          <a:prstGeom prst="rect">
            <a:avLst/>
          </a:prstGeom>
          <a:noFill/>
          <a:ln/>
        </p:spPr>
        <p:txBody>
          <a:bodyPr wrap="square" lIns="0" tIns="0" rIns="0" bIns="0" rtlCol="0" anchor="ctr"/>
          <a:lstStyle/>
          <a:p>
            <a:pPr marL="0" indent="0">
              <a:buNone/>
            </a:pPr>
            <a:r>
              <a:rPr lang="en-US" sz="1100" b="1" kern="0" spc="300" dirty="0">
                <a:solidFill>
                  <a:srgbClr val="EC008C"/>
                </a:solidFill>
                <a:latin typeface="Calibri" pitchFamily="34" charset="0"/>
                <a:ea typeface="Calibri" pitchFamily="34" charset="-122"/>
                <a:cs typeface="Calibri" pitchFamily="34" charset="-120"/>
              </a:rPr>
              <a:t>CONCILIACIÓN</a:t>
            </a:r>
            <a:endParaRPr lang="en-US" sz="1100" dirty="0"/>
          </a:p>
        </p:txBody>
      </p:sp>
      <p:sp>
        <p:nvSpPr>
          <p:cNvPr id="17" name="Text 14"/>
          <p:cNvSpPr/>
          <p:nvPr/>
        </p:nvSpPr>
        <p:spPr>
          <a:xfrm>
            <a:off x="3383280" y="5440680"/>
            <a:ext cx="2560320" cy="274320"/>
          </a:xfrm>
          <a:prstGeom prst="rect">
            <a:avLst/>
          </a:prstGeom>
          <a:noFill/>
          <a:ln/>
        </p:spPr>
        <p:txBody>
          <a:bodyPr wrap="square" lIns="0" tIns="0" rIns="0" bIns="0" rtlCol="0" anchor="ctr"/>
          <a:lstStyle/>
          <a:p>
            <a:pPr marL="0" indent="0">
              <a:buNone/>
            </a:pPr>
            <a:r>
              <a:rPr lang="en-US" sz="1100" dirty="0">
                <a:solidFill>
                  <a:srgbClr val="B8B8C5"/>
                </a:solidFill>
                <a:latin typeface="Calibri" pitchFamily="34" charset="0"/>
                <a:ea typeface="Calibri" pitchFamily="34" charset="-122"/>
                <a:cs typeface="Calibri" pitchFamily="34" charset="-120"/>
              </a:rPr>
              <a:t>vs 99% de competencia</a:t>
            </a:r>
            <a:endParaRPr lang="en-US" sz="1100" dirty="0"/>
          </a:p>
        </p:txBody>
      </p:sp>
      <p:sp>
        <p:nvSpPr>
          <p:cNvPr id="18" name="Text 15"/>
          <p:cNvSpPr/>
          <p:nvPr/>
        </p:nvSpPr>
        <p:spPr>
          <a:xfrm>
            <a:off x="6217920" y="3840480"/>
            <a:ext cx="2560320" cy="1188720"/>
          </a:xfrm>
          <a:prstGeom prst="rect">
            <a:avLst/>
          </a:prstGeom>
          <a:noFill/>
          <a:ln/>
        </p:spPr>
        <p:txBody>
          <a:bodyPr wrap="square" lIns="0" tIns="0" rIns="0" bIns="0" rtlCol="0" anchor="ctr"/>
          <a:lstStyle/>
          <a:p>
            <a:pPr marL="0" indent="0" algn="l">
              <a:buNone/>
            </a:pPr>
            <a:r>
              <a:rPr lang="en-US" sz="7600" b="1" dirty="0">
                <a:solidFill>
                  <a:srgbClr val="FFFFFF"/>
                </a:solidFill>
                <a:latin typeface="Calibri" pitchFamily="34" charset="0"/>
                <a:ea typeface="Calibri" pitchFamily="34" charset="-122"/>
                <a:cs typeface="Calibri" pitchFamily="34" charset="-120"/>
              </a:rPr>
              <a:t>3.8</a:t>
            </a:r>
            <a:endParaRPr lang="en-US" sz="7600" dirty="0"/>
          </a:p>
        </p:txBody>
      </p:sp>
      <p:sp>
        <p:nvSpPr>
          <p:cNvPr id="19" name="Text 16"/>
          <p:cNvSpPr/>
          <p:nvPr/>
        </p:nvSpPr>
        <p:spPr>
          <a:xfrm>
            <a:off x="6217920" y="5120640"/>
            <a:ext cx="2560320" cy="274320"/>
          </a:xfrm>
          <a:prstGeom prst="rect">
            <a:avLst/>
          </a:prstGeom>
          <a:noFill/>
          <a:ln/>
        </p:spPr>
        <p:txBody>
          <a:bodyPr wrap="square" lIns="0" tIns="0" rIns="0" bIns="0" rtlCol="0" anchor="ctr"/>
          <a:lstStyle/>
          <a:p>
            <a:pPr marL="0" indent="0">
              <a:buNone/>
            </a:pPr>
            <a:r>
              <a:rPr lang="en-US" sz="1100" b="1" kern="0" spc="300" dirty="0">
                <a:solidFill>
                  <a:srgbClr val="EC008C"/>
                </a:solidFill>
                <a:latin typeface="Calibri" pitchFamily="34" charset="0"/>
                <a:ea typeface="Calibri" pitchFamily="34" charset="-122"/>
                <a:cs typeface="Calibri" pitchFamily="34" charset="-120"/>
              </a:rPr>
              <a:t>RATING APP IOS</a:t>
            </a:r>
            <a:endParaRPr lang="en-US" sz="1100" dirty="0"/>
          </a:p>
        </p:txBody>
      </p:sp>
      <p:sp>
        <p:nvSpPr>
          <p:cNvPr id="20" name="Text 17"/>
          <p:cNvSpPr/>
          <p:nvPr/>
        </p:nvSpPr>
        <p:spPr>
          <a:xfrm>
            <a:off x="6217920" y="5440680"/>
            <a:ext cx="2560320" cy="274320"/>
          </a:xfrm>
          <a:prstGeom prst="rect">
            <a:avLst/>
          </a:prstGeom>
          <a:noFill/>
          <a:ln/>
        </p:spPr>
        <p:txBody>
          <a:bodyPr wrap="square" lIns="0" tIns="0" rIns="0" bIns="0" rtlCol="0" anchor="ctr"/>
          <a:lstStyle/>
          <a:p>
            <a:pPr marL="0" indent="0">
              <a:buNone/>
            </a:pPr>
            <a:r>
              <a:rPr lang="en-US" sz="1100" dirty="0">
                <a:solidFill>
                  <a:srgbClr val="B8B8C5"/>
                </a:solidFill>
                <a:latin typeface="Calibri" pitchFamily="34" charset="0"/>
                <a:ea typeface="Calibri" pitchFamily="34" charset="-122"/>
                <a:cs typeface="Calibri" pitchFamily="34" charset="-120"/>
              </a:rPr>
              <a:t>errores QR + estabilidad</a:t>
            </a:r>
            <a:endParaRPr lang="en-US" sz="1100" dirty="0"/>
          </a:p>
        </p:txBody>
      </p:sp>
      <p:sp>
        <p:nvSpPr>
          <p:cNvPr id="21" name="Text 18"/>
          <p:cNvSpPr/>
          <p:nvPr/>
        </p:nvSpPr>
        <p:spPr>
          <a:xfrm>
            <a:off x="9052560" y="3840480"/>
            <a:ext cx="2560320" cy="1188720"/>
          </a:xfrm>
          <a:prstGeom prst="rect">
            <a:avLst/>
          </a:prstGeom>
          <a:noFill/>
          <a:ln/>
        </p:spPr>
        <p:txBody>
          <a:bodyPr wrap="square" lIns="0" tIns="0" rIns="0" bIns="0" rtlCol="0" anchor="ctr"/>
          <a:lstStyle/>
          <a:p>
            <a:pPr marL="0" indent="0" algn="l">
              <a:buNone/>
            </a:pPr>
            <a:r>
              <a:rPr lang="en-US" sz="7600" b="1" dirty="0">
                <a:solidFill>
                  <a:srgbClr val="FFFFFF"/>
                </a:solidFill>
                <a:latin typeface="Calibri" pitchFamily="34" charset="0"/>
                <a:ea typeface="Calibri" pitchFamily="34" charset="-122"/>
                <a:cs typeface="Calibri" pitchFamily="34" charset="-120"/>
              </a:rPr>
              <a:t>35%</a:t>
            </a:r>
            <a:endParaRPr lang="en-US" sz="7600" dirty="0"/>
          </a:p>
        </p:txBody>
      </p:sp>
      <p:sp>
        <p:nvSpPr>
          <p:cNvPr id="22" name="Text 19"/>
          <p:cNvSpPr/>
          <p:nvPr/>
        </p:nvSpPr>
        <p:spPr>
          <a:xfrm>
            <a:off x="9052560" y="5120640"/>
            <a:ext cx="2560320" cy="274320"/>
          </a:xfrm>
          <a:prstGeom prst="rect">
            <a:avLst/>
          </a:prstGeom>
          <a:noFill/>
          <a:ln/>
        </p:spPr>
        <p:txBody>
          <a:bodyPr wrap="square" lIns="0" tIns="0" rIns="0" bIns="0" rtlCol="0" anchor="ctr"/>
          <a:lstStyle/>
          <a:p>
            <a:pPr marL="0" indent="0">
              <a:buNone/>
            </a:pPr>
            <a:r>
              <a:rPr lang="en-US" sz="1100" b="1" kern="0" spc="300" dirty="0">
                <a:solidFill>
                  <a:srgbClr val="EC008C"/>
                </a:solidFill>
                <a:latin typeface="Calibri" pitchFamily="34" charset="0"/>
                <a:ea typeface="Calibri" pitchFamily="34" charset="-122"/>
                <a:cs typeface="Calibri" pitchFamily="34" charset="-120"/>
              </a:rPr>
              <a:t>SENTIMIENTO NEGATIVO</a:t>
            </a:r>
            <a:endParaRPr lang="en-US" sz="1100" dirty="0"/>
          </a:p>
        </p:txBody>
      </p:sp>
      <p:sp>
        <p:nvSpPr>
          <p:cNvPr id="23" name="Text 20"/>
          <p:cNvSpPr/>
          <p:nvPr/>
        </p:nvSpPr>
        <p:spPr>
          <a:xfrm>
            <a:off x="9052560" y="5440680"/>
            <a:ext cx="2560320" cy="274320"/>
          </a:xfrm>
          <a:prstGeom prst="rect">
            <a:avLst/>
          </a:prstGeom>
          <a:noFill/>
          <a:ln/>
        </p:spPr>
        <p:txBody>
          <a:bodyPr wrap="square" lIns="0" tIns="0" rIns="0" bIns="0" rtlCol="0" anchor="ctr"/>
          <a:lstStyle/>
          <a:p>
            <a:pPr marL="0" indent="0">
              <a:buNone/>
            </a:pPr>
            <a:r>
              <a:rPr lang="en-US" sz="1100" dirty="0">
                <a:solidFill>
                  <a:srgbClr val="B8B8C5"/>
                </a:solidFill>
                <a:latin typeface="Calibri" pitchFamily="34" charset="0"/>
                <a:ea typeface="Calibri" pitchFamily="34" charset="-122"/>
                <a:cs typeface="Calibri" pitchFamily="34" charset="-120"/>
              </a:rPr>
              <a:t>vs 24% en 2024</a:t>
            </a:r>
            <a:endParaRPr lang="en-US" sz="1100" dirty="0"/>
          </a:p>
        </p:txBody>
      </p:sp>
      <p:sp>
        <p:nvSpPr>
          <p:cNvPr id="24" name="Text 21"/>
          <p:cNvSpPr/>
          <p:nvPr/>
        </p:nvSpPr>
        <p:spPr>
          <a:xfrm>
            <a:off x="548640" y="5806440"/>
            <a:ext cx="10972800" cy="365760"/>
          </a:xfrm>
          <a:prstGeom prst="rect">
            <a:avLst/>
          </a:prstGeom>
          <a:noFill/>
          <a:ln/>
        </p:spPr>
        <p:txBody>
          <a:bodyPr wrap="square" lIns="0" tIns="0" rIns="0" bIns="0" rtlCol="0" anchor="ctr"/>
          <a:lstStyle/>
          <a:p>
            <a:pPr marL="0" indent="0">
              <a:buNone/>
            </a:pPr>
            <a:r>
              <a:rPr lang="en-US" sz="1300" i="1" dirty="0">
                <a:solidFill>
                  <a:srgbClr val="FFFFFF"/>
                </a:solidFill>
                <a:latin typeface="Calibri" pitchFamily="34" charset="0"/>
                <a:ea typeface="Calibri" pitchFamily="34" charset="-122"/>
                <a:cs typeface="Calibri" pitchFamily="34" charset="-120"/>
              </a:rPr>
              <a:t>La reputación tiene retos operativos reales. Nuestro foco hoy NO es esos retos, sino cómo el asesor los maneja en la conversación de venta.</a:t>
            </a:r>
            <a:endParaRPr lang="en-US" sz="1300" dirty="0"/>
          </a:p>
        </p:txBody>
      </p:sp>
      <p:sp>
        <p:nvSpPr>
          <p:cNvPr id="25" name="Shape 22"/>
          <p:cNvSpPr/>
          <p:nvPr/>
        </p:nvSpPr>
        <p:spPr>
          <a:xfrm>
            <a:off x="548640" y="6400800"/>
            <a:ext cx="118872" cy="118872"/>
          </a:xfrm>
          <a:prstGeom prst="ellipse">
            <a:avLst/>
          </a:prstGeom>
          <a:solidFill>
            <a:srgbClr val="EC008C"/>
          </a:solidFill>
          <a:ln w="12700">
            <a:solidFill>
              <a:srgbClr val="EC008C"/>
            </a:solidFill>
            <a:prstDash val="solid"/>
          </a:ln>
        </p:spPr>
        <p:txBody>
          <a:bodyPr/>
          <a:lstStyle/>
          <a:p>
            <a:endParaRPr lang="es-MX"/>
          </a:p>
        </p:txBody>
      </p:sp>
      <p:sp>
        <p:nvSpPr>
          <p:cNvPr id="26" name="Text 23"/>
          <p:cNvSpPr/>
          <p:nvPr/>
        </p:nvSpPr>
        <p:spPr>
          <a:xfrm>
            <a:off x="777240" y="6355080"/>
            <a:ext cx="6400800" cy="228600"/>
          </a:xfrm>
          <a:prstGeom prst="rect">
            <a:avLst/>
          </a:prstGeom>
          <a:noFill/>
          <a:ln/>
        </p:spPr>
        <p:txBody>
          <a:bodyPr wrap="square" lIns="0" tIns="0" rIns="0" bIns="0" rtlCol="0" anchor="ctr"/>
          <a:lstStyle/>
          <a:p>
            <a:pPr marL="0" indent="0">
              <a:buNone/>
            </a:pPr>
            <a:r>
              <a:rPr lang="en-US" sz="900" b="1" kern="0" spc="400" dirty="0">
                <a:solidFill>
                  <a:srgbClr val="FFFFFF"/>
                </a:solidFill>
                <a:latin typeface="Calibri" pitchFamily="34" charset="0"/>
                <a:ea typeface="Calibri" pitchFamily="34" charset="-122"/>
                <a:cs typeface="Calibri" pitchFamily="34" charset="-120"/>
              </a:rPr>
              <a:t>FINAL UPGRADE AI  ·  WORKSHOP SPORTS WORLD</a:t>
            </a:r>
            <a:endParaRPr lang="en-US" sz="900" dirty="0"/>
          </a:p>
        </p:txBody>
      </p:sp>
      <p:sp>
        <p:nvSpPr>
          <p:cNvPr id="27" name="Text 24"/>
          <p:cNvSpPr/>
          <p:nvPr/>
        </p:nvSpPr>
        <p:spPr>
          <a:xfrm>
            <a:off x="11002975" y="6355080"/>
            <a:ext cx="640080" cy="228600"/>
          </a:xfrm>
          <a:prstGeom prst="rect">
            <a:avLst/>
          </a:prstGeom>
          <a:noFill/>
          <a:ln/>
        </p:spPr>
        <p:txBody>
          <a:bodyPr wrap="square" lIns="0" tIns="0" rIns="0" bIns="0" rtlCol="0" anchor="ctr"/>
          <a:lstStyle/>
          <a:p>
            <a:pPr marL="0" indent="0" algn="r">
              <a:buNone/>
            </a:pPr>
            <a:r>
              <a:rPr lang="en-US" sz="900" b="1" dirty="0">
                <a:solidFill>
                  <a:srgbClr val="B8B8C5"/>
                </a:solidFill>
                <a:latin typeface="Calibri" pitchFamily="34" charset="0"/>
                <a:ea typeface="Calibri" pitchFamily="34" charset="-122"/>
                <a:cs typeface="Calibri" pitchFamily="34" charset="-120"/>
              </a:rPr>
              <a:t>06 / 18</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0F1B"/>
        </a:solidFill>
        <a:effectLst/>
      </p:bgPr>
    </p:bg>
    <p:spTree>
      <p:nvGrpSpPr>
        <p:cNvPr id="1" name=""/>
        <p:cNvGrpSpPr/>
        <p:nvPr/>
      </p:nvGrpSpPr>
      <p:grpSpPr>
        <a:xfrm>
          <a:off x="0" y="0"/>
          <a:ext cx="0" cy="0"/>
          <a:chOff x="0" y="0"/>
          <a:chExt cx="0" cy="0"/>
        </a:xfrm>
      </p:grpSpPr>
      <p:sp>
        <p:nvSpPr>
          <p:cNvPr id="2" name="Text 0"/>
          <p:cNvSpPr/>
          <p:nvPr/>
        </p:nvSpPr>
        <p:spPr>
          <a:xfrm>
            <a:off x="548640" y="411480"/>
            <a:ext cx="7315200" cy="274320"/>
          </a:xfrm>
          <a:prstGeom prst="rect">
            <a:avLst/>
          </a:prstGeom>
          <a:noFill/>
          <a:ln/>
        </p:spPr>
        <p:txBody>
          <a:bodyPr wrap="square" lIns="0" tIns="0" rIns="0" bIns="0" rtlCol="0" anchor="ctr"/>
          <a:lstStyle/>
          <a:p>
            <a:pPr marL="0" indent="0">
              <a:buNone/>
            </a:pPr>
            <a:r>
              <a:rPr lang="en-US" sz="1100" b="1" kern="0" spc="600" dirty="0">
                <a:solidFill>
                  <a:srgbClr val="EC008C"/>
                </a:solidFill>
                <a:latin typeface="Calibri" pitchFamily="34" charset="0"/>
                <a:ea typeface="Calibri" pitchFamily="34" charset="-122"/>
                <a:cs typeface="Calibri" pitchFamily="34" charset="-120"/>
              </a:rPr>
              <a:t>LO QUE VAMOS A VALIDAR CON USTEDES</a:t>
            </a:r>
            <a:endParaRPr lang="en-US" sz="1100" dirty="0"/>
          </a:p>
        </p:txBody>
      </p:sp>
      <p:pic>
        <p:nvPicPr>
          <p:cNvPr id="3" name="Image 0" descr="/home/claude/sw_pres/sw_logo_transparent.png"/>
          <p:cNvPicPr>
            <a:picLocks noChangeAspect="1"/>
          </p:cNvPicPr>
          <p:nvPr/>
        </p:nvPicPr>
        <p:blipFill>
          <a:blip r:embed="rId3"/>
          <a:stretch>
            <a:fillRect/>
          </a:stretch>
        </p:blipFill>
        <p:spPr>
          <a:xfrm>
            <a:off x="11094415" y="228600"/>
            <a:ext cx="777240" cy="777240"/>
          </a:xfrm>
          <a:prstGeom prst="rect">
            <a:avLst/>
          </a:prstGeom>
        </p:spPr>
      </p:pic>
      <p:sp>
        <p:nvSpPr>
          <p:cNvPr id="4" name="Shape 1"/>
          <p:cNvSpPr/>
          <p:nvPr/>
        </p:nvSpPr>
        <p:spPr>
          <a:xfrm>
            <a:off x="548640" y="1005840"/>
            <a:ext cx="9997135" cy="0"/>
          </a:xfrm>
          <a:prstGeom prst="line">
            <a:avLst/>
          </a:prstGeom>
          <a:noFill/>
          <a:ln w="12700">
            <a:solidFill>
              <a:srgbClr val="EC008C"/>
            </a:solidFill>
            <a:prstDash val="solid"/>
          </a:ln>
        </p:spPr>
        <p:txBody>
          <a:bodyPr/>
          <a:lstStyle/>
          <a:p>
            <a:endParaRPr lang="es-MX"/>
          </a:p>
        </p:txBody>
      </p:sp>
      <p:sp>
        <p:nvSpPr>
          <p:cNvPr id="5" name="Shape 2"/>
          <p:cNvSpPr/>
          <p:nvPr/>
        </p:nvSpPr>
        <p:spPr>
          <a:xfrm>
            <a:off x="9905695" y="1417320"/>
            <a:ext cx="1554480" cy="365760"/>
          </a:xfrm>
          <a:prstGeom prst="roundRect">
            <a:avLst>
              <a:gd name="adj" fmla="val 12500"/>
            </a:avLst>
          </a:prstGeom>
          <a:solidFill>
            <a:srgbClr val="1A1A28"/>
          </a:solidFill>
          <a:ln w="12700">
            <a:solidFill>
              <a:srgbClr val="EC008C"/>
            </a:solidFill>
            <a:prstDash val="solid"/>
          </a:ln>
        </p:spPr>
        <p:txBody>
          <a:bodyPr/>
          <a:lstStyle/>
          <a:p>
            <a:endParaRPr lang="es-MX"/>
          </a:p>
        </p:txBody>
      </p:sp>
      <p:sp>
        <p:nvSpPr>
          <p:cNvPr id="6" name="Text 3"/>
          <p:cNvSpPr/>
          <p:nvPr/>
        </p:nvSpPr>
        <p:spPr>
          <a:xfrm>
            <a:off x="9905695" y="1417320"/>
            <a:ext cx="1554480" cy="365760"/>
          </a:xfrm>
          <a:prstGeom prst="rect">
            <a:avLst/>
          </a:prstGeom>
          <a:noFill/>
          <a:ln/>
        </p:spPr>
        <p:txBody>
          <a:bodyPr wrap="square" lIns="0" tIns="0" rIns="0" bIns="0" rtlCol="0" anchor="ctr"/>
          <a:lstStyle/>
          <a:p>
            <a:pPr marL="0" indent="0" algn="ctr">
              <a:buNone/>
            </a:pPr>
            <a:r>
              <a:rPr lang="en-US" sz="1100" b="1" kern="0" spc="200" dirty="0">
                <a:solidFill>
                  <a:srgbClr val="FFFFFF"/>
                </a:solidFill>
                <a:latin typeface="Calibri" pitchFamily="34" charset="0"/>
                <a:ea typeface="Calibri" pitchFamily="34" charset="-122"/>
                <a:cs typeface="Calibri" pitchFamily="34" charset="-120"/>
              </a:rPr>
              <a:t>MIN 15 — 18</a:t>
            </a:r>
            <a:endParaRPr lang="en-US" sz="1100" dirty="0"/>
          </a:p>
        </p:txBody>
      </p:sp>
      <p:sp>
        <p:nvSpPr>
          <p:cNvPr id="7" name="Shape 4"/>
          <p:cNvSpPr/>
          <p:nvPr/>
        </p:nvSpPr>
        <p:spPr>
          <a:xfrm>
            <a:off x="548640" y="1371600"/>
            <a:ext cx="1554480" cy="411480"/>
          </a:xfrm>
          <a:prstGeom prst="roundRect">
            <a:avLst>
              <a:gd name="adj" fmla="val 50000"/>
            </a:avLst>
          </a:prstGeom>
          <a:solidFill>
            <a:srgbClr val="EC008C"/>
          </a:solidFill>
          <a:ln w="12700">
            <a:solidFill>
              <a:srgbClr val="EC008C"/>
            </a:solidFill>
            <a:prstDash val="solid"/>
          </a:ln>
        </p:spPr>
        <p:txBody>
          <a:bodyPr/>
          <a:lstStyle/>
          <a:p>
            <a:endParaRPr lang="es-MX"/>
          </a:p>
        </p:txBody>
      </p:sp>
      <p:sp>
        <p:nvSpPr>
          <p:cNvPr id="8" name="Text 5"/>
          <p:cNvSpPr/>
          <p:nvPr/>
        </p:nvSpPr>
        <p:spPr>
          <a:xfrm>
            <a:off x="548640" y="1371600"/>
            <a:ext cx="1554480" cy="411480"/>
          </a:xfrm>
          <a:prstGeom prst="rect">
            <a:avLst/>
          </a:prstGeom>
          <a:noFill/>
          <a:ln/>
        </p:spPr>
        <p:txBody>
          <a:bodyPr wrap="square" lIns="0" tIns="0" rIns="0" bIns="0" rtlCol="0" anchor="ctr"/>
          <a:lstStyle/>
          <a:p>
            <a:pPr marL="0" indent="0" algn="ctr">
              <a:buNone/>
            </a:pPr>
            <a:r>
              <a:rPr lang="en-US" sz="1100" b="1" kern="0" spc="400" dirty="0">
                <a:solidFill>
                  <a:srgbClr val="FFFFFF"/>
                </a:solidFill>
                <a:latin typeface="Calibri" pitchFamily="34" charset="0"/>
                <a:ea typeface="Calibri" pitchFamily="34" charset="-122"/>
                <a:cs typeface="Calibri" pitchFamily="34" charset="-120"/>
              </a:rPr>
              <a:t>HIPÓTESIS</a:t>
            </a:r>
            <a:endParaRPr lang="en-US" sz="1100" dirty="0"/>
          </a:p>
        </p:txBody>
      </p:sp>
      <p:sp>
        <p:nvSpPr>
          <p:cNvPr id="9" name="Text 6"/>
          <p:cNvSpPr/>
          <p:nvPr/>
        </p:nvSpPr>
        <p:spPr>
          <a:xfrm>
            <a:off x="548640" y="2011680"/>
            <a:ext cx="10972800" cy="1005840"/>
          </a:xfrm>
          <a:prstGeom prst="rect">
            <a:avLst/>
          </a:prstGeom>
          <a:noFill/>
          <a:ln/>
        </p:spPr>
        <p:txBody>
          <a:bodyPr wrap="square" lIns="0" tIns="0" rIns="0" bIns="0" rtlCol="0" anchor="ctr"/>
          <a:lstStyle/>
          <a:p>
            <a:pPr marL="0" indent="0">
              <a:buNone/>
            </a:pPr>
            <a:r>
              <a:rPr lang="en-US" sz="5000" b="1" dirty="0">
                <a:solidFill>
                  <a:srgbClr val="FFFFFF"/>
                </a:solidFill>
                <a:latin typeface="Calibri" pitchFamily="34" charset="0"/>
                <a:ea typeface="Calibri" pitchFamily="34" charset="-122"/>
                <a:cs typeface="Calibri" pitchFamily="34" charset="-120"/>
              </a:rPr>
              <a:t>Las 6 hipótesis de capacitación</a:t>
            </a:r>
            <a:endParaRPr lang="en-US" sz="5000" dirty="0"/>
          </a:p>
        </p:txBody>
      </p:sp>
      <p:sp>
        <p:nvSpPr>
          <p:cNvPr id="10" name="Text 7"/>
          <p:cNvSpPr/>
          <p:nvPr/>
        </p:nvSpPr>
        <p:spPr>
          <a:xfrm>
            <a:off x="548640" y="3017520"/>
            <a:ext cx="10972800" cy="365760"/>
          </a:xfrm>
          <a:prstGeom prst="rect">
            <a:avLst/>
          </a:prstGeom>
          <a:noFill/>
          <a:ln/>
        </p:spPr>
        <p:txBody>
          <a:bodyPr wrap="square" lIns="0" tIns="0" rIns="0" bIns="0" rtlCol="0" anchor="ctr"/>
          <a:lstStyle/>
          <a:p>
            <a:pPr marL="0" indent="0">
              <a:buNone/>
            </a:pPr>
            <a:r>
              <a:rPr lang="en-US" sz="1500" i="1" dirty="0">
                <a:solidFill>
                  <a:srgbClr val="EC008C"/>
                </a:solidFill>
                <a:latin typeface="Calibri" pitchFamily="34" charset="0"/>
                <a:ea typeface="Calibri" pitchFamily="34" charset="-122"/>
                <a:cs typeface="Calibri" pitchFamily="34" charset="-120"/>
              </a:rPr>
              <a:t>Las 6 áreas donde creemos que el asesor necesita desarrollarse. Hoy validamos.</a:t>
            </a:r>
            <a:endParaRPr lang="en-US" sz="1500" dirty="0"/>
          </a:p>
        </p:txBody>
      </p:sp>
      <p:sp>
        <p:nvSpPr>
          <p:cNvPr id="11" name="Shape 8"/>
          <p:cNvSpPr/>
          <p:nvPr/>
        </p:nvSpPr>
        <p:spPr>
          <a:xfrm>
            <a:off x="548640" y="3474720"/>
            <a:ext cx="5486400" cy="0"/>
          </a:xfrm>
          <a:prstGeom prst="line">
            <a:avLst/>
          </a:prstGeom>
          <a:noFill/>
          <a:ln w="12700">
            <a:solidFill>
              <a:srgbClr val="EC008C"/>
            </a:solidFill>
            <a:prstDash val="solid"/>
          </a:ln>
        </p:spPr>
        <p:txBody>
          <a:bodyPr/>
          <a:lstStyle/>
          <a:p>
            <a:endParaRPr lang="es-MX"/>
          </a:p>
        </p:txBody>
      </p:sp>
      <p:sp>
        <p:nvSpPr>
          <p:cNvPr id="12" name="Shape 9"/>
          <p:cNvSpPr/>
          <p:nvPr/>
        </p:nvSpPr>
        <p:spPr>
          <a:xfrm>
            <a:off x="548640" y="3703320"/>
            <a:ext cx="5486400" cy="749808"/>
          </a:xfrm>
          <a:prstGeom prst="rect">
            <a:avLst/>
          </a:prstGeom>
          <a:solidFill>
            <a:srgbClr val="1A1A28"/>
          </a:solidFill>
          <a:ln w="6350">
            <a:solidFill>
              <a:srgbClr val="333344"/>
            </a:solidFill>
            <a:prstDash val="solid"/>
          </a:ln>
        </p:spPr>
        <p:txBody>
          <a:bodyPr/>
          <a:lstStyle/>
          <a:p>
            <a:endParaRPr lang="es-MX"/>
          </a:p>
        </p:txBody>
      </p:sp>
      <p:sp>
        <p:nvSpPr>
          <p:cNvPr id="13" name="Shape 10"/>
          <p:cNvSpPr/>
          <p:nvPr/>
        </p:nvSpPr>
        <p:spPr>
          <a:xfrm>
            <a:off x="548640" y="3703320"/>
            <a:ext cx="73152" cy="749808"/>
          </a:xfrm>
          <a:prstGeom prst="rect">
            <a:avLst/>
          </a:prstGeom>
          <a:solidFill>
            <a:srgbClr val="EC008C"/>
          </a:solidFill>
          <a:ln w="12700">
            <a:solidFill>
              <a:srgbClr val="EC008C"/>
            </a:solidFill>
            <a:prstDash val="solid"/>
          </a:ln>
        </p:spPr>
        <p:txBody>
          <a:bodyPr/>
          <a:lstStyle/>
          <a:p>
            <a:endParaRPr lang="es-MX"/>
          </a:p>
        </p:txBody>
      </p:sp>
      <p:sp>
        <p:nvSpPr>
          <p:cNvPr id="14" name="Text 11"/>
          <p:cNvSpPr/>
          <p:nvPr/>
        </p:nvSpPr>
        <p:spPr>
          <a:xfrm>
            <a:off x="777240" y="3822192"/>
            <a:ext cx="640080" cy="502920"/>
          </a:xfrm>
          <a:prstGeom prst="rect">
            <a:avLst/>
          </a:prstGeom>
          <a:noFill/>
          <a:ln/>
        </p:spPr>
        <p:txBody>
          <a:bodyPr wrap="square" lIns="0" tIns="0" rIns="0" bIns="0" rtlCol="0" anchor="ctr"/>
          <a:lstStyle/>
          <a:p>
            <a:pPr marL="0" indent="0">
              <a:buNone/>
            </a:pPr>
            <a:r>
              <a:rPr lang="en-US" sz="2200" b="1" dirty="0">
                <a:solidFill>
                  <a:srgbClr val="EC008C"/>
                </a:solidFill>
                <a:latin typeface="Calibri" pitchFamily="34" charset="0"/>
                <a:ea typeface="Calibri" pitchFamily="34" charset="-122"/>
                <a:cs typeface="Calibri" pitchFamily="34" charset="-120"/>
              </a:rPr>
              <a:t>01</a:t>
            </a:r>
            <a:endParaRPr lang="en-US" sz="2200" dirty="0"/>
          </a:p>
        </p:txBody>
      </p:sp>
      <p:sp>
        <p:nvSpPr>
          <p:cNvPr id="15" name="Text 12"/>
          <p:cNvSpPr/>
          <p:nvPr/>
        </p:nvSpPr>
        <p:spPr>
          <a:xfrm>
            <a:off x="1463040" y="3776472"/>
            <a:ext cx="4389120" cy="36576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Lenguaje de longevidad</a:t>
            </a:r>
            <a:endParaRPr lang="en-US" sz="1600" dirty="0"/>
          </a:p>
        </p:txBody>
      </p:sp>
      <p:sp>
        <p:nvSpPr>
          <p:cNvPr id="16" name="Text 13"/>
          <p:cNvSpPr/>
          <p:nvPr/>
        </p:nvSpPr>
        <p:spPr>
          <a:xfrm>
            <a:off x="1463040" y="4114800"/>
            <a:ext cx="4389120" cy="320040"/>
          </a:xfrm>
          <a:prstGeom prst="rect">
            <a:avLst/>
          </a:prstGeom>
          <a:noFill/>
          <a:ln/>
        </p:spPr>
        <p:txBody>
          <a:bodyPr wrap="square" lIns="0" tIns="0" rIns="0" bIns="0" rtlCol="0" anchor="ctr"/>
          <a:lstStyle/>
          <a:p>
            <a:pPr marL="0" indent="0">
              <a:buNone/>
            </a:pPr>
            <a:r>
              <a:rPr lang="en-US" sz="1100" dirty="0">
                <a:solidFill>
                  <a:srgbClr val="B8B8C5"/>
                </a:solidFill>
                <a:latin typeface="Calibri" pitchFamily="34" charset="0"/>
                <a:ea typeface="Calibri" pitchFamily="34" charset="-122"/>
                <a:cs typeface="Calibri" pitchFamily="34" charset="-120"/>
              </a:rPr>
              <a:t>Articular SW en términos de healthspan, no estética</a:t>
            </a:r>
            <a:endParaRPr lang="en-US" sz="1100" dirty="0"/>
          </a:p>
        </p:txBody>
      </p:sp>
      <p:sp>
        <p:nvSpPr>
          <p:cNvPr id="17" name="Shape 14"/>
          <p:cNvSpPr/>
          <p:nvPr/>
        </p:nvSpPr>
        <p:spPr>
          <a:xfrm>
            <a:off x="6126480" y="3703320"/>
            <a:ext cx="5486400" cy="749808"/>
          </a:xfrm>
          <a:prstGeom prst="rect">
            <a:avLst/>
          </a:prstGeom>
          <a:solidFill>
            <a:srgbClr val="1A1A28"/>
          </a:solidFill>
          <a:ln w="6350">
            <a:solidFill>
              <a:srgbClr val="333344"/>
            </a:solidFill>
            <a:prstDash val="solid"/>
          </a:ln>
        </p:spPr>
        <p:txBody>
          <a:bodyPr/>
          <a:lstStyle/>
          <a:p>
            <a:endParaRPr lang="es-MX"/>
          </a:p>
        </p:txBody>
      </p:sp>
      <p:sp>
        <p:nvSpPr>
          <p:cNvPr id="18" name="Shape 15"/>
          <p:cNvSpPr/>
          <p:nvPr/>
        </p:nvSpPr>
        <p:spPr>
          <a:xfrm>
            <a:off x="6126480" y="3703320"/>
            <a:ext cx="73152" cy="749808"/>
          </a:xfrm>
          <a:prstGeom prst="rect">
            <a:avLst/>
          </a:prstGeom>
          <a:solidFill>
            <a:srgbClr val="EC008C"/>
          </a:solidFill>
          <a:ln w="12700">
            <a:solidFill>
              <a:srgbClr val="EC008C"/>
            </a:solidFill>
            <a:prstDash val="solid"/>
          </a:ln>
        </p:spPr>
        <p:txBody>
          <a:bodyPr/>
          <a:lstStyle/>
          <a:p>
            <a:endParaRPr lang="es-MX"/>
          </a:p>
        </p:txBody>
      </p:sp>
      <p:sp>
        <p:nvSpPr>
          <p:cNvPr id="19" name="Text 16"/>
          <p:cNvSpPr/>
          <p:nvPr/>
        </p:nvSpPr>
        <p:spPr>
          <a:xfrm>
            <a:off x="6355080" y="3822192"/>
            <a:ext cx="640080" cy="502920"/>
          </a:xfrm>
          <a:prstGeom prst="rect">
            <a:avLst/>
          </a:prstGeom>
          <a:noFill/>
          <a:ln/>
        </p:spPr>
        <p:txBody>
          <a:bodyPr wrap="square" lIns="0" tIns="0" rIns="0" bIns="0" rtlCol="0" anchor="ctr"/>
          <a:lstStyle/>
          <a:p>
            <a:pPr marL="0" indent="0">
              <a:buNone/>
            </a:pPr>
            <a:r>
              <a:rPr lang="en-US" sz="2200" b="1" dirty="0">
                <a:solidFill>
                  <a:srgbClr val="EC008C"/>
                </a:solidFill>
                <a:latin typeface="Calibri" pitchFamily="34" charset="0"/>
                <a:ea typeface="Calibri" pitchFamily="34" charset="-122"/>
                <a:cs typeface="Calibri" pitchFamily="34" charset="-120"/>
              </a:rPr>
              <a:t>02</a:t>
            </a:r>
            <a:endParaRPr lang="en-US" sz="2200" dirty="0"/>
          </a:p>
        </p:txBody>
      </p:sp>
      <p:sp>
        <p:nvSpPr>
          <p:cNvPr id="20" name="Text 17"/>
          <p:cNvSpPr/>
          <p:nvPr/>
        </p:nvSpPr>
        <p:spPr>
          <a:xfrm>
            <a:off x="7040880" y="3776472"/>
            <a:ext cx="4389120" cy="36576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Objeciones reputacionales</a:t>
            </a:r>
            <a:endParaRPr lang="en-US" sz="1600" dirty="0"/>
          </a:p>
        </p:txBody>
      </p:sp>
      <p:sp>
        <p:nvSpPr>
          <p:cNvPr id="21" name="Text 18"/>
          <p:cNvSpPr/>
          <p:nvPr/>
        </p:nvSpPr>
        <p:spPr>
          <a:xfrm>
            <a:off x="7040880" y="4114800"/>
            <a:ext cx="4389120" cy="320040"/>
          </a:xfrm>
          <a:prstGeom prst="rect">
            <a:avLst/>
          </a:prstGeom>
          <a:noFill/>
          <a:ln/>
        </p:spPr>
        <p:txBody>
          <a:bodyPr wrap="square" lIns="0" tIns="0" rIns="0" bIns="0" rtlCol="0" anchor="ctr"/>
          <a:lstStyle/>
          <a:p>
            <a:pPr marL="0" indent="0">
              <a:buNone/>
            </a:pPr>
            <a:r>
              <a:rPr lang="en-US" sz="1100" dirty="0">
                <a:solidFill>
                  <a:srgbClr val="B8B8C5"/>
                </a:solidFill>
                <a:latin typeface="Calibri" pitchFamily="34" charset="0"/>
                <a:ea typeface="Calibri" pitchFamily="34" charset="-122"/>
                <a:cs typeface="Calibri" pitchFamily="34" charset="-120"/>
              </a:rPr>
              <a:t>Manejar reseñas y app sin defensa, validando</a:t>
            </a:r>
            <a:endParaRPr lang="en-US" sz="1100" dirty="0"/>
          </a:p>
        </p:txBody>
      </p:sp>
      <p:sp>
        <p:nvSpPr>
          <p:cNvPr id="22" name="Shape 19"/>
          <p:cNvSpPr/>
          <p:nvPr/>
        </p:nvSpPr>
        <p:spPr>
          <a:xfrm>
            <a:off x="548640" y="4544568"/>
            <a:ext cx="5486400" cy="749808"/>
          </a:xfrm>
          <a:prstGeom prst="rect">
            <a:avLst/>
          </a:prstGeom>
          <a:solidFill>
            <a:srgbClr val="1A1A28"/>
          </a:solidFill>
          <a:ln w="6350">
            <a:solidFill>
              <a:srgbClr val="333344"/>
            </a:solidFill>
            <a:prstDash val="solid"/>
          </a:ln>
        </p:spPr>
        <p:txBody>
          <a:bodyPr/>
          <a:lstStyle/>
          <a:p>
            <a:endParaRPr lang="es-MX"/>
          </a:p>
        </p:txBody>
      </p:sp>
      <p:sp>
        <p:nvSpPr>
          <p:cNvPr id="23" name="Shape 20"/>
          <p:cNvSpPr/>
          <p:nvPr/>
        </p:nvSpPr>
        <p:spPr>
          <a:xfrm>
            <a:off x="548640" y="4544568"/>
            <a:ext cx="73152" cy="749808"/>
          </a:xfrm>
          <a:prstGeom prst="rect">
            <a:avLst/>
          </a:prstGeom>
          <a:solidFill>
            <a:srgbClr val="EC008C"/>
          </a:solidFill>
          <a:ln w="12700">
            <a:solidFill>
              <a:srgbClr val="EC008C"/>
            </a:solidFill>
            <a:prstDash val="solid"/>
          </a:ln>
        </p:spPr>
        <p:txBody>
          <a:bodyPr/>
          <a:lstStyle/>
          <a:p>
            <a:endParaRPr lang="es-MX"/>
          </a:p>
        </p:txBody>
      </p:sp>
      <p:sp>
        <p:nvSpPr>
          <p:cNvPr id="24" name="Text 21"/>
          <p:cNvSpPr/>
          <p:nvPr/>
        </p:nvSpPr>
        <p:spPr>
          <a:xfrm>
            <a:off x="777240" y="4663440"/>
            <a:ext cx="640080" cy="502920"/>
          </a:xfrm>
          <a:prstGeom prst="rect">
            <a:avLst/>
          </a:prstGeom>
          <a:noFill/>
          <a:ln/>
        </p:spPr>
        <p:txBody>
          <a:bodyPr wrap="square" lIns="0" tIns="0" rIns="0" bIns="0" rtlCol="0" anchor="ctr"/>
          <a:lstStyle/>
          <a:p>
            <a:pPr marL="0" indent="0">
              <a:buNone/>
            </a:pPr>
            <a:r>
              <a:rPr lang="en-US" sz="2200" b="1" dirty="0">
                <a:solidFill>
                  <a:srgbClr val="EC008C"/>
                </a:solidFill>
                <a:latin typeface="Calibri" pitchFamily="34" charset="0"/>
                <a:ea typeface="Calibri" pitchFamily="34" charset="-122"/>
                <a:cs typeface="Calibri" pitchFamily="34" charset="-120"/>
              </a:rPr>
              <a:t>03</a:t>
            </a:r>
            <a:endParaRPr lang="en-US" sz="2200" dirty="0"/>
          </a:p>
        </p:txBody>
      </p:sp>
      <p:sp>
        <p:nvSpPr>
          <p:cNvPr id="25" name="Text 22"/>
          <p:cNvSpPr/>
          <p:nvPr/>
        </p:nvSpPr>
        <p:spPr>
          <a:xfrm>
            <a:off x="1463040" y="4617720"/>
            <a:ext cx="4389120" cy="36576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Hospitalidad consultiva</a:t>
            </a:r>
            <a:endParaRPr lang="en-US" sz="1600" dirty="0"/>
          </a:p>
        </p:txBody>
      </p:sp>
      <p:sp>
        <p:nvSpPr>
          <p:cNvPr id="26" name="Text 23"/>
          <p:cNvSpPr/>
          <p:nvPr/>
        </p:nvSpPr>
        <p:spPr>
          <a:xfrm>
            <a:off x="1463040" y="4956048"/>
            <a:ext cx="4389120" cy="320040"/>
          </a:xfrm>
          <a:prstGeom prst="rect">
            <a:avLst/>
          </a:prstGeom>
          <a:noFill/>
          <a:ln/>
        </p:spPr>
        <p:txBody>
          <a:bodyPr wrap="square" lIns="0" tIns="0" rIns="0" bIns="0" rtlCol="0" anchor="ctr"/>
          <a:lstStyle/>
          <a:p>
            <a:pPr marL="0" indent="0">
              <a:buNone/>
            </a:pPr>
            <a:r>
              <a:rPr lang="en-US" sz="1100" dirty="0">
                <a:solidFill>
                  <a:srgbClr val="B8B8C5"/>
                </a:solidFill>
                <a:latin typeface="Calibri" pitchFamily="34" charset="0"/>
                <a:ea typeface="Calibri" pitchFamily="34" charset="-122"/>
                <a:cs typeface="Calibri" pitchFamily="34" charset="-120"/>
              </a:rPr>
              <a:t>Operar como anfitrión, no como vendedor</a:t>
            </a:r>
            <a:endParaRPr lang="en-US" sz="1100" dirty="0"/>
          </a:p>
        </p:txBody>
      </p:sp>
      <p:sp>
        <p:nvSpPr>
          <p:cNvPr id="27" name="Shape 24"/>
          <p:cNvSpPr/>
          <p:nvPr/>
        </p:nvSpPr>
        <p:spPr>
          <a:xfrm>
            <a:off x="6126480" y="4544568"/>
            <a:ext cx="5486400" cy="749808"/>
          </a:xfrm>
          <a:prstGeom prst="rect">
            <a:avLst/>
          </a:prstGeom>
          <a:solidFill>
            <a:srgbClr val="1A1A28"/>
          </a:solidFill>
          <a:ln w="6350">
            <a:solidFill>
              <a:srgbClr val="333344"/>
            </a:solidFill>
            <a:prstDash val="solid"/>
          </a:ln>
        </p:spPr>
        <p:txBody>
          <a:bodyPr/>
          <a:lstStyle/>
          <a:p>
            <a:endParaRPr lang="es-MX"/>
          </a:p>
        </p:txBody>
      </p:sp>
      <p:sp>
        <p:nvSpPr>
          <p:cNvPr id="28" name="Shape 25"/>
          <p:cNvSpPr/>
          <p:nvPr/>
        </p:nvSpPr>
        <p:spPr>
          <a:xfrm>
            <a:off x="6126480" y="4544568"/>
            <a:ext cx="73152" cy="749808"/>
          </a:xfrm>
          <a:prstGeom prst="rect">
            <a:avLst/>
          </a:prstGeom>
          <a:solidFill>
            <a:srgbClr val="EC008C"/>
          </a:solidFill>
          <a:ln w="12700">
            <a:solidFill>
              <a:srgbClr val="EC008C"/>
            </a:solidFill>
            <a:prstDash val="solid"/>
          </a:ln>
        </p:spPr>
        <p:txBody>
          <a:bodyPr/>
          <a:lstStyle/>
          <a:p>
            <a:endParaRPr lang="es-MX"/>
          </a:p>
        </p:txBody>
      </p:sp>
      <p:sp>
        <p:nvSpPr>
          <p:cNvPr id="29" name="Text 26"/>
          <p:cNvSpPr/>
          <p:nvPr/>
        </p:nvSpPr>
        <p:spPr>
          <a:xfrm>
            <a:off x="6355080" y="4663440"/>
            <a:ext cx="640080" cy="502920"/>
          </a:xfrm>
          <a:prstGeom prst="rect">
            <a:avLst/>
          </a:prstGeom>
          <a:noFill/>
          <a:ln/>
        </p:spPr>
        <p:txBody>
          <a:bodyPr wrap="square" lIns="0" tIns="0" rIns="0" bIns="0" rtlCol="0" anchor="ctr"/>
          <a:lstStyle/>
          <a:p>
            <a:pPr marL="0" indent="0">
              <a:buNone/>
            </a:pPr>
            <a:r>
              <a:rPr lang="en-US" sz="2200" b="1" dirty="0">
                <a:solidFill>
                  <a:srgbClr val="EC008C"/>
                </a:solidFill>
                <a:latin typeface="Calibri" pitchFamily="34" charset="0"/>
                <a:ea typeface="Calibri" pitchFamily="34" charset="-122"/>
                <a:cs typeface="Calibri" pitchFamily="34" charset="-120"/>
              </a:rPr>
              <a:t>04</a:t>
            </a:r>
            <a:endParaRPr lang="en-US" sz="2200" dirty="0"/>
          </a:p>
        </p:txBody>
      </p:sp>
      <p:sp>
        <p:nvSpPr>
          <p:cNvPr id="30" name="Text 27"/>
          <p:cNvSpPr/>
          <p:nvPr/>
        </p:nvSpPr>
        <p:spPr>
          <a:xfrm>
            <a:off x="7040880" y="4617720"/>
            <a:ext cx="4389120" cy="36576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Demostración de la app</a:t>
            </a:r>
            <a:endParaRPr lang="en-US" sz="1600" dirty="0"/>
          </a:p>
        </p:txBody>
      </p:sp>
      <p:sp>
        <p:nvSpPr>
          <p:cNvPr id="31" name="Text 28"/>
          <p:cNvSpPr/>
          <p:nvPr/>
        </p:nvSpPr>
        <p:spPr>
          <a:xfrm>
            <a:off x="7040880" y="4956048"/>
            <a:ext cx="4389120" cy="320040"/>
          </a:xfrm>
          <a:prstGeom prst="rect">
            <a:avLst/>
          </a:prstGeom>
          <a:noFill/>
          <a:ln/>
        </p:spPr>
        <p:txBody>
          <a:bodyPr wrap="square" lIns="0" tIns="0" rIns="0" bIns="0" rtlCol="0" anchor="ctr"/>
          <a:lstStyle/>
          <a:p>
            <a:pPr marL="0" indent="0">
              <a:buNone/>
            </a:pPr>
            <a:r>
              <a:rPr lang="en-US" sz="1100" dirty="0">
                <a:solidFill>
                  <a:srgbClr val="B8B8C5"/>
                </a:solidFill>
                <a:latin typeface="Calibri" pitchFamily="34" charset="0"/>
                <a:ea typeface="Calibri" pitchFamily="34" charset="-122"/>
                <a:cs typeface="Calibri" pitchFamily="34" charset="-120"/>
              </a:rPr>
              <a:t>Cierre incluye demo en vivo y configuración</a:t>
            </a:r>
            <a:endParaRPr lang="en-US" sz="1100" dirty="0"/>
          </a:p>
        </p:txBody>
      </p:sp>
      <p:sp>
        <p:nvSpPr>
          <p:cNvPr id="32" name="Shape 29"/>
          <p:cNvSpPr/>
          <p:nvPr/>
        </p:nvSpPr>
        <p:spPr>
          <a:xfrm>
            <a:off x="548640" y="5385816"/>
            <a:ext cx="5486400" cy="749808"/>
          </a:xfrm>
          <a:prstGeom prst="rect">
            <a:avLst/>
          </a:prstGeom>
          <a:solidFill>
            <a:srgbClr val="1A1A28"/>
          </a:solidFill>
          <a:ln w="6350">
            <a:solidFill>
              <a:srgbClr val="333344"/>
            </a:solidFill>
            <a:prstDash val="solid"/>
          </a:ln>
        </p:spPr>
        <p:txBody>
          <a:bodyPr/>
          <a:lstStyle/>
          <a:p>
            <a:endParaRPr lang="es-MX"/>
          </a:p>
        </p:txBody>
      </p:sp>
      <p:sp>
        <p:nvSpPr>
          <p:cNvPr id="33" name="Shape 30"/>
          <p:cNvSpPr/>
          <p:nvPr/>
        </p:nvSpPr>
        <p:spPr>
          <a:xfrm>
            <a:off x="548640" y="5385816"/>
            <a:ext cx="73152" cy="749808"/>
          </a:xfrm>
          <a:prstGeom prst="rect">
            <a:avLst/>
          </a:prstGeom>
          <a:solidFill>
            <a:srgbClr val="EC008C"/>
          </a:solidFill>
          <a:ln w="12700">
            <a:solidFill>
              <a:srgbClr val="EC008C"/>
            </a:solidFill>
            <a:prstDash val="solid"/>
          </a:ln>
        </p:spPr>
        <p:txBody>
          <a:bodyPr/>
          <a:lstStyle/>
          <a:p>
            <a:endParaRPr lang="es-MX"/>
          </a:p>
        </p:txBody>
      </p:sp>
      <p:sp>
        <p:nvSpPr>
          <p:cNvPr id="34" name="Text 31"/>
          <p:cNvSpPr/>
          <p:nvPr/>
        </p:nvSpPr>
        <p:spPr>
          <a:xfrm>
            <a:off x="777240" y="5504688"/>
            <a:ext cx="640080" cy="502920"/>
          </a:xfrm>
          <a:prstGeom prst="rect">
            <a:avLst/>
          </a:prstGeom>
          <a:noFill/>
          <a:ln/>
        </p:spPr>
        <p:txBody>
          <a:bodyPr wrap="square" lIns="0" tIns="0" rIns="0" bIns="0" rtlCol="0" anchor="ctr"/>
          <a:lstStyle/>
          <a:p>
            <a:pPr marL="0" indent="0">
              <a:buNone/>
            </a:pPr>
            <a:r>
              <a:rPr lang="en-US" sz="2200" b="1" dirty="0">
                <a:solidFill>
                  <a:srgbClr val="EC008C"/>
                </a:solidFill>
                <a:latin typeface="Calibri" pitchFamily="34" charset="0"/>
                <a:ea typeface="Calibri" pitchFamily="34" charset="-122"/>
                <a:cs typeface="Calibri" pitchFamily="34" charset="-120"/>
              </a:rPr>
              <a:t>05</a:t>
            </a:r>
            <a:endParaRPr lang="en-US" sz="2200" dirty="0"/>
          </a:p>
        </p:txBody>
      </p:sp>
      <p:sp>
        <p:nvSpPr>
          <p:cNvPr id="35" name="Text 32"/>
          <p:cNvSpPr/>
          <p:nvPr/>
        </p:nvSpPr>
        <p:spPr>
          <a:xfrm>
            <a:off x="1463040" y="5458968"/>
            <a:ext cx="4389120" cy="36576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Seguimiento de hito</a:t>
            </a:r>
            <a:endParaRPr lang="en-US" sz="1600" dirty="0"/>
          </a:p>
        </p:txBody>
      </p:sp>
      <p:sp>
        <p:nvSpPr>
          <p:cNvPr id="36" name="Text 33"/>
          <p:cNvSpPr/>
          <p:nvPr/>
        </p:nvSpPr>
        <p:spPr>
          <a:xfrm>
            <a:off x="1463040" y="5797296"/>
            <a:ext cx="4389120" cy="320040"/>
          </a:xfrm>
          <a:prstGeom prst="rect">
            <a:avLst/>
          </a:prstGeom>
          <a:noFill/>
          <a:ln/>
        </p:spPr>
        <p:txBody>
          <a:bodyPr wrap="square" lIns="0" tIns="0" rIns="0" bIns="0" rtlCol="0" anchor="ctr"/>
          <a:lstStyle/>
          <a:p>
            <a:pPr marL="0" indent="0">
              <a:buNone/>
            </a:pPr>
            <a:r>
              <a:rPr lang="en-US" sz="1100" dirty="0">
                <a:solidFill>
                  <a:srgbClr val="B8B8C5"/>
                </a:solidFill>
                <a:latin typeface="Calibri" pitchFamily="34" charset="0"/>
                <a:ea typeface="Calibri" pitchFamily="34" charset="-122"/>
                <a:cs typeface="Calibri" pitchFamily="34" charset="-120"/>
              </a:rPr>
              <a:t>Llamadas estructuradas en los primeros 90 días</a:t>
            </a:r>
            <a:endParaRPr lang="en-US" sz="1100" dirty="0"/>
          </a:p>
        </p:txBody>
      </p:sp>
      <p:sp>
        <p:nvSpPr>
          <p:cNvPr id="37" name="Shape 34"/>
          <p:cNvSpPr/>
          <p:nvPr/>
        </p:nvSpPr>
        <p:spPr>
          <a:xfrm>
            <a:off x="6126480" y="5385816"/>
            <a:ext cx="5486400" cy="749808"/>
          </a:xfrm>
          <a:prstGeom prst="rect">
            <a:avLst/>
          </a:prstGeom>
          <a:solidFill>
            <a:srgbClr val="1A1A28"/>
          </a:solidFill>
          <a:ln w="6350">
            <a:solidFill>
              <a:srgbClr val="333344"/>
            </a:solidFill>
            <a:prstDash val="solid"/>
          </a:ln>
        </p:spPr>
        <p:txBody>
          <a:bodyPr/>
          <a:lstStyle/>
          <a:p>
            <a:endParaRPr lang="es-MX"/>
          </a:p>
        </p:txBody>
      </p:sp>
      <p:sp>
        <p:nvSpPr>
          <p:cNvPr id="38" name="Shape 35"/>
          <p:cNvSpPr/>
          <p:nvPr/>
        </p:nvSpPr>
        <p:spPr>
          <a:xfrm>
            <a:off x="6126480" y="5385816"/>
            <a:ext cx="73152" cy="749808"/>
          </a:xfrm>
          <a:prstGeom prst="rect">
            <a:avLst/>
          </a:prstGeom>
          <a:solidFill>
            <a:srgbClr val="EC008C"/>
          </a:solidFill>
          <a:ln w="12700">
            <a:solidFill>
              <a:srgbClr val="EC008C"/>
            </a:solidFill>
            <a:prstDash val="solid"/>
          </a:ln>
        </p:spPr>
        <p:txBody>
          <a:bodyPr/>
          <a:lstStyle/>
          <a:p>
            <a:endParaRPr lang="es-MX"/>
          </a:p>
        </p:txBody>
      </p:sp>
      <p:sp>
        <p:nvSpPr>
          <p:cNvPr id="39" name="Text 36"/>
          <p:cNvSpPr/>
          <p:nvPr/>
        </p:nvSpPr>
        <p:spPr>
          <a:xfrm>
            <a:off x="6355080" y="5504688"/>
            <a:ext cx="640080" cy="502920"/>
          </a:xfrm>
          <a:prstGeom prst="rect">
            <a:avLst/>
          </a:prstGeom>
          <a:noFill/>
          <a:ln/>
        </p:spPr>
        <p:txBody>
          <a:bodyPr wrap="square" lIns="0" tIns="0" rIns="0" bIns="0" rtlCol="0" anchor="ctr"/>
          <a:lstStyle/>
          <a:p>
            <a:pPr marL="0" indent="0">
              <a:buNone/>
            </a:pPr>
            <a:r>
              <a:rPr lang="en-US" sz="2200" b="1" dirty="0">
                <a:solidFill>
                  <a:srgbClr val="EC008C"/>
                </a:solidFill>
                <a:latin typeface="Calibri" pitchFamily="34" charset="0"/>
                <a:ea typeface="Calibri" pitchFamily="34" charset="-122"/>
                <a:cs typeface="Calibri" pitchFamily="34" charset="-120"/>
              </a:rPr>
              <a:t>06</a:t>
            </a:r>
            <a:endParaRPr lang="en-US" sz="2200" dirty="0"/>
          </a:p>
        </p:txBody>
      </p:sp>
      <p:sp>
        <p:nvSpPr>
          <p:cNvPr id="40" name="Text 37"/>
          <p:cNvSpPr/>
          <p:nvPr/>
        </p:nvSpPr>
        <p:spPr>
          <a:xfrm>
            <a:off x="7040880" y="5458968"/>
            <a:ext cx="4389120" cy="36576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Justificación del valor</a:t>
            </a:r>
            <a:endParaRPr lang="en-US" sz="1600" dirty="0"/>
          </a:p>
        </p:txBody>
      </p:sp>
      <p:sp>
        <p:nvSpPr>
          <p:cNvPr id="41" name="Text 38"/>
          <p:cNvSpPr/>
          <p:nvPr/>
        </p:nvSpPr>
        <p:spPr>
          <a:xfrm>
            <a:off x="7040880" y="5797296"/>
            <a:ext cx="4389120" cy="320040"/>
          </a:xfrm>
          <a:prstGeom prst="rect">
            <a:avLst/>
          </a:prstGeom>
          <a:noFill/>
          <a:ln/>
        </p:spPr>
        <p:txBody>
          <a:bodyPr wrap="square" lIns="0" tIns="0" rIns="0" bIns="0" rtlCol="0" anchor="ctr"/>
          <a:lstStyle/>
          <a:p>
            <a:pPr marL="0" indent="0">
              <a:buNone/>
            </a:pPr>
            <a:r>
              <a:rPr lang="en-US" sz="1100" dirty="0">
                <a:solidFill>
                  <a:srgbClr val="B8B8C5"/>
                </a:solidFill>
                <a:latin typeface="Calibri" pitchFamily="34" charset="0"/>
                <a:ea typeface="Calibri" pitchFamily="34" charset="-122"/>
                <a:cs typeface="Calibri" pitchFamily="34" charset="-120"/>
              </a:rPr>
              <a:t>Comunicar uso por mes, no precio por mes</a:t>
            </a:r>
            <a:endParaRPr lang="en-US" sz="1100" dirty="0"/>
          </a:p>
        </p:txBody>
      </p:sp>
      <p:sp>
        <p:nvSpPr>
          <p:cNvPr id="42" name="Shape 39"/>
          <p:cNvSpPr/>
          <p:nvPr/>
        </p:nvSpPr>
        <p:spPr>
          <a:xfrm>
            <a:off x="548640" y="6400800"/>
            <a:ext cx="118872" cy="118872"/>
          </a:xfrm>
          <a:prstGeom prst="ellipse">
            <a:avLst/>
          </a:prstGeom>
          <a:solidFill>
            <a:srgbClr val="EC008C"/>
          </a:solidFill>
          <a:ln w="12700">
            <a:solidFill>
              <a:srgbClr val="EC008C"/>
            </a:solidFill>
            <a:prstDash val="solid"/>
          </a:ln>
        </p:spPr>
        <p:txBody>
          <a:bodyPr/>
          <a:lstStyle/>
          <a:p>
            <a:endParaRPr lang="es-MX"/>
          </a:p>
        </p:txBody>
      </p:sp>
      <p:sp>
        <p:nvSpPr>
          <p:cNvPr id="43" name="Text 40"/>
          <p:cNvSpPr/>
          <p:nvPr/>
        </p:nvSpPr>
        <p:spPr>
          <a:xfrm>
            <a:off x="777240" y="6355080"/>
            <a:ext cx="6400800" cy="228600"/>
          </a:xfrm>
          <a:prstGeom prst="rect">
            <a:avLst/>
          </a:prstGeom>
          <a:noFill/>
          <a:ln/>
        </p:spPr>
        <p:txBody>
          <a:bodyPr wrap="square" lIns="0" tIns="0" rIns="0" bIns="0" rtlCol="0" anchor="ctr"/>
          <a:lstStyle/>
          <a:p>
            <a:pPr marL="0" indent="0">
              <a:buNone/>
            </a:pPr>
            <a:r>
              <a:rPr lang="en-US" sz="900" b="1" kern="0" spc="400" dirty="0">
                <a:solidFill>
                  <a:srgbClr val="FFFFFF"/>
                </a:solidFill>
                <a:latin typeface="Calibri" pitchFamily="34" charset="0"/>
                <a:ea typeface="Calibri" pitchFamily="34" charset="-122"/>
                <a:cs typeface="Calibri" pitchFamily="34" charset="-120"/>
              </a:rPr>
              <a:t>FINAL UPGRADE AI  ·  WORKSHOP SPORTS WORLD</a:t>
            </a:r>
            <a:endParaRPr lang="en-US" sz="900" dirty="0"/>
          </a:p>
        </p:txBody>
      </p:sp>
      <p:sp>
        <p:nvSpPr>
          <p:cNvPr id="44" name="Text 41"/>
          <p:cNvSpPr/>
          <p:nvPr/>
        </p:nvSpPr>
        <p:spPr>
          <a:xfrm>
            <a:off x="11002975" y="6355080"/>
            <a:ext cx="640080" cy="228600"/>
          </a:xfrm>
          <a:prstGeom prst="rect">
            <a:avLst/>
          </a:prstGeom>
          <a:noFill/>
          <a:ln/>
        </p:spPr>
        <p:txBody>
          <a:bodyPr wrap="square" lIns="0" tIns="0" rIns="0" bIns="0" rtlCol="0" anchor="ctr"/>
          <a:lstStyle/>
          <a:p>
            <a:pPr marL="0" indent="0" algn="r">
              <a:buNone/>
            </a:pPr>
            <a:r>
              <a:rPr lang="en-US" sz="900" b="1" dirty="0">
                <a:solidFill>
                  <a:srgbClr val="B8B8C5"/>
                </a:solidFill>
                <a:latin typeface="Calibri" pitchFamily="34" charset="0"/>
                <a:ea typeface="Calibri" pitchFamily="34" charset="-122"/>
                <a:cs typeface="Calibri" pitchFamily="34" charset="-120"/>
              </a:rPr>
              <a:t>07 / 18</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F0F1B"/>
        </a:solidFill>
        <a:effectLst/>
      </p:bgPr>
    </p:bg>
    <p:spTree>
      <p:nvGrpSpPr>
        <p:cNvPr id="1" name=""/>
        <p:cNvGrpSpPr/>
        <p:nvPr/>
      </p:nvGrpSpPr>
      <p:grpSpPr>
        <a:xfrm>
          <a:off x="0" y="0"/>
          <a:ext cx="0" cy="0"/>
          <a:chOff x="0" y="0"/>
          <a:chExt cx="0" cy="0"/>
        </a:xfrm>
      </p:grpSpPr>
      <p:sp>
        <p:nvSpPr>
          <p:cNvPr id="2" name="Text 0"/>
          <p:cNvSpPr/>
          <p:nvPr/>
        </p:nvSpPr>
        <p:spPr>
          <a:xfrm>
            <a:off x="548640" y="411480"/>
            <a:ext cx="7315200" cy="274320"/>
          </a:xfrm>
          <a:prstGeom prst="rect">
            <a:avLst/>
          </a:prstGeom>
          <a:noFill/>
          <a:ln/>
        </p:spPr>
        <p:txBody>
          <a:bodyPr wrap="square" lIns="0" tIns="0" rIns="0" bIns="0" rtlCol="0" anchor="ctr"/>
          <a:lstStyle/>
          <a:p>
            <a:pPr marL="0" indent="0">
              <a:buNone/>
            </a:pPr>
            <a:r>
              <a:rPr lang="en-US" sz="1100" b="1" kern="0" spc="600" dirty="0">
                <a:solidFill>
                  <a:srgbClr val="EC008C"/>
                </a:solidFill>
                <a:latin typeface="Calibri" pitchFamily="34" charset="0"/>
                <a:ea typeface="Calibri" pitchFamily="34" charset="-122"/>
                <a:cs typeface="Calibri" pitchFamily="34" charset="-120"/>
              </a:rPr>
              <a:t>PARA QUE QUEDE ABSOLUTAMENTE CLARO</a:t>
            </a:r>
            <a:endParaRPr lang="en-US" sz="1100" dirty="0"/>
          </a:p>
        </p:txBody>
      </p:sp>
      <p:pic>
        <p:nvPicPr>
          <p:cNvPr id="3" name="Image 0" descr="/home/claude/sw_pres/sw_logo_transparent.png"/>
          <p:cNvPicPr>
            <a:picLocks noChangeAspect="1"/>
          </p:cNvPicPr>
          <p:nvPr/>
        </p:nvPicPr>
        <p:blipFill>
          <a:blip r:embed="rId3"/>
          <a:stretch>
            <a:fillRect/>
          </a:stretch>
        </p:blipFill>
        <p:spPr>
          <a:xfrm>
            <a:off x="11094415" y="228600"/>
            <a:ext cx="777240" cy="777240"/>
          </a:xfrm>
          <a:prstGeom prst="rect">
            <a:avLst/>
          </a:prstGeom>
        </p:spPr>
      </p:pic>
      <p:sp>
        <p:nvSpPr>
          <p:cNvPr id="4" name="Shape 1"/>
          <p:cNvSpPr/>
          <p:nvPr/>
        </p:nvSpPr>
        <p:spPr>
          <a:xfrm>
            <a:off x="548640" y="1005840"/>
            <a:ext cx="9997135" cy="0"/>
          </a:xfrm>
          <a:prstGeom prst="line">
            <a:avLst/>
          </a:prstGeom>
          <a:noFill/>
          <a:ln w="12700">
            <a:solidFill>
              <a:srgbClr val="EC008C"/>
            </a:solidFill>
            <a:prstDash val="solid"/>
          </a:ln>
        </p:spPr>
        <p:txBody>
          <a:bodyPr/>
          <a:lstStyle/>
          <a:p>
            <a:endParaRPr lang="es-MX"/>
          </a:p>
        </p:txBody>
      </p:sp>
      <p:sp>
        <p:nvSpPr>
          <p:cNvPr id="5" name="Shape 2"/>
          <p:cNvSpPr/>
          <p:nvPr/>
        </p:nvSpPr>
        <p:spPr>
          <a:xfrm>
            <a:off x="9905695" y="1417320"/>
            <a:ext cx="1554480" cy="365760"/>
          </a:xfrm>
          <a:prstGeom prst="roundRect">
            <a:avLst>
              <a:gd name="adj" fmla="val 12500"/>
            </a:avLst>
          </a:prstGeom>
          <a:solidFill>
            <a:srgbClr val="1A1A28"/>
          </a:solidFill>
          <a:ln w="12700">
            <a:solidFill>
              <a:srgbClr val="EC008C"/>
            </a:solidFill>
            <a:prstDash val="solid"/>
          </a:ln>
        </p:spPr>
        <p:txBody>
          <a:bodyPr/>
          <a:lstStyle/>
          <a:p>
            <a:endParaRPr lang="es-MX"/>
          </a:p>
        </p:txBody>
      </p:sp>
      <p:sp>
        <p:nvSpPr>
          <p:cNvPr id="6" name="Text 3"/>
          <p:cNvSpPr/>
          <p:nvPr/>
        </p:nvSpPr>
        <p:spPr>
          <a:xfrm>
            <a:off x="9905695" y="1417320"/>
            <a:ext cx="1554480" cy="365760"/>
          </a:xfrm>
          <a:prstGeom prst="rect">
            <a:avLst/>
          </a:prstGeom>
          <a:noFill/>
          <a:ln/>
        </p:spPr>
        <p:txBody>
          <a:bodyPr wrap="square" lIns="0" tIns="0" rIns="0" bIns="0" rtlCol="0" anchor="ctr"/>
          <a:lstStyle/>
          <a:p>
            <a:pPr marL="0" indent="0" algn="ctr">
              <a:buNone/>
            </a:pPr>
            <a:r>
              <a:rPr lang="en-US" sz="1100" b="1" kern="0" spc="200" dirty="0">
                <a:solidFill>
                  <a:srgbClr val="FFFFFF"/>
                </a:solidFill>
                <a:latin typeface="Calibri" pitchFamily="34" charset="0"/>
                <a:ea typeface="Calibri" pitchFamily="34" charset="-122"/>
                <a:cs typeface="Calibri" pitchFamily="34" charset="-120"/>
              </a:rPr>
              <a:t>MIN 18 — 20</a:t>
            </a:r>
            <a:endParaRPr lang="en-US" sz="1100" dirty="0"/>
          </a:p>
        </p:txBody>
      </p:sp>
      <p:sp>
        <p:nvSpPr>
          <p:cNvPr id="7" name="Shape 4"/>
          <p:cNvSpPr/>
          <p:nvPr/>
        </p:nvSpPr>
        <p:spPr>
          <a:xfrm>
            <a:off x="548640" y="1371600"/>
            <a:ext cx="1188720" cy="411480"/>
          </a:xfrm>
          <a:prstGeom prst="roundRect">
            <a:avLst>
              <a:gd name="adj" fmla="val 50000"/>
            </a:avLst>
          </a:prstGeom>
          <a:solidFill>
            <a:srgbClr val="EC008C"/>
          </a:solidFill>
          <a:ln w="12700">
            <a:solidFill>
              <a:srgbClr val="EC008C"/>
            </a:solidFill>
            <a:prstDash val="solid"/>
          </a:ln>
        </p:spPr>
        <p:txBody>
          <a:bodyPr/>
          <a:lstStyle/>
          <a:p>
            <a:endParaRPr lang="es-MX"/>
          </a:p>
        </p:txBody>
      </p:sp>
      <p:sp>
        <p:nvSpPr>
          <p:cNvPr id="8" name="Text 5"/>
          <p:cNvSpPr/>
          <p:nvPr/>
        </p:nvSpPr>
        <p:spPr>
          <a:xfrm>
            <a:off x="548640" y="1371600"/>
            <a:ext cx="1188720" cy="411480"/>
          </a:xfrm>
          <a:prstGeom prst="rect">
            <a:avLst/>
          </a:prstGeom>
          <a:noFill/>
          <a:ln/>
        </p:spPr>
        <p:txBody>
          <a:bodyPr wrap="square" lIns="0" tIns="0" rIns="0" bIns="0" rtlCol="0" anchor="ctr"/>
          <a:lstStyle/>
          <a:p>
            <a:pPr marL="0" indent="0" algn="ctr">
              <a:buNone/>
            </a:pPr>
            <a:r>
              <a:rPr lang="en-US" sz="1100" b="1" kern="0" spc="400" dirty="0">
                <a:solidFill>
                  <a:srgbClr val="FFFFFF"/>
                </a:solidFill>
                <a:latin typeface="Calibri" pitchFamily="34" charset="0"/>
                <a:ea typeface="Calibri" pitchFamily="34" charset="-122"/>
                <a:cs typeface="Calibri" pitchFamily="34" charset="-120"/>
              </a:rPr>
              <a:t>SCOPE</a:t>
            </a:r>
            <a:endParaRPr lang="en-US" sz="1100" dirty="0"/>
          </a:p>
        </p:txBody>
      </p:sp>
      <p:sp>
        <p:nvSpPr>
          <p:cNvPr id="9" name="Text 6"/>
          <p:cNvSpPr/>
          <p:nvPr/>
        </p:nvSpPr>
        <p:spPr>
          <a:xfrm>
            <a:off x="548640" y="2011680"/>
            <a:ext cx="10972800" cy="1005840"/>
          </a:xfrm>
          <a:prstGeom prst="rect">
            <a:avLst/>
          </a:prstGeom>
          <a:noFill/>
          <a:ln/>
        </p:spPr>
        <p:txBody>
          <a:bodyPr wrap="square" lIns="0" tIns="0" rIns="0" bIns="0" rtlCol="0" anchor="ctr"/>
          <a:lstStyle/>
          <a:p>
            <a:pPr marL="0" indent="0">
              <a:buNone/>
            </a:pPr>
            <a:r>
              <a:rPr lang="en-US" sz="5000" b="1" dirty="0">
                <a:solidFill>
                  <a:srgbClr val="FFFFFF"/>
                </a:solidFill>
                <a:latin typeface="Calibri" pitchFamily="34" charset="0"/>
                <a:ea typeface="Calibri" pitchFamily="34" charset="-122"/>
                <a:cs typeface="Calibri" pitchFamily="34" charset="-120"/>
              </a:rPr>
              <a:t>Scope del programa</a:t>
            </a:r>
            <a:endParaRPr lang="en-US" sz="5000" dirty="0"/>
          </a:p>
        </p:txBody>
      </p:sp>
      <p:sp>
        <p:nvSpPr>
          <p:cNvPr id="10" name="Shape 7"/>
          <p:cNvSpPr/>
          <p:nvPr/>
        </p:nvSpPr>
        <p:spPr>
          <a:xfrm>
            <a:off x="548640" y="3337560"/>
            <a:ext cx="5486400" cy="0"/>
          </a:xfrm>
          <a:prstGeom prst="line">
            <a:avLst/>
          </a:prstGeom>
          <a:noFill/>
          <a:ln w="12700">
            <a:solidFill>
              <a:srgbClr val="EC008C"/>
            </a:solidFill>
            <a:prstDash val="solid"/>
          </a:ln>
        </p:spPr>
        <p:txBody>
          <a:bodyPr/>
          <a:lstStyle/>
          <a:p>
            <a:endParaRPr lang="es-MX"/>
          </a:p>
        </p:txBody>
      </p:sp>
      <p:sp>
        <p:nvSpPr>
          <p:cNvPr id="11" name="Shape 8"/>
          <p:cNvSpPr/>
          <p:nvPr/>
        </p:nvSpPr>
        <p:spPr>
          <a:xfrm>
            <a:off x="548640" y="3566160"/>
            <a:ext cx="5486400" cy="2606040"/>
          </a:xfrm>
          <a:prstGeom prst="rect">
            <a:avLst/>
          </a:prstGeom>
          <a:solidFill>
            <a:srgbClr val="EC008C"/>
          </a:solidFill>
          <a:ln w="12700">
            <a:solidFill>
              <a:srgbClr val="EC008C"/>
            </a:solidFill>
            <a:prstDash val="solid"/>
          </a:ln>
        </p:spPr>
        <p:txBody>
          <a:bodyPr/>
          <a:lstStyle/>
          <a:p>
            <a:endParaRPr lang="es-MX"/>
          </a:p>
        </p:txBody>
      </p:sp>
      <p:sp>
        <p:nvSpPr>
          <p:cNvPr id="12" name="Text 9"/>
          <p:cNvSpPr/>
          <p:nvPr/>
        </p:nvSpPr>
        <p:spPr>
          <a:xfrm>
            <a:off x="822960" y="3703320"/>
            <a:ext cx="4937760" cy="274320"/>
          </a:xfrm>
          <a:prstGeom prst="rect">
            <a:avLst/>
          </a:prstGeom>
          <a:noFill/>
          <a:ln/>
        </p:spPr>
        <p:txBody>
          <a:bodyPr wrap="square" lIns="0" tIns="0" rIns="0" bIns="0" rtlCol="0" anchor="ctr"/>
          <a:lstStyle/>
          <a:p>
            <a:pPr marL="0" indent="0">
              <a:buNone/>
            </a:pPr>
            <a:r>
              <a:rPr lang="en-US" sz="1100" b="1" kern="0" spc="400" dirty="0">
                <a:solidFill>
                  <a:srgbClr val="FFFFFF"/>
                </a:solidFill>
                <a:latin typeface="Calibri" pitchFamily="34" charset="0"/>
                <a:ea typeface="Calibri" pitchFamily="34" charset="-122"/>
                <a:cs typeface="Calibri" pitchFamily="34" charset="-120"/>
              </a:rPr>
              <a:t>DENTRO DEL SCOPE</a:t>
            </a:r>
            <a:endParaRPr lang="en-US" sz="1100" dirty="0"/>
          </a:p>
        </p:txBody>
      </p:sp>
      <p:sp>
        <p:nvSpPr>
          <p:cNvPr id="13" name="Text 10"/>
          <p:cNvSpPr/>
          <p:nvPr/>
        </p:nvSpPr>
        <p:spPr>
          <a:xfrm>
            <a:off x="822960" y="4023360"/>
            <a:ext cx="4937760" cy="45720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Programa de capacitación</a:t>
            </a:r>
            <a:endParaRPr lang="en-US" sz="2200" dirty="0"/>
          </a:p>
        </p:txBody>
      </p:sp>
      <p:sp>
        <p:nvSpPr>
          <p:cNvPr id="14" name="Text 11"/>
          <p:cNvSpPr/>
          <p:nvPr/>
        </p:nvSpPr>
        <p:spPr>
          <a:xfrm>
            <a:off x="822960" y="4526280"/>
            <a:ext cx="4937760" cy="1554480"/>
          </a:xfrm>
          <a:prstGeom prst="rect">
            <a:avLst/>
          </a:prstGeom>
          <a:noFill/>
          <a:ln/>
        </p:spPr>
        <p:txBody>
          <a:bodyPr wrap="square" lIns="0" tIns="0" rIns="0" bIns="0" rtlCol="0" anchor="ctr"/>
          <a:lstStyle/>
          <a:p>
            <a:pPr marL="342900" indent="-342900">
              <a:buSzPct val="100000"/>
              <a:buChar char="•"/>
            </a:pPr>
            <a:r>
              <a:rPr lang="en-US" sz="1200" dirty="0">
                <a:solidFill>
                  <a:srgbClr val="FFFFFF"/>
                </a:solidFill>
                <a:latin typeface="Calibri" pitchFamily="34" charset="0"/>
                <a:ea typeface="Calibri" pitchFamily="34" charset="-122"/>
                <a:cs typeface="Calibri" pitchFamily="34" charset="-120"/>
              </a:rPr>
              <a:t>Conversación consultiva con prospecto</a:t>
            </a:r>
            <a:endParaRPr lang="en-US" sz="1200" dirty="0"/>
          </a:p>
          <a:p>
            <a:pPr marL="342900" indent="-342900">
              <a:buSzPct val="100000"/>
              <a:buChar char="•"/>
            </a:pPr>
            <a:r>
              <a:rPr lang="en-US" sz="1200" dirty="0">
                <a:solidFill>
                  <a:srgbClr val="FFFFFF"/>
                </a:solidFill>
                <a:latin typeface="Calibri" pitchFamily="34" charset="0"/>
                <a:ea typeface="Calibri" pitchFamily="34" charset="-122"/>
                <a:cs typeface="Calibri" pitchFamily="34" charset="-120"/>
              </a:rPr>
              <a:t>Manejo de objeciones reputacionales</a:t>
            </a:r>
            <a:endParaRPr lang="en-US" sz="1200" dirty="0"/>
          </a:p>
          <a:p>
            <a:pPr marL="342900" indent="-342900">
              <a:buSzPct val="100000"/>
              <a:buChar char="•"/>
            </a:pPr>
            <a:r>
              <a:rPr lang="en-US" sz="1200" dirty="0">
                <a:solidFill>
                  <a:srgbClr val="FFFFFF"/>
                </a:solidFill>
                <a:latin typeface="Calibri" pitchFamily="34" charset="0"/>
                <a:ea typeface="Calibri" pitchFamily="34" charset="-122"/>
                <a:cs typeface="Calibri" pitchFamily="34" charset="-120"/>
              </a:rPr>
              <a:t>Lenguaje de longevidad y bienestar</a:t>
            </a:r>
            <a:endParaRPr lang="en-US" sz="1200" dirty="0"/>
          </a:p>
          <a:p>
            <a:pPr marL="342900" indent="-342900">
              <a:buSzPct val="100000"/>
              <a:buChar char="•"/>
            </a:pPr>
            <a:r>
              <a:rPr lang="en-US" sz="1200" dirty="0">
                <a:solidFill>
                  <a:srgbClr val="FFFFFF"/>
                </a:solidFill>
                <a:latin typeface="Calibri" pitchFamily="34" charset="0"/>
                <a:ea typeface="Calibri" pitchFamily="34" charset="-122"/>
                <a:cs typeface="Calibri" pitchFamily="34" charset="-120"/>
              </a:rPr>
              <a:t>Demostración de la app durante el cierre</a:t>
            </a:r>
            <a:endParaRPr lang="en-US" sz="1200" dirty="0"/>
          </a:p>
          <a:p>
            <a:pPr marL="342900" indent="-342900">
              <a:buSzPct val="100000"/>
              <a:buChar char="•"/>
            </a:pPr>
            <a:r>
              <a:rPr lang="en-US" sz="1200" dirty="0">
                <a:solidFill>
                  <a:srgbClr val="FFFFFF"/>
                </a:solidFill>
                <a:latin typeface="Calibri" pitchFamily="34" charset="0"/>
                <a:ea typeface="Calibri" pitchFamily="34" charset="-122"/>
                <a:cs typeface="Calibri" pitchFamily="34" charset="-120"/>
              </a:rPr>
              <a:t>Llamadas de hito en primeros 90 días</a:t>
            </a:r>
            <a:endParaRPr lang="en-US" sz="1200" dirty="0"/>
          </a:p>
          <a:p>
            <a:pPr marL="342900" indent="-342900">
              <a:buSzPct val="100000"/>
              <a:buChar char="•"/>
            </a:pPr>
            <a:r>
              <a:rPr lang="en-US" sz="1200" dirty="0">
                <a:solidFill>
                  <a:srgbClr val="FFFFFF"/>
                </a:solidFill>
                <a:latin typeface="Calibri" pitchFamily="34" charset="0"/>
                <a:ea typeface="Calibri" pitchFamily="34" charset="-122"/>
                <a:cs typeface="Calibri" pitchFamily="34" charset="-120"/>
              </a:rPr>
              <a:t>Storytelling con casos de miembros</a:t>
            </a:r>
            <a:endParaRPr lang="en-US" sz="1200" dirty="0"/>
          </a:p>
        </p:txBody>
      </p:sp>
      <p:sp>
        <p:nvSpPr>
          <p:cNvPr id="19" name="Shape 16"/>
          <p:cNvSpPr/>
          <p:nvPr/>
        </p:nvSpPr>
        <p:spPr>
          <a:xfrm>
            <a:off x="548640" y="6400800"/>
            <a:ext cx="118872" cy="118872"/>
          </a:xfrm>
          <a:prstGeom prst="ellipse">
            <a:avLst/>
          </a:prstGeom>
          <a:solidFill>
            <a:srgbClr val="EC008C"/>
          </a:solidFill>
          <a:ln w="12700">
            <a:solidFill>
              <a:srgbClr val="EC008C"/>
            </a:solidFill>
            <a:prstDash val="solid"/>
          </a:ln>
        </p:spPr>
        <p:txBody>
          <a:bodyPr/>
          <a:lstStyle/>
          <a:p>
            <a:endParaRPr lang="es-MX"/>
          </a:p>
        </p:txBody>
      </p:sp>
      <p:sp>
        <p:nvSpPr>
          <p:cNvPr id="20" name="Text 17"/>
          <p:cNvSpPr/>
          <p:nvPr/>
        </p:nvSpPr>
        <p:spPr>
          <a:xfrm>
            <a:off x="777240" y="6355080"/>
            <a:ext cx="6400800" cy="228600"/>
          </a:xfrm>
          <a:prstGeom prst="rect">
            <a:avLst/>
          </a:prstGeom>
          <a:noFill/>
          <a:ln/>
        </p:spPr>
        <p:txBody>
          <a:bodyPr wrap="square" lIns="0" tIns="0" rIns="0" bIns="0" rtlCol="0" anchor="ctr"/>
          <a:lstStyle/>
          <a:p>
            <a:pPr marL="0" indent="0">
              <a:buNone/>
            </a:pPr>
            <a:r>
              <a:rPr lang="en-US" sz="900" b="1" kern="0" spc="400" dirty="0">
                <a:solidFill>
                  <a:srgbClr val="FFFFFF"/>
                </a:solidFill>
                <a:latin typeface="Calibri" pitchFamily="34" charset="0"/>
                <a:ea typeface="Calibri" pitchFamily="34" charset="-122"/>
                <a:cs typeface="Calibri" pitchFamily="34" charset="-120"/>
              </a:rPr>
              <a:t>FINAL UPGRADE AI  ·  WORKSHOP SPORTS WORLD</a:t>
            </a:r>
            <a:endParaRPr lang="en-US" sz="900" dirty="0"/>
          </a:p>
        </p:txBody>
      </p:sp>
      <p:sp>
        <p:nvSpPr>
          <p:cNvPr id="21" name="Text 18"/>
          <p:cNvSpPr/>
          <p:nvPr/>
        </p:nvSpPr>
        <p:spPr>
          <a:xfrm>
            <a:off x="11002975" y="6355080"/>
            <a:ext cx="640080" cy="228600"/>
          </a:xfrm>
          <a:prstGeom prst="rect">
            <a:avLst/>
          </a:prstGeom>
          <a:noFill/>
          <a:ln/>
        </p:spPr>
        <p:txBody>
          <a:bodyPr wrap="square" lIns="0" tIns="0" rIns="0" bIns="0" rtlCol="0" anchor="ctr"/>
          <a:lstStyle/>
          <a:p>
            <a:pPr marL="0" indent="0" algn="r">
              <a:buNone/>
            </a:pPr>
            <a:r>
              <a:rPr lang="en-US" sz="900" b="1" dirty="0">
                <a:solidFill>
                  <a:srgbClr val="B8B8C5"/>
                </a:solidFill>
                <a:latin typeface="Calibri" pitchFamily="34" charset="0"/>
                <a:ea typeface="Calibri" pitchFamily="34" charset="-122"/>
                <a:cs typeface="Calibri" pitchFamily="34" charset="-120"/>
              </a:rPr>
              <a:t>08 / 18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F0F1B"/>
        </a:solidFill>
        <a:effectLst/>
      </p:bgPr>
    </p:bg>
    <p:spTree>
      <p:nvGrpSpPr>
        <p:cNvPr id="1" name=""/>
        <p:cNvGrpSpPr/>
        <p:nvPr/>
      </p:nvGrpSpPr>
      <p:grpSpPr>
        <a:xfrm>
          <a:off x="0" y="0"/>
          <a:ext cx="0" cy="0"/>
          <a:chOff x="0" y="0"/>
          <a:chExt cx="0" cy="0"/>
        </a:xfrm>
      </p:grpSpPr>
      <p:sp>
        <p:nvSpPr>
          <p:cNvPr id="2" name="Text 0"/>
          <p:cNvSpPr/>
          <p:nvPr/>
        </p:nvSpPr>
        <p:spPr>
          <a:xfrm>
            <a:off x="548640" y="411480"/>
            <a:ext cx="54864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600" normalizeH="0" baseline="0" noProof="0" dirty="0">
                <a:ln>
                  <a:noFill/>
                </a:ln>
                <a:solidFill>
                  <a:srgbClr val="EC008C"/>
                </a:solidFill>
                <a:effectLst/>
                <a:uLnTx/>
                <a:uFillTx/>
                <a:latin typeface="Calibri" pitchFamily="34" charset="0"/>
                <a:ea typeface="Calibri" pitchFamily="34" charset="-122"/>
                <a:cs typeface="Calibri" pitchFamily="34" charset="-120"/>
              </a:rPr>
              <a:t>FINAL UPGRADE AI</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10362895" y="411480"/>
            <a:ext cx="1280160" cy="27432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400" normalizeH="0" baseline="0" noProof="0" dirty="0">
                <a:ln>
                  <a:noFill/>
                </a:ln>
                <a:solidFill>
                  <a:srgbClr val="B8B8C5"/>
                </a:solidFill>
                <a:effectLst/>
                <a:uLnTx/>
                <a:uFillTx/>
                <a:latin typeface="Calibri" pitchFamily="34" charset="0"/>
                <a:ea typeface="Calibri" pitchFamily="34" charset="-122"/>
                <a:cs typeface="Calibri" pitchFamily="34" charset="-120"/>
              </a:rPr>
              <a:t>MAYO 2026</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Shape 2"/>
          <p:cNvSpPr/>
          <p:nvPr/>
        </p:nvSpPr>
        <p:spPr>
          <a:xfrm>
            <a:off x="548640" y="914400"/>
            <a:ext cx="11094415" cy="0"/>
          </a:xfrm>
          <a:prstGeom prst="line">
            <a:avLst/>
          </a:prstGeom>
          <a:noFill/>
          <a:ln w="12700">
            <a:solidFill>
              <a:srgbClr val="EC008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Text 3"/>
          <p:cNvSpPr/>
          <p:nvPr/>
        </p:nvSpPr>
        <p:spPr>
          <a:xfrm>
            <a:off x="548640" y="1463040"/>
            <a:ext cx="10972800" cy="11887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RESULTADOS</a:t>
            </a:r>
            <a:endParaRPr kumimoji="0" lang="en-US" sz="10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 4"/>
          <p:cNvSpPr/>
          <p:nvPr/>
        </p:nvSpPr>
        <p:spPr>
          <a:xfrm>
            <a:off x="548640" y="2651760"/>
            <a:ext cx="10972800" cy="11887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CUESTIONARIO</a:t>
            </a:r>
            <a:endParaRPr kumimoji="0" lang="en-US" sz="10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7" name="Image 0" descr="/home/claude/sw_pres/sw_logo_transparent.png"/>
          <p:cNvPicPr>
            <a:picLocks noChangeAspect="1"/>
          </p:cNvPicPr>
          <p:nvPr/>
        </p:nvPicPr>
        <p:blipFill>
          <a:blip r:embed="rId3"/>
          <a:stretch>
            <a:fillRect/>
          </a:stretch>
        </p:blipFill>
        <p:spPr>
          <a:xfrm>
            <a:off x="8991295" y="4114800"/>
            <a:ext cx="2560320" cy="1828800"/>
          </a:xfrm>
          <a:prstGeom prst="rect">
            <a:avLst/>
          </a:prstGeom>
        </p:spPr>
      </p:pic>
      <p:sp>
        <p:nvSpPr>
          <p:cNvPr id="8" name="Text 5"/>
          <p:cNvSpPr/>
          <p:nvPr/>
        </p:nvSpPr>
        <p:spPr>
          <a:xfrm>
            <a:off x="548640" y="4572000"/>
            <a:ext cx="822960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0" cap="none" spc="500" normalizeH="0" baseline="0" noProof="0" dirty="0">
                <a:ln>
                  <a:noFill/>
                </a:ln>
                <a:solidFill>
                  <a:srgbClr val="EC008C"/>
                </a:solidFill>
                <a:effectLst/>
                <a:uLnTx/>
                <a:uFillTx/>
                <a:latin typeface="Calibri" pitchFamily="34" charset="0"/>
                <a:ea typeface="Calibri" pitchFamily="34" charset="-122"/>
                <a:cs typeface="Calibri" pitchFamily="34" charset="-120"/>
              </a:rPr>
              <a:t>PRE-WORKSHOP  ·  LÍDERES REGIONALES SPORTS WORLD</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 6"/>
          <p:cNvSpPr/>
          <p:nvPr/>
        </p:nvSpPr>
        <p:spPr>
          <a:xfrm>
            <a:off x="548640" y="5029200"/>
            <a:ext cx="8686800" cy="457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700" b="0" i="1"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Hallazgos consolidados de las respuestas recibidas en agregado.</a:t>
            </a:r>
            <a:endParaRPr kumimoji="0" lang="en-US" sz="17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Shape 7"/>
          <p:cNvSpPr/>
          <p:nvPr/>
        </p:nvSpPr>
        <p:spPr>
          <a:xfrm>
            <a:off x="548640" y="6400800"/>
            <a:ext cx="118872" cy="118872"/>
          </a:xfrm>
          <a:prstGeom prst="ellipse">
            <a:avLst/>
          </a:prstGeom>
          <a:solidFill>
            <a:srgbClr val="EC008C"/>
          </a:solidFill>
          <a:ln w="12700">
            <a:solidFill>
              <a:srgbClr val="EC008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Text 8"/>
          <p:cNvSpPr/>
          <p:nvPr/>
        </p:nvSpPr>
        <p:spPr>
          <a:xfrm>
            <a:off x="777240" y="6355080"/>
            <a:ext cx="6400800" cy="2286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0" cap="none" spc="400" normalizeH="0" baseline="0" noProof="0" dirty="0">
                <a:ln>
                  <a:noFill/>
                </a:ln>
                <a:solidFill>
                  <a:srgbClr val="FFFFFF"/>
                </a:solidFill>
                <a:effectLst/>
                <a:uLnTx/>
                <a:uFillTx/>
                <a:latin typeface="Calibri" pitchFamily="34" charset="0"/>
                <a:ea typeface="Calibri" pitchFamily="34" charset="-122"/>
                <a:cs typeface="Calibri" pitchFamily="34" charset="-120"/>
              </a:rPr>
              <a:t>FINAL UPGRADE AI  ·  RESULTADOS DEL CUESTIONARIO</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 9"/>
          <p:cNvSpPr/>
          <p:nvPr/>
        </p:nvSpPr>
        <p:spPr>
          <a:xfrm>
            <a:off x="11002975" y="6355080"/>
            <a:ext cx="640080" cy="22860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B8B8C5"/>
                </a:solidFill>
                <a:effectLst/>
                <a:uLnTx/>
                <a:uFillTx/>
                <a:latin typeface="Calibri" pitchFamily="34" charset="0"/>
                <a:ea typeface="Calibri" pitchFamily="34" charset="-122"/>
                <a:cs typeface="Calibri" pitchFamily="34" charset="-120"/>
              </a:rPr>
              <a:t>01 / 14</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F0F1B"/>
        </a:solidFill>
        <a:effectLst/>
      </p:bgPr>
    </p:bg>
    <p:spTree>
      <p:nvGrpSpPr>
        <p:cNvPr id="1" name=""/>
        <p:cNvGrpSpPr/>
        <p:nvPr/>
      </p:nvGrpSpPr>
      <p:grpSpPr>
        <a:xfrm>
          <a:off x="0" y="0"/>
          <a:ext cx="0" cy="0"/>
          <a:chOff x="0" y="0"/>
          <a:chExt cx="0" cy="0"/>
        </a:xfrm>
      </p:grpSpPr>
      <p:sp>
        <p:nvSpPr>
          <p:cNvPr id="2" name="Text 0"/>
          <p:cNvSpPr/>
          <p:nvPr/>
        </p:nvSpPr>
        <p:spPr>
          <a:xfrm>
            <a:off x="548640" y="411480"/>
            <a:ext cx="73152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600" normalizeH="0" baseline="0" noProof="0" dirty="0">
                <a:ln>
                  <a:noFill/>
                </a:ln>
                <a:solidFill>
                  <a:srgbClr val="EC008C"/>
                </a:solidFill>
                <a:effectLst/>
                <a:uLnTx/>
                <a:uFillTx/>
                <a:latin typeface="Calibri" pitchFamily="34" charset="0"/>
                <a:ea typeface="Calibri" pitchFamily="34" charset="-122"/>
                <a:cs typeface="Calibri" pitchFamily="34" charset="-120"/>
              </a:rPr>
              <a:t>TASA DE RESPUESTA Y COBERTURA DEL EQUIPO</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3" name="Image 0" descr="/home/claude/sw_pres/sw_logo_transparent.png"/>
          <p:cNvPicPr>
            <a:picLocks noChangeAspect="1"/>
          </p:cNvPicPr>
          <p:nvPr/>
        </p:nvPicPr>
        <p:blipFill>
          <a:blip r:embed="rId3"/>
          <a:stretch>
            <a:fillRect/>
          </a:stretch>
        </p:blipFill>
        <p:spPr>
          <a:xfrm>
            <a:off x="11094415" y="228600"/>
            <a:ext cx="777240" cy="777240"/>
          </a:xfrm>
          <a:prstGeom prst="rect">
            <a:avLst/>
          </a:prstGeom>
        </p:spPr>
      </p:pic>
      <p:sp>
        <p:nvSpPr>
          <p:cNvPr id="4" name="Shape 1"/>
          <p:cNvSpPr/>
          <p:nvPr/>
        </p:nvSpPr>
        <p:spPr>
          <a:xfrm>
            <a:off x="548640" y="1005840"/>
            <a:ext cx="9997135" cy="0"/>
          </a:xfrm>
          <a:prstGeom prst="line">
            <a:avLst/>
          </a:prstGeom>
          <a:noFill/>
          <a:ln w="12700">
            <a:solidFill>
              <a:srgbClr val="EC008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Shape 2"/>
          <p:cNvSpPr/>
          <p:nvPr/>
        </p:nvSpPr>
        <p:spPr>
          <a:xfrm>
            <a:off x="548640" y="1371600"/>
            <a:ext cx="1280160" cy="411480"/>
          </a:xfrm>
          <a:prstGeom prst="roundRect">
            <a:avLst>
              <a:gd name="adj" fmla="val 50000"/>
            </a:avLst>
          </a:prstGeom>
          <a:solidFill>
            <a:srgbClr val="EC008C"/>
          </a:solidFill>
          <a:ln w="12700">
            <a:solidFill>
              <a:srgbClr val="EC008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 3"/>
          <p:cNvSpPr/>
          <p:nvPr/>
        </p:nvSpPr>
        <p:spPr>
          <a:xfrm>
            <a:off x="548640" y="1371600"/>
            <a:ext cx="1280160" cy="41148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400" normalizeH="0" baseline="0" noProof="0" dirty="0">
                <a:ln>
                  <a:noFill/>
                </a:ln>
                <a:solidFill>
                  <a:srgbClr val="FFFFFF"/>
                </a:solidFill>
                <a:effectLst/>
                <a:uLnTx/>
                <a:uFillTx/>
                <a:latin typeface="Calibri" pitchFamily="34" charset="0"/>
                <a:ea typeface="Calibri" pitchFamily="34" charset="-122"/>
                <a:cs typeface="Calibri" pitchFamily="34" charset="-120"/>
              </a:rPr>
              <a:t>QUIÉNES</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4"/>
          <p:cNvSpPr/>
          <p:nvPr/>
        </p:nvSpPr>
        <p:spPr>
          <a:xfrm>
            <a:off x="548640" y="2011680"/>
            <a:ext cx="10972800" cy="9144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4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3 respuestas · 157 asesores cubiertos</a:t>
            </a:r>
            <a:endParaRPr kumimoji="0" lang="en-US" sz="4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5"/>
          <p:cNvSpPr/>
          <p:nvPr/>
        </p:nvSpPr>
        <p:spPr>
          <a:xfrm>
            <a:off x="548640" y="2971800"/>
            <a:ext cx="1097280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1" u="none" strike="noStrike" kern="1200" cap="none" spc="0" normalizeH="0" baseline="0" noProof="0" dirty="0">
                <a:ln>
                  <a:noFill/>
                </a:ln>
                <a:solidFill>
                  <a:srgbClr val="EC008C"/>
                </a:solidFill>
                <a:effectLst/>
                <a:uLnTx/>
                <a:uFillTx/>
                <a:latin typeface="Calibri" pitchFamily="34" charset="0"/>
                <a:ea typeface="Calibri" pitchFamily="34" charset="-122"/>
                <a:cs typeface="Calibri" pitchFamily="34" charset="-120"/>
              </a:rPr>
              <a:t>78.5% de los 200 asesores de la red representados en este agregado</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Shape 6"/>
          <p:cNvSpPr/>
          <p:nvPr/>
        </p:nvSpPr>
        <p:spPr>
          <a:xfrm>
            <a:off x="548640" y="3429000"/>
            <a:ext cx="5486400" cy="0"/>
          </a:xfrm>
          <a:prstGeom prst="line">
            <a:avLst/>
          </a:prstGeom>
          <a:noFill/>
          <a:ln w="12700">
            <a:solidFill>
              <a:srgbClr val="EC008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Shape 7"/>
          <p:cNvSpPr/>
          <p:nvPr/>
        </p:nvSpPr>
        <p:spPr>
          <a:xfrm>
            <a:off x="548640" y="3840480"/>
            <a:ext cx="11064240" cy="685800"/>
          </a:xfrm>
          <a:prstGeom prst="rect">
            <a:avLst/>
          </a:prstGeom>
          <a:solidFill>
            <a:srgbClr val="1A1A28"/>
          </a:solidFill>
          <a:ln w="6350">
            <a:solidFill>
              <a:srgbClr val="333344"/>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Shape 8"/>
          <p:cNvSpPr/>
          <p:nvPr/>
        </p:nvSpPr>
        <p:spPr>
          <a:xfrm>
            <a:off x="548640" y="3840480"/>
            <a:ext cx="73152" cy="685800"/>
          </a:xfrm>
          <a:prstGeom prst="rect">
            <a:avLst/>
          </a:prstGeom>
          <a:solidFill>
            <a:srgbClr val="EC008C"/>
          </a:solidFill>
          <a:ln w="12700">
            <a:solidFill>
              <a:srgbClr val="EC008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Text 9"/>
          <p:cNvSpPr/>
          <p:nvPr/>
        </p:nvSpPr>
        <p:spPr>
          <a:xfrm>
            <a:off x="822960" y="3931920"/>
            <a:ext cx="457200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7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Gerardo Soto Tommasi</a:t>
            </a:r>
            <a:endParaRPr kumimoji="0" lang="en-US" sz="17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Text 10"/>
          <p:cNvSpPr/>
          <p:nvPr/>
        </p:nvSpPr>
        <p:spPr>
          <a:xfrm>
            <a:off x="822960" y="4206240"/>
            <a:ext cx="73152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B8B8C5"/>
                </a:solidFill>
                <a:effectLst/>
                <a:uLnTx/>
                <a:uFillTx/>
                <a:latin typeface="Calibri" pitchFamily="34" charset="0"/>
                <a:ea typeface="Calibri" pitchFamily="34" charset="-122"/>
                <a:cs typeface="Calibri" pitchFamily="34" charset="-120"/>
              </a:rPr>
              <a:t>Region 2 — Sur CDMX, Culiacán, Hermosillo</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Text 11"/>
          <p:cNvSpPr/>
          <p:nvPr/>
        </p:nvSpPr>
        <p:spPr>
          <a:xfrm>
            <a:off x="8686800" y="3840480"/>
            <a:ext cx="2743200" cy="68580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EC008C"/>
                </a:solidFill>
                <a:effectLst/>
                <a:uLnTx/>
                <a:uFillTx/>
                <a:latin typeface="Calibri" pitchFamily="34" charset="0"/>
                <a:ea typeface="Calibri" pitchFamily="34" charset="-122"/>
                <a:cs typeface="Calibri" pitchFamily="34" charset="-120"/>
              </a:rPr>
              <a:t>60 asesores</a:t>
            </a:r>
            <a:endParaRPr kumimoji="0" lang="en-US" sz="2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Shape 12"/>
          <p:cNvSpPr/>
          <p:nvPr/>
        </p:nvSpPr>
        <p:spPr>
          <a:xfrm>
            <a:off x="548640" y="4617720"/>
            <a:ext cx="11064240" cy="685800"/>
          </a:xfrm>
          <a:prstGeom prst="rect">
            <a:avLst/>
          </a:prstGeom>
          <a:solidFill>
            <a:srgbClr val="1A1A28"/>
          </a:solidFill>
          <a:ln w="6350">
            <a:solidFill>
              <a:srgbClr val="333344"/>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Shape 13"/>
          <p:cNvSpPr/>
          <p:nvPr/>
        </p:nvSpPr>
        <p:spPr>
          <a:xfrm>
            <a:off x="548640" y="4617720"/>
            <a:ext cx="73152" cy="685800"/>
          </a:xfrm>
          <a:prstGeom prst="rect">
            <a:avLst/>
          </a:prstGeom>
          <a:solidFill>
            <a:srgbClr val="EC008C"/>
          </a:solidFill>
          <a:ln w="12700">
            <a:solidFill>
              <a:srgbClr val="EC008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Text 14"/>
          <p:cNvSpPr/>
          <p:nvPr/>
        </p:nvSpPr>
        <p:spPr>
          <a:xfrm>
            <a:off x="822960" y="4709160"/>
            <a:ext cx="457200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7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Jonathan Paquini</a:t>
            </a:r>
            <a:endParaRPr kumimoji="0" lang="en-US" sz="17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Text 15"/>
          <p:cNvSpPr/>
          <p:nvPr/>
        </p:nvSpPr>
        <p:spPr>
          <a:xfrm>
            <a:off x="822960" y="4983480"/>
            <a:ext cx="73152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B8B8C5"/>
                </a:solidFill>
                <a:effectLst/>
                <a:uLnTx/>
                <a:uFillTx/>
                <a:latin typeface="Calibri" pitchFamily="34" charset="0"/>
                <a:ea typeface="Calibri" pitchFamily="34" charset="-122"/>
                <a:cs typeface="Calibri" pitchFamily="34" charset="-120"/>
              </a:rPr>
              <a:t>Región 1 Comercial</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Text 16"/>
          <p:cNvSpPr/>
          <p:nvPr/>
        </p:nvSpPr>
        <p:spPr>
          <a:xfrm>
            <a:off x="8686800" y="4617720"/>
            <a:ext cx="2743200" cy="68580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EC008C"/>
                </a:solidFill>
                <a:effectLst/>
                <a:uLnTx/>
                <a:uFillTx/>
                <a:latin typeface="Calibri" pitchFamily="34" charset="0"/>
                <a:ea typeface="Calibri" pitchFamily="34" charset="-122"/>
                <a:cs typeface="Calibri" pitchFamily="34" charset="-120"/>
              </a:rPr>
              <a:t>18 asesores</a:t>
            </a:r>
            <a:endParaRPr kumimoji="0" lang="en-US" sz="2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Shape 17"/>
          <p:cNvSpPr/>
          <p:nvPr/>
        </p:nvSpPr>
        <p:spPr>
          <a:xfrm>
            <a:off x="548640" y="5394960"/>
            <a:ext cx="11064240" cy="685800"/>
          </a:xfrm>
          <a:prstGeom prst="rect">
            <a:avLst/>
          </a:prstGeom>
          <a:solidFill>
            <a:srgbClr val="1A1A28"/>
          </a:solidFill>
          <a:ln w="6350">
            <a:solidFill>
              <a:srgbClr val="333344"/>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 name="Shape 18"/>
          <p:cNvSpPr/>
          <p:nvPr/>
        </p:nvSpPr>
        <p:spPr>
          <a:xfrm>
            <a:off x="548640" y="5394960"/>
            <a:ext cx="73152" cy="685800"/>
          </a:xfrm>
          <a:prstGeom prst="rect">
            <a:avLst/>
          </a:prstGeom>
          <a:solidFill>
            <a:srgbClr val="EC008C"/>
          </a:solidFill>
          <a:ln w="12700">
            <a:solidFill>
              <a:srgbClr val="EC008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 name="Text 19"/>
          <p:cNvSpPr/>
          <p:nvPr/>
        </p:nvSpPr>
        <p:spPr>
          <a:xfrm>
            <a:off x="822960" y="5486400"/>
            <a:ext cx="457200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7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Mario Guillén</a:t>
            </a:r>
            <a:endParaRPr kumimoji="0" lang="en-US" sz="17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 name="Text 20"/>
          <p:cNvSpPr/>
          <p:nvPr/>
        </p:nvSpPr>
        <p:spPr>
          <a:xfrm>
            <a:off x="822960" y="5760720"/>
            <a:ext cx="73152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B8B8C5"/>
                </a:solidFill>
                <a:effectLst/>
                <a:uLnTx/>
                <a:uFillTx/>
                <a:latin typeface="Calibri" pitchFamily="34" charset="0"/>
                <a:ea typeface="Calibri" pitchFamily="34" charset="-122"/>
                <a:cs typeface="Calibri" pitchFamily="34" charset="-120"/>
              </a:rPr>
              <a:t>Region 2</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4" name="Text 21"/>
          <p:cNvSpPr/>
          <p:nvPr/>
        </p:nvSpPr>
        <p:spPr>
          <a:xfrm>
            <a:off x="8686800" y="5394960"/>
            <a:ext cx="2743200" cy="68580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EC008C"/>
                </a:solidFill>
                <a:effectLst/>
                <a:uLnTx/>
                <a:uFillTx/>
                <a:latin typeface="Calibri" pitchFamily="34" charset="0"/>
                <a:ea typeface="Calibri" pitchFamily="34" charset="-122"/>
                <a:cs typeface="Calibri" pitchFamily="34" charset="-120"/>
              </a:rPr>
              <a:t>79 asesores</a:t>
            </a:r>
            <a:endParaRPr kumimoji="0" lang="en-US" sz="2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Shape 22"/>
          <p:cNvSpPr/>
          <p:nvPr/>
        </p:nvSpPr>
        <p:spPr>
          <a:xfrm>
            <a:off x="548640" y="6400800"/>
            <a:ext cx="118872" cy="118872"/>
          </a:xfrm>
          <a:prstGeom prst="ellipse">
            <a:avLst/>
          </a:prstGeom>
          <a:solidFill>
            <a:srgbClr val="EC008C"/>
          </a:solidFill>
          <a:ln w="12700">
            <a:solidFill>
              <a:srgbClr val="EC008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 name="Text 23"/>
          <p:cNvSpPr/>
          <p:nvPr/>
        </p:nvSpPr>
        <p:spPr>
          <a:xfrm>
            <a:off x="777240" y="6355080"/>
            <a:ext cx="6400800" cy="2286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0" cap="none" spc="400" normalizeH="0" baseline="0" noProof="0" dirty="0">
                <a:ln>
                  <a:noFill/>
                </a:ln>
                <a:solidFill>
                  <a:srgbClr val="FFFFFF"/>
                </a:solidFill>
                <a:effectLst/>
                <a:uLnTx/>
                <a:uFillTx/>
                <a:latin typeface="Calibri" pitchFamily="34" charset="0"/>
                <a:ea typeface="Calibri" pitchFamily="34" charset="-122"/>
                <a:cs typeface="Calibri" pitchFamily="34" charset="-120"/>
              </a:rPr>
              <a:t>FINAL UPGRADE AI  ·  RESULTADOS DEL CUESTIONARIO</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7" name="Text 24"/>
          <p:cNvSpPr/>
          <p:nvPr/>
        </p:nvSpPr>
        <p:spPr>
          <a:xfrm>
            <a:off x="11002975" y="6355080"/>
            <a:ext cx="640080" cy="22860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B8B8C5"/>
                </a:solidFill>
                <a:effectLst/>
                <a:uLnTx/>
                <a:uFillTx/>
                <a:latin typeface="Calibri" pitchFamily="34" charset="0"/>
                <a:ea typeface="Calibri" pitchFamily="34" charset="-122"/>
                <a:cs typeface="Calibri" pitchFamily="34" charset="-120"/>
              </a:rPr>
              <a:t>02 / 14</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F0F1B"/>
        </a:solidFill>
        <a:effectLst/>
      </p:bgPr>
    </p:bg>
    <p:spTree>
      <p:nvGrpSpPr>
        <p:cNvPr id="1" name=""/>
        <p:cNvGrpSpPr/>
        <p:nvPr/>
      </p:nvGrpSpPr>
      <p:grpSpPr>
        <a:xfrm>
          <a:off x="0" y="0"/>
          <a:ext cx="0" cy="0"/>
          <a:chOff x="0" y="0"/>
          <a:chExt cx="0" cy="0"/>
        </a:xfrm>
      </p:grpSpPr>
      <p:sp>
        <p:nvSpPr>
          <p:cNvPr id="2" name="Text 0"/>
          <p:cNvSpPr/>
          <p:nvPr/>
        </p:nvSpPr>
        <p:spPr>
          <a:xfrm>
            <a:off x="548640" y="411480"/>
            <a:ext cx="73152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600" normalizeH="0" baseline="0" noProof="0" dirty="0">
                <a:ln>
                  <a:noFill/>
                </a:ln>
                <a:solidFill>
                  <a:srgbClr val="EC008C"/>
                </a:solidFill>
                <a:effectLst/>
                <a:uLnTx/>
                <a:uFillTx/>
                <a:latin typeface="Calibri" pitchFamily="34" charset="0"/>
                <a:ea typeface="Calibri" pitchFamily="34" charset="-122"/>
                <a:cs typeface="Calibri" pitchFamily="34" charset="-120"/>
              </a:rPr>
              <a:t>BRECHAS DE HABILIDADES DEL EQUIPO · SCORE PROMEDIO</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3" name="Image 0" descr="/home/claude/sw_pres/sw_logo_transparent.png"/>
          <p:cNvPicPr>
            <a:picLocks noChangeAspect="1"/>
          </p:cNvPicPr>
          <p:nvPr/>
        </p:nvPicPr>
        <p:blipFill>
          <a:blip r:embed="rId3"/>
          <a:stretch>
            <a:fillRect/>
          </a:stretch>
        </p:blipFill>
        <p:spPr>
          <a:xfrm>
            <a:off x="11094415" y="228600"/>
            <a:ext cx="777240" cy="777240"/>
          </a:xfrm>
          <a:prstGeom prst="rect">
            <a:avLst/>
          </a:prstGeom>
        </p:spPr>
      </p:pic>
      <p:sp>
        <p:nvSpPr>
          <p:cNvPr id="4" name="Shape 1"/>
          <p:cNvSpPr/>
          <p:nvPr/>
        </p:nvSpPr>
        <p:spPr>
          <a:xfrm>
            <a:off x="548640" y="1005840"/>
            <a:ext cx="9997135" cy="0"/>
          </a:xfrm>
          <a:prstGeom prst="line">
            <a:avLst/>
          </a:prstGeom>
          <a:noFill/>
          <a:ln w="12700">
            <a:solidFill>
              <a:srgbClr val="EC008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Shape 2"/>
          <p:cNvSpPr/>
          <p:nvPr/>
        </p:nvSpPr>
        <p:spPr>
          <a:xfrm>
            <a:off x="548640" y="1371600"/>
            <a:ext cx="1280160" cy="411480"/>
          </a:xfrm>
          <a:prstGeom prst="roundRect">
            <a:avLst>
              <a:gd name="adj" fmla="val 50000"/>
            </a:avLst>
          </a:prstGeom>
          <a:solidFill>
            <a:srgbClr val="EC008C"/>
          </a:solidFill>
          <a:ln w="12700">
            <a:solidFill>
              <a:srgbClr val="EC008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 3"/>
          <p:cNvSpPr/>
          <p:nvPr/>
        </p:nvSpPr>
        <p:spPr>
          <a:xfrm>
            <a:off x="548640" y="1371600"/>
            <a:ext cx="1280160" cy="41148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400" normalizeH="0" baseline="0" noProof="0" dirty="0">
                <a:ln>
                  <a:noFill/>
                </a:ln>
                <a:solidFill>
                  <a:srgbClr val="FFFFFF"/>
                </a:solidFill>
                <a:effectLst/>
                <a:uLnTx/>
                <a:uFillTx/>
                <a:latin typeface="Calibri" pitchFamily="34" charset="0"/>
                <a:ea typeface="Calibri" pitchFamily="34" charset="-122"/>
                <a:cs typeface="Calibri" pitchFamily="34" charset="-120"/>
              </a:rPr>
              <a:t>BRECHAS</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4"/>
          <p:cNvSpPr/>
          <p:nvPr/>
        </p:nvSpPr>
        <p:spPr>
          <a:xfrm>
            <a:off x="548640" y="2011680"/>
            <a:ext cx="10972800" cy="9144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8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Presentación de valor es la rama más débil</a:t>
            </a:r>
            <a:endParaRPr kumimoji="0" lang="en-US" sz="3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5"/>
          <p:cNvSpPr/>
          <p:nvPr/>
        </p:nvSpPr>
        <p:spPr>
          <a:xfrm>
            <a:off x="548640" y="2971800"/>
            <a:ext cx="1097280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1" u="none" strike="noStrike" kern="1200" cap="none" spc="0" normalizeH="0" baseline="0" noProof="0" dirty="0">
                <a:ln>
                  <a:noFill/>
                </a:ln>
                <a:solidFill>
                  <a:srgbClr val="EC008C"/>
                </a:solidFill>
                <a:effectLst/>
                <a:uLnTx/>
                <a:uFillTx/>
                <a:latin typeface="Calibri" pitchFamily="34" charset="0"/>
                <a:ea typeface="Calibri" pitchFamily="34" charset="-122"/>
                <a:cs typeface="Calibri" pitchFamily="34" charset="-120"/>
              </a:rPr>
              <a:t>Escala 1 (muy débil) a 5 (excelente) · promedio de las 3 respuestas</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Shape 6"/>
          <p:cNvSpPr/>
          <p:nvPr/>
        </p:nvSpPr>
        <p:spPr>
          <a:xfrm>
            <a:off x="548640" y="3429000"/>
            <a:ext cx="5486400" cy="0"/>
          </a:xfrm>
          <a:prstGeom prst="line">
            <a:avLst/>
          </a:prstGeom>
          <a:noFill/>
          <a:ln w="12700">
            <a:solidFill>
              <a:srgbClr val="EC008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Text 7"/>
          <p:cNvSpPr/>
          <p:nvPr/>
        </p:nvSpPr>
        <p:spPr>
          <a:xfrm>
            <a:off x="548640" y="3840480"/>
            <a:ext cx="320040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Apertura del proceso</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Shape 8"/>
          <p:cNvSpPr/>
          <p:nvPr/>
        </p:nvSpPr>
        <p:spPr>
          <a:xfrm>
            <a:off x="3931920" y="3931920"/>
            <a:ext cx="5486400" cy="228600"/>
          </a:xfrm>
          <a:prstGeom prst="rect">
            <a:avLst/>
          </a:prstGeom>
          <a:solidFill>
            <a:srgbClr val="1A1A28"/>
          </a:solidFill>
          <a:ln w="6350">
            <a:solidFill>
              <a:srgbClr val="333344"/>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Shape 9"/>
          <p:cNvSpPr/>
          <p:nvPr/>
        </p:nvSpPr>
        <p:spPr>
          <a:xfrm>
            <a:off x="3931920" y="3931920"/>
            <a:ext cx="3621024" cy="228600"/>
          </a:xfrm>
          <a:prstGeom prst="rect">
            <a:avLst/>
          </a:prstGeom>
          <a:solidFill>
            <a:srgbClr val="B8B8C5"/>
          </a:solidFill>
          <a:ln w="12700">
            <a:solidFill>
              <a:srgbClr val="B8B8C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 name="Text 10"/>
          <p:cNvSpPr/>
          <p:nvPr/>
        </p:nvSpPr>
        <p:spPr>
          <a:xfrm>
            <a:off x="9601200" y="3840480"/>
            <a:ext cx="137160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3.3</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Text 11"/>
          <p:cNvSpPr/>
          <p:nvPr/>
        </p:nvSpPr>
        <p:spPr>
          <a:xfrm>
            <a:off x="548640" y="4297680"/>
            <a:ext cx="320040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Discovery / descubrimiento</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Shape 12"/>
          <p:cNvSpPr/>
          <p:nvPr/>
        </p:nvSpPr>
        <p:spPr>
          <a:xfrm>
            <a:off x="3931920" y="4389120"/>
            <a:ext cx="5486400" cy="228600"/>
          </a:xfrm>
          <a:prstGeom prst="rect">
            <a:avLst/>
          </a:prstGeom>
          <a:solidFill>
            <a:srgbClr val="1A1A28"/>
          </a:solidFill>
          <a:ln w="6350">
            <a:solidFill>
              <a:srgbClr val="333344"/>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Shape 13"/>
          <p:cNvSpPr/>
          <p:nvPr/>
        </p:nvSpPr>
        <p:spPr>
          <a:xfrm>
            <a:off x="3931920" y="4389120"/>
            <a:ext cx="3621024" cy="228600"/>
          </a:xfrm>
          <a:prstGeom prst="rect">
            <a:avLst/>
          </a:prstGeom>
          <a:solidFill>
            <a:srgbClr val="B8B8C5"/>
          </a:solidFill>
          <a:ln w="12700">
            <a:solidFill>
              <a:srgbClr val="B8B8C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Text 14"/>
          <p:cNvSpPr/>
          <p:nvPr/>
        </p:nvSpPr>
        <p:spPr>
          <a:xfrm>
            <a:off x="9601200" y="4297680"/>
            <a:ext cx="137160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3.3</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Text 15"/>
          <p:cNvSpPr/>
          <p:nvPr/>
        </p:nvSpPr>
        <p:spPr>
          <a:xfrm>
            <a:off x="548640" y="4754880"/>
            <a:ext cx="320040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Presentación de valor</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Shape 16"/>
          <p:cNvSpPr/>
          <p:nvPr/>
        </p:nvSpPr>
        <p:spPr>
          <a:xfrm>
            <a:off x="3931920" y="4846320"/>
            <a:ext cx="5486400" cy="228600"/>
          </a:xfrm>
          <a:prstGeom prst="rect">
            <a:avLst/>
          </a:prstGeom>
          <a:solidFill>
            <a:srgbClr val="1A1A28"/>
          </a:solidFill>
          <a:ln w="6350">
            <a:solidFill>
              <a:srgbClr val="333344"/>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Shape 17"/>
          <p:cNvSpPr/>
          <p:nvPr/>
        </p:nvSpPr>
        <p:spPr>
          <a:xfrm>
            <a:off x="3931920" y="4846320"/>
            <a:ext cx="3291840" cy="228600"/>
          </a:xfrm>
          <a:prstGeom prst="rect">
            <a:avLst/>
          </a:prstGeom>
          <a:solidFill>
            <a:srgbClr val="EC008C"/>
          </a:solidFill>
          <a:ln w="12700">
            <a:solidFill>
              <a:srgbClr val="EC008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 name="Text 18"/>
          <p:cNvSpPr/>
          <p:nvPr/>
        </p:nvSpPr>
        <p:spPr>
          <a:xfrm>
            <a:off x="9601200" y="4754880"/>
            <a:ext cx="137160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EC008C"/>
                </a:solidFill>
                <a:effectLst/>
                <a:uLnTx/>
                <a:uFillTx/>
                <a:latin typeface="Calibri" pitchFamily="34" charset="0"/>
                <a:ea typeface="Calibri" pitchFamily="34" charset="-122"/>
                <a:cs typeface="Calibri" pitchFamily="34" charset="-120"/>
              </a:rPr>
              <a:t>3.0</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Text 19"/>
          <p:cNvSpPr/>
          <p:nvPr/>
        </p:nvSpPr>
        <p:spPr>
          <a:xfrm>
            <a:off x="548640" y="5212080"/>
            <a:ext cx="320040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Manejo de objeciones</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 name="Shape 20"/>
          <p:cNvSpPr/>
          <p:nvPr/>
        </p:nvSpPr>
        <p:spPr>
          <a:xfrm>
            <a:off x="3931920" y="5303520"/>
            <a:ext cx="5486400" cy="228600"/>
          </a:xfrm>
          <a:prstGeom prst="rect">
            <a:avLst/>
          </a:prstGeom>
          <a:solidFill>
            <a:srgbClr val="1A1A28"/>
          </a:solidFill>
          <a:ln w="6350">
            <a:solidFill>
              <a:srgbClr val="333344"/>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 name="Shape 21"/>
          <p:cNvSpPr/>
          <p:nvPr/>
        </p:nvSpPr>
        <p:spPr>
          <a:xfrm>
            <a:off x="3931920" y="5303520"/>
            <a:ext cx="4059936" cy="228600"/>
          </a:xfrm>
          <a:prstGeom prst="rect">
            <a:avLst/>
          </a:prstGeom>
          <a:solidFill>
            <a:srgbClr val="B8B8C5"/>
          </a:solidFill>
          <a:ln w="12700">
            <a:solidFill>
              <a:srgbClr val="B8B8C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 name="Text 22"/>
          <p:cNvSpPr/>
          <p:nvPr/>
        </p:nvSpPr>
        <p:spPr>
          <a:xfrm>
            <a:off x="9601200" y="5212080"/>
            <a:ext cx="137160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3.7</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6" name="Text 23"/>
          <p:cNvSpPr/>
          <p:nvPr/>
        </p:nvSpPr>
        <p:spPr>
          <a:xfrm>
            <a:off x="548640" y="5669280"/>
            <a:ext cx="320040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Cierre y seguimiento</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7" name="Shape 24"/>
          <p:cNvSpPr/>
          <p:nvPr/>
        </p:nvSpPr>
        <p:spPr>
          <a:xfrm>
            <a:off x="3931920" y="5760720"/>
            <a:ext cx="5486400" cy="228600"/>
          </a:xfrm>
          <a:prstGeom prst="rect">
            <a:avLst/>
          </a:prstGeom>
          <a:solidFill>
            <a:srgbClr val="1A1A28"/>
          </a:solidFill>
          <a:ln w="6350">
            <a:solidFill>
              <a:srgbClr val="333344"/>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8" name="Shape 25"/>
          <p:cNvSpPr/>
          <p:nvPr/>
        </p:nvSpPr>
        <p:spPr>
          <a:xfrm>
            <a:off x="3931920" y="5760720"/>
            <a:ext cx="4389120" cy="228600"/>
          </a:xfrm>
          <a:prstGeom prst="rect">
            <a:avLst/>
          </a:prstGeom>
          <a:solidFill>
            <a:srgbClr val="B8B8C5"/>
          </a:solidFill>
          <a:ln w="12700">
            <a:solidFill>
              <a:srgbClr val="B8B8C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9" name="Text 26"/>
          <p:cNvSpPr/>
          <p:nvPr/>
        </p:nvSpPr>
        <p:spPr>
          <a:xfrm>
            <a:off x="9601200" y="5669280"/>
            <a:ext cx="137160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4.0</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0" name="Text 27"/>
          <p:cNvSpPr/>
          <p:nvPr/>
        </p:nvSpPr>
        <p:spPr>
          <a:xfrm>
            <a:off x="548640" y="5897880"/>
            <a:ext cx="1097280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1" u="none" strike="noStrike" kern="1200" cap="none" spc="0" normalizeH="0" baseline="0" noProof="0" dirty="0">
                <a:ln>
                  <a:noFill/>
                </a:ln>
                <a:solidFill>
                  <a:srgbClr val="B8B8C5"/>
                </a:solidFill>
                <a:effectLst/>
                <a:uLnTx/>
                <a:uFillTx/>
                <a:latin typeface="Calibri" pitchFamily="34" charset="0"/>
                <a:ea typeface="Calibri" pitchFamily="34" charset="-122"/>
                <a:cs typeface="Calibri" pitchFamily="34" charset="-120"/>
              </a:rPr>
              <a:t>Apertura y Discovery también están débiles (3.3). El problema no es solo cómo presentan, también cómo abren y exploran.</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1" name="Shape 28"/>
          <p:cNvSpPr/>
          <p:nvPr/>
        </p:nvSpPr>
        <p:spPr>
          <a:xfrm>
            <a:off x="548640" y="6400800"/>
            <a:ext cx="118872" cy="118872"/>
          </a:xfrm>
          <a:prstGeom prst="ellipse">
            <a:avLst/>
          </a:prstGeom>
          <a:solidFill>
            <a:srgbClr val="EC008C"/>
          </a:solidFill>
          <a:ln w="12700">
            <a:solidFill>
              <a:srgbClr val="EC008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2" name="Text 29"/>
          <p:cNvSpPr/>
          <p:nvPr/>
        </p:nvSpPr>
        <p:spPr>
          <a:xfrm>
            <a:off x="777240" y="6355080"/>
            <a:ext cx="6400800" cy="2286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0" cap="none" spc="400" normalizeH="0" baseline="0" noProof="0" dirty="0">
                <a:ln>
                  <a:noFill/>
                </a:ln>
                <a:solidFill>
                  <a:srgbClr val="FFFFFF"/>
                </a:solidFill>
                <a:effectLst/>
                <a:uLnTx/>
                <a:uFillTx/>
                <a:latin typeface="Calibri" pitchFamily="34" charset="0"/>
                <a:ea typeface="Calibri" pitchFamily="34" charset="-122"/>
                <a:cs typeface="Calibri" pitchFamily="34" charset="-120"/>
              </a:rPr>
              <a:t>FINAL UPGRADE AI  ·  RESULTADOS DEL CUESTIONARIO</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3" name="Text 30"/>
          <p:cNvSpPr/>
          <p:nvPr/>
        </p:nvSpPr>
        <p:spPr>
          <a:xfrm>
            <a:off x="11002975" y="6355080"/>
            <a:ext cx="640080" cy="22860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B8B8C5"/>
                </a:solidFill>
                <a:effectLst/>
                <a:uLnTx/>
                <a:uFillTx/>
                <a:latin typeface="Calibri" pitchFamily="34" charset="0"/>
                <a:ea typeface="Calibri" pitchFamily="34" charset="-122"/>
                <a:cs typeface="Calibri" pitchFamily="34" charset="-120"/>
              </a:rPr>
              <a:t>03 / 14</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F0F1B"/>
        </a:solidFill>
        <a:effectLst/>
      </p:bgPr>
    </p:bg>
    <p:spTree>
      <p:nvGrpSpPr>
        <p:cNvPr id="1" name=""/>
        <p:cNvGrpSpPr/>
        <p:nvPr/>
      </p:nvGrpSpPr>
      <p:grpSpPr>
        <a:xfrm>
          <a:off x="0" y="0"/>
          <a:ext cx="0" cy="0"/>
          <a:chOff x="0" y="0"/>
          <a:chExt cx="0" cy="0"/>
        </a:xfrm>
      </p:grpSpPr>
      <p:sp>
        <p:nvSpPr>
          <p:cNvPr id="2" name="Text 0"/>
          <p:cNvSpPr/>
          <p:nvPr/>
        </p:nvSpPr>
        <p:spPr>
          <a:xfrm>
            <a:off x="548640" y="411480"/>
            <a:ext cx="73152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600" normalizeH="0" baseline="0" noProof="0" dirty="0">
                <a:ln>
                  <a:noFill/>
                </a:ln>
                <a:solidFill>
                  <a:srgbClr val="EC008C"/>
                </a:solidFill>
                <a:effectLst/>
                <a:uLnTx/>
                <a:uFillTx/>
                <a:latin typeface="Calibri" pitchFamily="34" charset="0"/>
                <a:ea typeface="Calibri" pitchFamily="34" charset="-122"/>
                <a:cs typeface="Calibri" pitchFamily="34" charset="-120"/>
              </a:rPr>
              <a:t>OBJECIONES QUE BLOQUEAN CIERRES CON MAYOR FRECUENCIA</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3" name="Image 0" descr="/home/claude/sw_pres/sw_logo_transparent.png"/>
          <p:cNvPicPr>
            <a:picLocks noChangeAspect="1"/>
          </p:cNvPicPr>
          <p:nvPr/>
        </p:nvPicPr>
        <p:blipFill>
          <a:blip r:embed="rId3"/>
          <a:stretch>
            <a:fillRect/>
          </a:stretch>
        </p:blipFill>
        <p:spPr>
          <a:xfrm>
            <a:off x="11094415" y="228600"/>
            <a:ext cx="777240" cy="777240"/>
          </a:xfrm>
          <a:prstGeom prst="rect">
            <a:avLst/>
          </a:prstGeom>
        </p:spPr>
      </p:pic>
      <p:sp>
        <p:nvSpPr>
          <p:cNvPr id="4" name="Shape 1"/>
          <p:cNvSpPr/>
          <p:nvPr/>
        </p:nvSpPr>
        <p:spPr>
          <a:xfrm>
            <a:off x="548640" y="1005840"/>
            <a:ext cx="9997135" cy="0"/>
          </a:xfrm>
          <a:prstGeom prst="line">
            <a:avLst/>
          </a:prstGeom>
          <a:noFill/>
          <a:ln w="12700">
            <a:solidFill>
              <a:srgbClr val="EC008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Shape 2"/>
          <p:cNvSpPr/>
          <p:nvPr/>
        </p:nvSpPr>
        <p:spPr>
          <a:xfrm>
            <a:off x="548640" y="1371600"/>
            <a:ext cx="1463040" cy="411480"/>
          </a:xfrm>
          <a:prstGeom prst="roundRect">
            <a:avLst>
              <a:gd name="adj" fmla="val 50000"/>
            </a:avLst>
          </a:prstGeom>
          <a:solidFill>
            <a:srgbClr val="EC008C"/>
          </a:solidFill>
          <a:ln w="12700">
            <a:solidFill>
              <a:srgbClr val="EC008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 3"/>
          <p:cNvSpPr/>
          <p:nvPr/>
        </p:nvSpPr>
        <p:spPr>
          <a:xfrm>
            <a:off x="548640" y="1371600"/>
            <a:ext cx="1463040" cy="41148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400" normalizeH="0" baseline="0" noProof="0" dirty="0">
                <a:ln>
                  <a:noFill/>
                </a:ln>
                <a:solidFill>
                  <a:srgbClr val="FFFFFF"/>
                </a:solidFill>
                <a:effectLst/>
                <a:uLnTx/>
                <a:uFillTx/>
                <a:latin typeface="Calibri" pitchFamily="34" charset="0"/>
                <a:ea typeface="Calibri" pitchFamily="34" charset="-122"/>
                <a:cs typeface="Calibri" pitchFamily="34" charset="-120"/>
              </a:rPr>
              <a:t>OBJECIONES</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4"/>
          <p:cNvSpPr/>
          <p:nvPr/>
        </p:nvSpPr>
        <p:spPr>
          <a:xfrm>
            <a:off x="548640" y="2011680"/>
            <a:ext cx="10972800" cy="9144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Precio y postergación son unánimes</a:t>
            </a:r>
            <a:endParaRPr kumimoji="0" lang="en-US" sz="3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5"/>
          <p:cNvSpPr/>
          <p:nvPr/>
        </p:nvSpPr>
        <p:spPr>
          <a:xfrm>
            <a:off x="548640" y="2971800"/>
            <a:ext cx="1097280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1" u="none" strike="noStrike" kern="1200" cap="none" spc="0" normalizeH="0" baseline="0" noProof="0" dirty="0">
                <a:ln>
                  <a:noFill/>
                </a:ln>
                <a:solidFill>
                  <a:srgbClr val="EC008C"/>
                </a:solidFill>
                <a:effectLst/>
                <a:uLnTx/>
                <a:uFillTx/>
                <a:latin typeface="Calibri" pitchFamily="34" charset="0"/>
                <a:ea typeface="Calibri" pitchFamily="34" charset="-122"/>
                <a:cs typeface="Calibri" pitchFamily="34" charset="-120"/>
              </a:rPr>
              <a:t>3 de 3 líderes marcaron precio y "lo voy a pensar" como bloqueadoras top</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Shape 6"/>
          <p:cNvSpPr/>
          <p:nvPr/>
        </p:nvSpPr>
        <p:spPr>
          <a:xfrm>
            <a:off x="548640" y="3429000"/>
            <a:ext cx="5486400" cy="0"/>
          </a:xfrm>
          <a:prstGeom prst="line">
            <a:avLst/>
          </a:prstGeom>
          <a:noFill/>
          <a:ln w="12700">
            <a:solidFill>
              <a:srgbClr val="EC008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Shape 7"/>
          <p:cNvSpPr/>
          <p:nvPr/>
        </p:nvSpPr>
        <p:spPr>
          <a:xfrm>
            <a:off x="548640" y="3840480"/>
            <a:ext cx="9418320" cy="411480"/>
          </a:xfrm>
          <a:prstGeom prst="rect">
            <a:avLst/>
          </a:prstGeom>
          <a:solidFill>
            <a:srgbClr val="1A1A28"/>
          </a:solidFill>
          <a:ln w="6350">
            <a:solidFill>
              <a:srgbClr val="333344"/>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Shape 8"/>
          <p:cNvSpPr/>
          <p:nvPr/>
        </p:nvSpPr>
        <p:spPr>
          <a:xfrm>
            <a:off x="548640" y="3840480"/>
            <a:ext cx="9418320" cy="411480"/>
          </a:xfrm>
          <a:prstGeom prst="rect">
            <a:avLst/>
          </a:prstGeom>
          <a:solidFill>
            <a:srgbClr val="EC008C"/>
          </a:solidFill>
          <a:ln w="12700">
            <a:solidFill>
              <a:srgbClr val="EC008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Text 9"/>
          <p:cNvSpPr/>
          <p:nvPr/>
        </p:nvSpPr>
        <p:spPr>
          <a:xfrm>
            <a:off x="777240" y="3840480"/>
            <a:ext cx="9144000" cy="4114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"Está muy caro / no tengo presupuesto"</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Text 10"/>
          <p:cNvSpPr/>
          <p:nvPr/>
        </p:nvSpPr>
        <p:spPr>
          <a:xfrm>
            <a:off x="10149840" y="3840480"/>
            <a:ext cx="731520" cy="4114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EC008C"/>
                </a:solidFill>
                <a:effectLst/>
                <a:uLnTx/>
                <a:uFillTx/>
                <a:latin typeface="Calibri" pitchFamily="34" charset="0"/>
                <a:ea typeface="Calibri" pitchFamily="34" charset="-122"/>
                <a:cs typeface="Calibri" pitchFamily="34" charset="-120"/>
              </a:rPr>
              <a:t>3/3</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Text 11"/>
          <p:cNvSpPr/>
          <p:nvPr/>
        </p:nvSpPr>
        <p:spPr>
          <a:xfrm>
            <a:off x="10881360" y="3840480"/>
            <a:ext cx="822960" cy="41148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B8B8C5"/>
                </a:solidFill>
                <a:effectLst/>
                <a:uLnTx/>
                <a:uFillTx/>
                <a:latin typeface="Calibri" pitchFamily="34" charset="0"/>
                <a:ea typeface="Calibri" pitchFamily="34" charset="-122"/>
                <a:cs typeface="Calibri" pitchFamily="34" charset="-120"/>
              </a:rPr>
              <a:t>100%</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Shape 12"/>
          <p:cNvSpPr/>
          <p:nvPr/>
        </p:nvSpPr>
        <p:spPr>
          <a:xfrm>
            <a:off x="548640" y="4389120"/>
            <a:ext cx="9418320" cy="411480"/>
          </a:xfrm>
          <a:prstGeom prst="rect">
            <a:avLst/>
          </a:prstGeom>
          <a:solidFill>
            <a:srgbClr val="1A1A28"/>
          </a:solidFill>
          <a:ln w="6350">
            <a:solidFill>
              <a:srgbClr val="333344"/>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Shape 13"/>
          <p:cNvSpPr/>
          <p:nvPr/>
        </p:nvSpPr>
        <p:spPr>
          <a:xfrm>
            <a:off x="548640" y="4389120"/>
            <a:ext cx="9418320" cy="411480"/>
          </a:xfrm>
          <a:prstGeom prst="rect">
            <a:avLst/>
          </a:prstGeom>
          <a:solidFill>
            <a:srgbClr val="EC008C"/>
          </a:solidFill>
          <a:ln w="12700">
            <a:solidFill>
              <a:srgbClr val="EC008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Text 14"/>
          <p:cNvSpPr/>
          <p:nvPr/>
        </p:nvSpPr>
        <p:spPr>
          <a:xfrm>
            <a:off x="777240" y="4389120"/>
            <a:ext cx="9144000" cy="4114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"Lo voy a pensar / lo platico con mi pareja"</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Text 15"/>
          <p:cNvSpPr/>
          <p:nvPr/>
        </p:nvSpPr>
        <p:spPr>
          <a:xfrm>
            <a:off x="10149840" y="4389120"/>
            <a:ext cx="731520" cy="4114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EC008C"/>
                </a:solidFill>
                <a:effectLst/>
                <a:uLnTx/>
                <a:uFillTx/>
                <a:latin typeface="Calibri" pitchFamily="34" charset="0"/>
                <a:ea typeface="Calibri" pitchFamily="34" charset="-122"/>
                <a:cs typeface="Calibri" pitchFamily="34" charset="-120"/>
              </a:rPr>
              <a:t>3/3</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Text 16"/>
          <p:cNvSpPr/>
          <p:nvPr/>
        </p:nvSpPr>
        <p:spPr>
          <a:xfrm>
            <a:off x="10881360" y="4389120"/>
            <a:ext cx="822960" cy="41148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B8B8C5"/>
                </a:solidFill>
                <a:effectLst/>
                <a:uLnTx/>
                <a:uFillTx/>
                <a:latin typeface="Calibri" pitchFamily="34" charset="0"/>
                <a:ea typeface="Calibri" pitchFamily="34" charset="-122"/>
                <a:cs typeface="Calibri" pitchFamily="34" charset="-120"/>
              </a:rPr>
              <a:t>100%</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Shape 17"/>
          <p:cNvSpPr/>
          <p:nvPr/>
        </p:nvSpPr>
        <p:spPr>
          <a:xfrm>
            <a:off x="548640" y="4937760"/>
            <a:ext cx="9418320" cy="411480"/>
          </a:xfrm>
          <a:prstGeom prst="rect">
            <a:avLst/>
          </a:prstGeom>
          <a:solidFill>
            <a:srgbClr val="1A1A28"/>
          </a:solidFill>
          <a:ln w="6350">
            <a:solidFill>
              <a:srgbClr val="333344"/>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 name="Shape 18"/>
          <p:cNvSpPr/>
          <p:nvPr/>
        </p:nvSpPr>
        <p:spPr>
          <a:xfrm>
            <a:off x="548640" y="4937760"/>
            <a:ext cx="6278880" cy="411480"/>
          </a:xfrm>
          <a:prstGeom prst="rect">
            <a:avLst/>
          </a:prstGeom>
          <a:solidFill>
            <a:srgbClr val="9F0061"/>
          </a:solidFill>
          <a:ln w="12700">
            <a:solidFill>
              <a:srgbClr val="9F0061"/>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 name="Text 19"/>
          <p:cNvSpPr/>
          <p:nvPr/>
        </p:nvSpPr>
        <p:spPr>
          <a:xfrm>
            <a:off x="777240" y="4937760"/>
            <a:ext cx="9144000" cy="4114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"No tengo tiempo / mi agenda está saturada"</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 name="Text 20"/>
          <p:cNvSpPr/>
          <p:nvPr/>
        </p:nvSpPr>
        <p:spPr>
          <a:xfrm>
            <a:off x="10149840" y="4937760"/>
            <a:ext cx="731520" cy="4114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EC008C"/>
                </a:solidFill>
                <a:effectLst/>
                <a:uLnTx/>
                <a:uFillTx/>
                <a:latin typeface="Calibri" pitchFamily="34" charset="0"/>
                <a:ea typeface="Calibri" pitchFamily="34" charset="-122"/>
                <a:cs typeface="Calibri" pitchFamily="34" charset="-120"/>
              </a:rPr>
              <a:t>2/3</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4" name="Text 21"/>
          <p:cNvSpPr/>
          <p:nvPr/>
        </p:nvSpPr>
        <p:spPr>
          <a:xfrm>
            <a:off x="10881360" y="4937760"/>
            <a:ext cx="822960" cy="41148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B8B8C5"/>
                </a:solidFill>
                <a:effectLst/>
                <a:uLnTx/>
                <a:uFillTx/>
                <a:latin typeface="Calibri" pitchFamily="34" charset="0"/>
                <a:ea typeface="Calibri" pitchFamily="34" charset="-122"/>
                <a:cs typeface="Calibri" pitchFamily="34" charset="-120"/>
              </a:rPr>
              <a:t>67%</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Shape 22"/>
          <p:cNvSpPr/>
          <p:nvPr/>
        </p:nvSpPr>
        <p:spPr>
          <a:xfrm>
            <a:off x="548640" y="5486400"/>
            <a:ext cx="9418320" cy="411480"/>
          </a:xfrm>
          <a:prstGeom prst="rect">
            <a:avLst/>
          </a:prstGeom>
          <a:solidFill>
            <a:srgbClr val="1A1A28"/>
          </a:solidFill>
          <a:ln w="6350">
            <a:solidFill>
              <a:srgbClr val="333344"/>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 name="Shape 23"/>
          <p:cNvSpPr/>
          <p:nvPr/>
        </p:nvSpPr>
        <p:spPr>
          <a:xfrm>
            <a:off x="548640" y="5486400"/>
            <a:ext cx="3139440" cy="411480"/>
          </a:xfrm>
          <a:prstGeom prst="rect">
            <a:avLst/>
          </a:prstGeom>
          <a:solidFill>
            <a:srgbClr val="5F0040"/>
          </a:solidFill>
          <a:ln w="12700">
            <a:solidFill>
              <a:srgbClr val="5F004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 name="Text 24"/>
          <p:cNvSpPr/>
          <p:nvPr/>
        </p:nvSpPr>
        <p:spPr>
          <a:xfrm>
            <a:off x="777240" y="5486400"/>
            <a:ext cx="9144000" cy="4114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"Voy a usar TotalPass / Fitpass primero"</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8" name="Text 25"/>
          <p:cNvSpPr/>
          <p:nvPr/>
        </p:nvSpPr>
        <p:spPr>
          <a:xfrm>
            <a:off x="10149840" y="5486400"/>
            <a:ext cx="731520" cy="4114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EC008C"/>
                </a:solidFill>
                <a:effectLst/>
                <a:uLnTx/>
                <a:uFillTx/>
                <a:latin typeface="Calibri" pitchFamily="34" charset="0"/>
                <a:ea typeface="Calibri" pitchFamily="34" charset="-122"/>
                <a:cs typeface="Calibri" pitchFamily="34" charset="-120"/>
              </a:rPr>
              <a:t>1/3</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9" name="Text 26"/>
          <p:cNvSpPr/>
          <p:nvPr/>
        </p:nvSpPr>
        <p:spPr>
          <a:xfrm>
            <a:off x="10881360" y="5486400"/>
            <a:ext cx="822960" cy="41148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B8B8C5"/>
                </a:solidFill>
                <a:effectLst/>
                <a:uLnTx/>
                <a:uFillTx/>
                <a:latin typeface="Calibri" pitchFamily="34" charset="0"/>
                <a:ea typeface="Calibri" pitchFamily="34" charset="-122"/>
                <a:cs typeface="Calibri" pitchFamily="34" charset="-120"/>
              </a:rPr>
              <a:t>33%</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0" name="Text 27"/>
          <p:cNvSpPr/>
          <p:nvPr/>
        </p:nvSpPr>
        <p:spPr>
          <a:xfrm>
            <a:off x="548640" y="6263640"/>
            <a:ext cx="1097280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1" u="none" strike="noStrike" kern="1200" cap="none" spc="0" normalizeH="0" baseline="0" noProof="0" dirty="0">
                <a:ln>
                  <a:noFill/>
                </a:ln>
                <a:solidFill>
                  <a:srgbClr val="B8B8C5"/>
                </a:solidFill>
                <a:effectLst/>
                <a:uLnTx/>
                <a:uFillTx/>
                <a:latin typeface="Calibri" pitchFamily="34" charset="0"/>
                <a:ea typeface="Calibri" pitchFamily="34" charset="-122"/>
                <a:cs typeface="Calibri" pitchFamily="34" charset="-120"/>
              </a:rPr>
              <a:t>Las objeciones reputacionales (app, mantenimiento) NO aparecen en el top. Tampoco las experiencias previas negativas con SW.</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1" name="Shape 28"/>
          <p:cNvSpPr/>
          <p:nvPr/>
        </p:nvSpPr>
        <p:spPr>
          <a:xfrm>
            <a:off x="548640" y="6400800"/>
            <a:ext cx="118872" cy="118872"/>
          </a:xfrm>
          <a:prstGeom prst="ellipse">
            <a:avLst/>
          </a:prstGeom>
          <a:solidFill>
            <a:srgbClr val="EC008C"/>
          </a:solidFill>
          <a:ln w="12700">
            <a:solidFill>
              <a:srgbClr val="EC008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2" name="Text 29"/>
          <p:cNvSpPr/>
          <p:nvPr/>
        </p:nvSpPr>
        <p:spPr>
          <a:xfrm>
            <a:off x="777240" y="6355080"/>
            <a:ext cx="6400800" cy="2286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0" cap="none" spc="400" normalizeH="0" baseline="0" noProof="0" dirty="0">
                <a:ln>
                  <a:noFill/>
                </a:ln>
                <a:solidFill>
                  <a:srgbClr val="FFFFFF"/>
                </a:solidFill>
                <a:effectLst/>
                <a:uLnTx/>
                <a:uFillTx/>
                <a:latin typeface="Calibri" pitchFamily="34" charset="0"/>
                <a:ea typeface="Calibri" pitchFamily="34" charset="-122"/>
                <a:cs typeface="Calibri" pitchFamily="34" charset="-120"/>
              </a:rPr>
              <a:t>FINAL UPGRADE AI  ·  RESULTADOS DEL CUESTIONARIO</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3" name="Text 30"/>
          <p:cNvSpPr/>
          <p:nvPr/>
        </p:nvSpPr>
        <p:spPr>
          <a:xfrm>
            <a:off x="11002975" y="6355080"/>
            <a:ext cx="640080" cy="22860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B8B8C5"/>
                </a:solidFill>
                <a:effectLst/>
                <a:uLnTx/>
                <a:uFillTx/>
                <a:latin typeface="Calibri" pitchFamily="34" charset="0"/>
                <a:ea typeface="Calibri" pitchFamily="34" charset="-122"/>
                <a:cs typeface="Calibri" pitchFamily="34" charset="-120"/>
              </a:rPr>
              <a:t>04 / 14</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F0F1B"/>
        </a:solidFill>
        <a:effectLst/>
      </p:bgPr>
    </p:bg>
    <p:spTree>
      <p:nvGrpSpPr>
        <p:cNvPr id="1" name=""/>
        <p:cNvGrpSpPr/>
        <p:nvPr/>
      </p:nvGrpSpPr>
      <p:grpSpPr>
        <a:xfrm>
          <a:off x="0" y="0"/>
          <a:ext cx="0" cy="0"/>
          <a:chOff x="0" y="0"/>
          <a:chExt cx="0" cy="0"/>
        </a:xfrm>
      </p:grpSpPr>
      <p:sp>
        <p:nvSpPr>
          <p:cNvPr id="2" name="Text 0"/>
          <p:cNvSpPr/>
          <p:nvPr/>
        </p:nvSpPr>
        <p:spPr>
          <a:xfrm>
            <a:off x="548640" y="411480"/>
            <a:ext cx="73152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600" normalizeH="0" baseline="0" noProof="0" dirty="0">
                <a:ln>
                  <a:noFill/>
                </a:ln>
                <a:solidFill>
                  <a:srgbClr val="EC008C"/>
                </a:solidFill>
                <a:effectLst/>
                <a:uLnTx/>
                <a:uFillTx/>
                <a:latin typeface="Calibri" pitchFamily="34" charset="0"/>
                <a:ea typeface="Calibri" pitchFamily="34" charset="-122"/>
                <a:cs typeface="Calibri" pitchFamily="34" charset="-120"/>
              </a:rPr>
              <a:t>CÓMO MANEJAN RESEÑAS NEGATIVAS EN LA CONVERSACIÓN</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3" name="Image 0" descr="/home/claude/sw_pres/sw_logo_transparent.png"/>
          <p:cNvPicPr>
            <a:picLocks noChangeAspect="1"/>
          </p:cNvPicPr>
          <p:nvPr/>
        </p:nvPicPr>
        <p:blipFill>
          <a:blip r:embed="rId3"/>
          <a:stretch>
            <a:fillRect/>
          </a:stretch>
        </p:blipFill>
        <p:spPr>
          <a:xfrm>
            <a:off x="11094415" y="228600"/>
            <a:ext cx="777240" cy="777240"/>
          </a:xfrm>
          <a:prstGeom prst="rect">
            <a:avLst/>
          </a:prstGeom>
        </p:spPr>
      </p:pic>
      <p:sp>
        <p:nvSpPr>
          <p:cNvPr id="4" name="Shape 1"/>
          <p:cNvSpPr/>
          <p:nvPr/>
        </p:nvSpPr>
        <p:spPr>
          <a:xfrm>
            <a:off x="548640" y="1005840"/>
            <a:ext cx="9997135" cy="0"/>
          </a:xfrm>
          <a:prstGeom prst="line">
            <a:avLst/>
          </a:prstGeom>
          <a:noFill/>
          <a:ln w="12700">
            <a:solidFill>
              <a:srgbClr val="EC008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Shape 2"/>
          <p:cNvSpPr/>
          <p:nvPr/>
        </p:nvSpPr>
        <p:spPr>
          <a:xfrm>
            <a:off x="548640" y="1371600"/>
            <a:ext cx="1280160" cy="411480"/>
          </a:xfrm>
          <a:prstGeom prst="roundRect">
            <a:avLst>
              <a:gd name="adj" fmla="val 50000"/>
            </a:avLst>
          </a:prstGeom>
          <a:solidFill>
            <a:srgbClr val="EC008C"/>
          </a:solidFill>
          <a:ln w="12700">
            <a:solidFill>
              <a:srgbClr val="EC008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 3"/>
          <p:cNvSpPr/>
          <p:nvPr/>
        </p:nvSpPr>
        <p:spPr>
          <a:xfrm>
            <a:off x="548640" y="1371600"/>
            <a:ext cx="1280160" cy="41148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400" normalizeH="0" baseline="0" noProof="0" dirty="0">
                <a:ln>
                  <a:noFill/>
                </a:ln>
                <a:solidFill>
                  <a:srgbClr val="FFFFFF"/>
                </a:solidFill>
                <a:effectLst/>
                <a:uLnTx/>
                <a:uFillTx/>
                <a:latin typeface="Calibri" pitchFamily="34" charset="0"/>
                <a:ea typeface="Calibri" pitchFamily="34" charset="-122"/>
                <a:cs typeface="Calibri" pitchFamily="34" charset="-120"/>
              </a:rPr>
              <a:t>RESEÑAS</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4"/>
          <p:cNvSpPr/>
          <p:nvPr/>
        </p:nvSpPr>
        <p:spPr>
          <a:xfrm>
            <a:off x="548640" y="2011680"/>
            <a:ext cx="10972800" cy="9144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100% dice manejar reseñas correctamente</a:t>
            </a:r>
            <a:endParaRPr kumimoji="0" lang="en-US" sz="3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Shape 5"/>
          <p:cNvSpPr/>
          <p:nvPr/>
        </p:nvSpPr>
        <p:spPr>
          <a:xfrm>
            <a:off x="548640" y="3108960"/>
            <a:ext cx="5486400" cy="0"/>
          </a:xfrm>
          <a:prstGeom prst="line">
            <a:avLst/>
          </a:prstGeom>
          <a:noFill/>
          <a:ln w="12700">
            <a:solidFill>
              <a:srgbClr val="EC008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Text 6"/>
          <p:cNvSpPr/>
          <p:nvPr/>
        </p:nvSpPr>
        <p:spPr>
          <a:xfrm>
            <a:off x="548640" y="3520440"/>
            <a:ext cx="3657600" cy="16459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0" b="1" i="0" u="none" strike="noStrike" kern="1200" cap="none" spc="0" normalizeH="0" baseline="0" noProof="0" dirty="0">
                <a:ln>
                  <a:noFill/>
                </a:ln>
                <a:solidFill>
                  <a:srgbClr val="EC008C"/>
                </a:solidFill>
                <a:effectLst/>
                <a:uLnTx/>
                <a:uFillTx/>
                <a:latin typeface="Calibri" pitchFamily="34" charset="0"/>
                <a:ea typeface="Calibri" pitchFamily="34" charset="-122"/>
                <a:cs typeface="Calibri" pitchFamily="34" charset="-120"/>
              </a:rPr>
              <a:t>3 / 3</a:t>
            </a:r>
            <a:endParaRPr kumimoji="0" lang="en-US" sz="13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 7"/>
          <p:cNvSpPr/>
          <p:nvPr/>
        </p:nvSpPr>
        <p:spPr>
          <a:xfrm>
            <a:off x="4754880" y="3657600"/>
            <a:ext cx="73152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400" normalizeH="0" baseline="0" noProof="0" dirty="0">
                <a:ln>
                  <a:noFill/>
                </a:ln>
                <a:solidFill>
                  <a:srgbClr val="EC008C"/>
                </a:solidFill>
                <a:effectLst/>
                <a:uLnTx/>
                <a:uFillTx/>
                <a:latin typeface="Calibri" pitchFamily="34" charset="0"/>
                <a:ea typeface="Calibri" pitchFamily="34" charset="-122"/>
                <a:cs typeface="Calibri" pitchFamily="34" charset="-120"/>
              </a:rPr>
              <a:t>LÍDERES REPORTAN</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 8"/>
          <p:cNvSpPr/>
          <p:nvPr/>
        </p:nvSpPr>
        <p:spPr>
          <a:xfrm>
            <a:off x="4754880" y="3977640"/>
            <a:ext cx="6858000" cy="9144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1"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"Valida la preocupación, reconoce el problema y pivotea hacia mejoras concretas."</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Shape 9"/>
          <p:cNvSpPr/>
          <p:nvPr/>
        </p:nvSpPr>
        <p:spPr>
          <a:xfrm>
            <a:off x="548640" y="5486400"/>
            <a:ext cx="11064240" cy="868680"/>
          </a:xfrm>
          <a:prstGeom prst="rect">
            <a:avLst/>
          </a:prstGeom>
          <a:solidFill>
            <a:srgbClr val="1A1A28"/>
          </a:solidFill>
          <a:ln w="12700">
            <a:solidFill>
              <a:srgbClr val="EC008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 name="Text 10"/>
          <p:cNvSpPr/>
          <p:nvPr/>
        </p:nvSpPr>
        <p:spPr>
          <a:xfrm>
            <a:off x="777240" y="5623560"/>
            <a:ext cx="1060704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400" normalizeH="0" baseline="0" noProof="0" dirty="0">
                <a:ln>
                  <a:noFill/>
                </a:ln>
                <a:solidFill>
                  <a:srgbClr val="EC008C"/>
                </a:solidFill>
                <a:effectLst/>
                <a:uLnTx/>
                <a:uFillTx/>
                <a:latin typeface="Calibri" pitchFamily="34" charset="0"/>
                <a:ea typeface="Calibri" pitchFamily="34" charset="-122"/>
                <a:cs typeface="Calibri" pitchFamily="34" charset="-120"/>
              </a:rPr>
              <a:t>SEÑAL A EXPLORAR EN EL WORKSHOP</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Text 11"/>
          <p:cNvSpPr/>
          <p:nvPr/>
        </p:nvSpPr>
        <p:spPr>
          <a:xfrm>
            <a:off x="777240" y="5897880"/>
            <a:ext cx="10607040" cy="457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1"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La unanimidad en la respuesta deseable, contra el contexto de 435 quejas Profeco y 3.8 de rating App Store, sugiere posible auto-percepción positiva. Validar en vivo con ejemplos concretos.</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Shape 12"/>
          <p:cNvSpPr/>
          <p:nvPr/>
        </p:nvSpPr>
        <p:spPr>
          <a:xfrm>
            <a:off x="548640" y="6400800"/>
            <a:ext cx="118872" cy="118872"/>
          </a:xfrm>
          <a:prstGeom prst="ellipse">
            <a:avLst/>
          </a:prstGeom>
          <a:solidFill>
            <a:srgbClr val="EC008C"/>
          </a:solidFill>
          <a:ln w="12700">
            <a:solidFill>
              <a:srgbClr val="EC008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Text 13"/>
          <p:cNvSpPr/>
          <p:nvPr/>
        </p:nvSpPr>
        <p:spPr>
          <a:xfrm>
            <a:off x="777240" y="6355080"/>
            <a:ext cx="6400800" cy="2286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0" cap="none" spc="400" normalizeH="0" baseline="0" noProof="0" dirty="0">
                <a:ln>
                  <a:noFill/>
                </a:ln>
                <a:solidFill>
                  <a:srgbClr val="FFFFFF"/>
                </a:solidFill>
                <a:effectLst/>
                <a:uLnTx/>
                <a:uFillTx/>
                <a:latin typeface="Calibri" pitchFamily="34" charset="0"/>
                <a:ea typeface="Calibri" pitchFamily="34" charset="-122"/>
                <a:cs typeface="Calibri" pitchFamily="34" charset="-120"/>
              </a:rPr>
              <a:t>FINAL UPGRADE AI  ·  RESULTADOS DEL CUESTIONARIO</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Text 14"/>
          <p:cNvSpPr/>
          <p:nvPr/>
        </p:nvSpPr>
        <p:spPr>
          <a:xfrm>
            <a:off x="11002975" y="6355080"/>
            <a:ext cx="640080" cy="22860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B8B8C5"/>
                </a:solidFill>
                <a:effectLst/>
                <a:uLnTx/>
                <a:uFillTx/>
                <a:latin typeface="Calibri" pitchFamily="34" charset="0"/>
                <a:ea typeface="Calibri" pitchFamily="34" charset="-122"/>
                <a:cs typeface="Calibri" pitchFamily="34" charset="-120"/>
              </a:rPr>
              <a:t>05 / 14</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F0F1B"/>
        </a:solidFill>
        <a:effectLst/>
      </p:bgPr>
    </p:bg>
    <p:spTree>
      <p:nvGrpSpPr>
        <p:cNvPr id="1" name=""/>
        <p:cNvGrpSpPr/>
        <p:nvPr/>
      </p:nvGrpSpPr>
      <p:grpSpPr>
        <a:xfrm>
          <a:off x="0" y="0"/>
          <a:ext cx="0" cy="0"/>
          <a:chOff x="0" y="0"/>
          <a:chExt cx="0" cy="0"/>
        </a:xfrm>
      </p:grpSpPr>
      <p:sp>
        <p:nvSpPr>
          <p:cNvPr id="2" name="Text 0"/>
          <p:cNvSpPr/>
          <p:nvPr/>
        </p:nvSpPr>
        <p:spPr>
          <a:xfrm>
            <a:off x="548640" y="411480"/>
            <a:ext cx="73152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600" normalizeH="0" baseline="0" noProof="0" dirty="0">
                <a:ln>
                  <a:noFill/>
                </a:ln>
                <a:solidFill>
                  <a:srgbClr val="EC008C"/>
                </a:solidFill>
                <a:effectLst/>
                <a:uLnTx/>
                <a:uFillTx/>
                <a:latin typeface="Calibri" pitchFamily="34" charset="0"/>
                <a:ea typeface="Calibri" pitchFamily="34" charset="-122"/>
                <a:cs typeface="Calibri" pitchFamily="34" charset="-120"/>
              </a:rPr>
              <a:t>LA OBJECIÓN QUE NO SABEN RESPONDER · RESPUESTAS LITERALES</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3" name="Image 0" descr="/home/claude/sw_pres/sw_logo_transparent.png"/>
          <p:cNvPicPr>
            <a:picLocks noChangeAspect="1"/>
          </p:cNvPicPr>
          <p:nvPr/>
        </p:nvPicPr>
        <p:blipFill>
          <a:blip r:embed="rId3"/>
          <a:stretch>
            <a:fillRect/>
          </a:stretch>
        </p:blipFill>
        <p:spPr>
          <a:xfrm>
            <a:off x="11094415" y="228600"/>
            <a:ext cx="777240" cy="777240"/>
          </a:xfrm>
          <a:prstGeom prst="rect">
            <a:avLst/>
          </a:prstGeom>
        </p:spPr>
      </p:pic>
      <p:sp>
        <p:nvSpPr>
          <p:cNvPr id="4" name="Shape 1"/>
          <p:cNvSpPr/>
          <p:nvPr/>
        </p:nvSpPr>
        <p:spPr>
          <a:xfrm>
            <a:off x="548640" y="1005840"/>
            <a:ext cx="9997135" cy="0"/>
          </a:xfrm>
          <a:prstGeom prst="line">
            <a:avLst/>
          </a:prstGeom>
          <a:noFill/>
          <a:ln w="12700">
            <a:solidFill>
              <a:srgbClr val="EC008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Shape 2"/>
          <p:cNvSpPr/>
          <p:nvPr/>
        </p:nvSpPr>
        <p:spPr>
          <a:xfrm>
            <a:off x="548640" y="1371600"/>
            <a:ext cx="1280160" cy="411480"/>
          </a:xfrm>
          <a:prstGeom prst="roundRect">
            <a:avLst>
              <a:gd name="adj" fmla="val 50000"/>
            </a:avLst>
          </a:prstGeom>
          <a:solidFill>
            <a:srgbClr val="EC008C"/>
          </a:solidFill>
          <a:ln w="12700">
            <a:solidFill>
              <a:srgbClr val="EC008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 3"/>
          <p:cNvSpPr/>
          <p:nvPr/>
        </p:nvSpPr>
        <p:spPr>
          <a:xfrm>
            <a:off x="548640" y="1371600"/>
            <a:ext cx="1280160" cy="41148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400" normalizeH="0" baseline="0" noProof="0" dirty="0">
                <a:ln>
                  <a:noFill/>
                </a:ln>
                <a:solidFill>
                  <a:srgbClr val="FFFFFF"/>
                </a:solidFill>
                <a:effectLst/>
                <a:uLnTx/>
                <a:uFillTx/>
                <a:latin typeface="Calibri" pitchFamily="34" charset="0"/>
                <a:ea typeface="Calibri" pitchFamily="34" charset="-122"/>
                <a:cs typeface="Calibri" pitchFamily="34" charset="-120"/>
              </a:rPr>
              <a:t>QUOTES</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4"/>
          <p:cNvSpPr/>
          <p:nvPr/>
        </p:nvSpPr>
        <p:spPr>
          <a:xfrm>
            <a:off x="548640" y="2011680"/>
            <a:ext cx="10972800" cy="9144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Comparación vs competencia es el patrón</a:t>
            </a:r>
            <a:endParaRPr kumimoji="0" lang="en-US" sz="3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5"/>
          <p:cNvSpPr/>
          <p:nvPr/>
        </p:nvSpPr>
        <p:spPr>
          <a:xfrm>
            <a:off x="548640" y="2971800"/>
            <a:ext cx="1097280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1" u="none" strike="noStrike" kern="1200" cap="none" spc="0" normalizeH="0" baseline="0" noProof="0" dirty="0">
                <a:ln>
                  <a:noFill/>
                </a:ln>
                <a:solidFill>
                  <a:srgbClr val="EC008C"/>
                </a:solidFill>
                <a:effectLst/>
                <a:uLnTx/>
                <a:uFillTx/>
                <a:latin typeface="Calibri" pitchFamily="34" charset="0"/>
                <a:ea typeface="Calibri" pitchFamily="34" charset="-122"/>
                <a:cs typeface="Calibri" pitchFamily="34" charset="-120"/>
              </a:rPr>
              <a:t>Los 3 mencionan el precio frente a alternativas más baratas. No saben articular el valor del ecosistema.</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Shape 6"/>
          <p:cNvSpPr/>
          <p:nvPr/>
        </p:nvSpPr>
        <p:spPr>
          <a:xfrm>
            <a:off x="548640" y="3429000"/>
            <a:ext cx="5486400" cy="0"/>
          </a:xfrm>
          <a:prstGeom prst="line">
            <a:avLst/>
          </a:prstGeom>
          <a:noFill/>
          <a:ln w="12700">
            <a:solidFill>
              <a:srgbClr val="EC008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Shape 7"/>
          <p:cNvSpPr/>
          <p:nvPr/>
        </p:nvSpPr>
        <p:spPr>
          <a:xfrm>
            <a:off x="548640" y="3840480"/>
            <a:ext cx="11064240" cy="777240"/>
          </a:xfrm>
          <a:prstGeom prst="rect">
            <a:avLst/>
          </a:prstGeom>
          <a:solidFill>
            <a:srgbClr val="1A1A28"/>
          </a:solidFill>
          <a:ln w="6350">
            <a:solidFill>
              <a:srgbClr val="333344"/>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Shape 8"/>
          <p:cNvSpPr/>
          <p:nvPr/>
        </p:nvSpPr>
        <p:spPr>
          <a:xfrm>
            <a:off x="548640" y="3840480"/>
            <a:ext cx="73152" cy="777240"/>
          </a:xfrm>
          <a:prstGeom prst="rect">
            <a:avLst/>
          </a:prstGeom>
          <a:solidFill>
            <a:srgbClr val="EC008C"/>
          </a:solidFill>
          <a:ln w="12700">
            <a:solidFill>
              <a:srgbClr val="EC008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Text 9"/>
          <p:cNvSpPr/>
          <p:nvPr/>
        </p:nvSpPr>
        <p:spPr>
          <a:xfrm>
            <a:off x="777240" y="3931920"/>
            <a:ext cx="13716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400" normalizeH="0" baseline="0" noProof="0" dirty="0">
                <a:ln>
                  <a:noFill/>
                </a:ln>
                <a:solidFill>
                  <a:srgbClr val="EC008C"/>
                </a:solidFill>
                <a:effectLst/>
                <a:uLnTx/>
                <a:uFillTx/>
                <a:latin typeface="Calibri" pitchFamily="34" charset="0"/>
                <a:ea typeface="Calibri" pitchFamily="34" charset="-122"/>
                <a:cs typeface="Calibri" pitchFamily="34" charset="-120"/>
              </a:rPr>
              <a:t>GERARDO</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Text 10"/>
          <p:cNvSpPr/>
          <p:nvPr/>
        </p:nvSpPr>
        <p:spPr>
          <a:xfrm>
            <a:off x="777240" y="4160520"/>
            <a:ext cx="10972800" cy="4572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1"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"La comparación vs competencia. No se argumenta el valor de la oferta deportiva, equipo e instalaciones."</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Shape 11"/>
          <p:cNvSpPr/>
          <p:nvPr/>
        </p:nvSpPr>
        <p:spPr>
          <a:xfrm>
            <a:off x="548640" y="4709160"/>
            <a:ext cx="11064240" cy="777240"/>
          </a:xfrm>
          <a:prstGeom prst="rect">
            <a:avLst/>
          </a:prstGeom>
          <a:solidFill>
            <a:srgbClr val="1A1A28"/>
          </a:solidFill>
          <a:ln w="6350">
            <a:solidFill>
              <a:srgbClr val="333344"/>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 name="Shape 12"/>
          <p:cNvSpPr/>
          <p:nvPr/>
        </p:nvSpPr>
        <p:spPr>
          <a:xfrm>
            <a:off x="548640" y="4709160"/>
            <a:ext cx="73152" cy="777240"/>
          </a:xfrm>
          <a:prstGeom prst="rect">
            <a:avLst/>
          </a:prstGeom>
          <a:solidFill>
            <a:srgbClr val="EC008C"/>
          </a:solidFill>
          <a:ln w="12700">
            <a:solidFill>
              <a:srgbClr val="EC008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Text 13"/>
          <p:cNvSpPr/>
          <p:nvPr/>
        </p:nvSpPr>
        <p:spPr>
          <a:xfrm>
            <a:off x="777240" y="4800600"/>
            <a:ext cx="13716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400" normalizeH="0" baseline="0" noProof="0" dirty="0">
                <a:ln>
                  <a:noFill/>
                </a:ln>
                <a:solidFill>
                  <a:srgbClr val="EC008C"/>
                </a:solidFill>
                <a:effectLst/>
                <a:uLnTx/>
                <a:uFillTx/>
                <a:latin typeface="Calibri" pitchFamily="34" charset="0"/>
                <a:ea typeface="Calibri" pitchFamily="34" charset="-122"/>
                <a:cs typeface="Calibri" pitchFamily="34" charset="-120"/>
              </a:rPr>
              <a:t>JONATHAN</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Text 14"/>
          <p:cNvSpPr/>
          <p:nvPr/>
        </p:nvSpPr>
        <p:spPr>
          <a:xfrm>
            <a:off x="777240" y="5029200"/>
            <a:ext cx="10972800" cy="4572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1"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"Hay más gimnasios que tienen equipos más nuevos y son más económicos y como yo no uso toda la demás oferta, pues el precio se me hace elevado."</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Shape 15"/>
          <p:cNvSpPr/>
          <p:nvPr/>
        </p:nvSpPr>
        <p:spPr>
          <a:xfrm>
            <a:off x="548640" y="5577840"/>
            <a:ext cx="11064240" cy="777240"/>
          </a:xfrm>
          <a:prstGeom prst="rect">
            <a:avLst/>
          </a:prstGeom>
          <a:solidFill>
            <a:srgbClr val="1A1A28"/>
          </a:solidFill>
          <a:ln w="6350">
            <a:solidFill>
              <a:srgbClr val="333344"/>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 name="Shape 16"/>
          <p:cNvSpPr/>
          <p:nvPr/>
        </p:nvSpPr>
        <p:spPr>
          <a:xfrm>
            <a:off x="548640" y="5577840"/>
            <a:ext cx="73152" cy="777240"/>
          </a:xfrm>
          <a:prstGeom prst="rect">
            <a:avLst/>
          </a:prstGeom>
          <a:solidFill>
            <a:srgbClr val="EC008C"/>
          </a:solidFill>
          <a:ln w="12700">
            <a:solidFill>
              <a:srgbClr val="EC008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Text 17"/>
          <p:cNvSpPr/>
          <p:nvPr/>
        </p:nvSpPr>
        <p:spPr>
          <a:xfrm>
            <a:off x="777240" y="5669280"/>
            <a:ext cx="13716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400" normalizeH="0" baseline="0" noProof="0" dirty="0">
                <a:ln>
                  <a:noFill/>
                </a:ln>
                <a:solidFill>
                  <a:srgbClr val="EC008C"/>
                </a:solidFill>
                <a:effectLst/>
                <a:uLnTx/>
                <a:uFillTx/>
                <a:latin typeface="Calibri" pitchFamily="34" charset="0"/>
                <a:ea typeface="Calibri" pitchFamily="34" charset="-122"/>
                <a:cs typeface="Calibri" pitchFamily="34" charset="-120"/>
              </a:rPr>
              <a:t>MARIO</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Text 18"/>
          <p:cNvSpPr/>
          <p:nvPr/>
        </p:nvSpPr>
        <p:spPr>
          <a:xfrm>
            <a:off x="777240" y="5897880"/>
            <a:ext cx="10972800" cy="4572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1"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"Que el precio está muy alto en comparación con otras opciones más asequibles."</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Shape 19"/>
          <p:cNvSpPr/>
          <p:nvPr/>
        </p:nvSpPr>
        <p:spPr>
          <a:xfrm>
            <a:off x="548640" y="6400800"/>
            <a:ext cx="118872" cy="118872"/>
          </a:xfrm>
          <a:prstGeom prst="ellipse">
            <a:avLst/>
          </a:prstGeom>
          <a:solidFill>
            <a:srgbClr val="EC008C"/>
          </a:solidFill>
          <a:ln w="12700">
            <a:solidFill>
              <a:srgbClr val="EC008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 name="Text 20"/>
          <p:cNvSpPr/>
          <p:nvPr/>
        </p:nvSpPr>
        <p:spPr>
          <a:xfrm>
            <a:off x="777240" y="6355080"/>
            <a:ext cx="6400800" cy="2286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0" cap="none" spc="400" normalizeH="0" baseline="0" noProof="0" dirty="0">
                <a:ln>
                  <a:noFill/>
                </a:ln>
                <a:solidFill>
                  <a:srgbClr val="FFFFFF"/>
                </a:solidFill>
                <a:effectLst/>
                <a:uLnTx/>
                <a:uFillTx/>
                <a:latin typeface="Calibri" pitchFamily="34" charset="0"/>
                <a:ea typeface="Calibri" pitchFamily="34" charset="-122"/>
                <a:cs typeface="Calibri" pitchFamily="34" charset="-120"/>
              </a:rPr>
              <a:t>FINAL UPGRADE AI  ·  RESULTADOS DEL CUESTIONARIO</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4" name="Text 21"/>
          <p:cNvSpPr/>
          <p:nvPr/>
        </p:nvSpPr>
        <p:spPr>
          <a:xfrm>
            <a:off x="11002975" y="6355080"/>
            <a:ext cx="640080" cy="22860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B8B8C5"/>
                </a:solidFill>
                <a:effectLst/>
                <a:uLnTx/>
                <a:uFillTx/>
                <a:latin typeface="Calibri" pitchFamily="34" charset="0"/>
                <a:ea typeface="Calibri" pitchFamily="34" charset="-122"/>
                <a:cs typeface="Calibri" pitchFamily="34" charset="-120"/>
              </a:rPr>
              <a:t>06 / 14</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F0F1B"/>
        </a:solidFill>
        <a:effectLst/>
      </p:bgPr>
    </p:bg>
    <p:spTree>
      <p:nvGrpSpPr>
        <p:cNvPr id="1" name=""/>
        <p:cNvGrpSpPr/>
        <p:nvPr/>
      </p:nvGrpSpPr>
      <p:grpSpPr>
        <a:xfrm>
          <a:off x="0" y="0"/>
          <a:ext cx="0" cy="0"/>
          <a:chOff x="0" y="0"/>
          <a:chExt cx="0" cy="0"/>
        </a:xfrm>
      </p:grpSpPr>
      <p:sp>
        <p:nvSpPr>
          <p:cNvPr id="2" name="Text 0"/>
          <p:cNvSpPr/>
          <p:nvPr/>
        </p:nvSpPr>
        <p:spPr>
          <a:xfrm>
            <a:off x="548640" y="411480"/>
            <a:ext cx="73152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600" normalizeH="0" baseline="0" noProof="0" dirty="0">
                <a:ln>
                  <a:noFill/>
                </a:ln>
                <a:solidFill>
                  <a:srgbClr val="EC008C"/>
                </a:solidFill>
                <a:effectLst/>
                <a:uLnTx/>
                <a:uFillTx/>
                <a:latin typeface="Calibri" pitchFamily="34" charset="0"/>
                <a:ea typeface="Calibri" pitchFamily="34" charset="-122"/>
                <a:cs typeface="Calibri" pitchFamily="34" charset="-120"/>
              </a:rPr>
              <a:t>HERRAMIENTAS DE CAPACITACIÓN Y SOPORTE QUE MÁS FALTAN</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3" name="Image 0" descr="/home/claude/sw_pres/sw_logo_transparent.png"/>
          <p:cNvPicPr>
            <a:picLocks noChangeAspect="1"/>
          </p:cNvPicPr>
          <p:nvPr/>
        </p:nvPicPr>
        <p:blipFill>
          <a:blip r:embed="rId3"/>
          <a:stretch>
            <a:fillRect/>
          </a:stretch>
        </p:blipFill>
        <p:spPr>
          <a:xfrm>
            <a:off x="11094415" y="228600"/>
            <a:ext cx="777240" cy="777240"/>
          </a:xfrm>
          <a:prstGeom prst="rect">
            <a:avLst/>
          </a:prstGeom>
        </p:spPr>
      </p:pic>
      <p:sp>
        <p:nvSpPr>
          <p:cNvPr id="4" name="Shape 1"/>
          <p:cNvSpPr/>
          <p:nvPr/>
        </p:nvSpPr>
        <p:spPr>
          <a:xfrm>
            <a:off x="548640" y="1005840"/>
            <a:ext cx="9997135" cy="0"/>
          </a:xfrm>
          <a:prstGeom prst="line">
            <a:avLst/>
          </a:prstGeom>
          <a:noFill/>
          <a:ln w="12700">
            <a:solidFill>
              <a:srgbClr val="EC008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Shape 2"/>
          <p:cNvSpPr/>
          <p:nvPr/>
        </p:nvSpPr>
        <p:spPr>
          <a:xfrm>
            <a:off x="548640" y="1371600"/>
            <a:ext cx="1737360" cy="411480"/>
          </a:xfrm>
          <a:prstGeom prst="roundRect">
            <a:avLst>
              <a:gd name="adj" fmla="val 50000"/>
            </a:avLst>
          </a:prstGeom>
          <a:solidFill>
            <a:srgbClr val="EC008C"/>
          </a:solidFill>
          <a:ln w="12700">
            <a:solidFill>
              <a:srgbClr val="EC008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 3"/>
          <p:cNvSpPr/>
          <p:nvPr/>
        </p:nvSpPr>
        <p:spPr>
          <a:xfrm>
            <a:off x="548640" y="1371600"/>
            <a:ext cx="1737360" cy="41148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400" normalizeH="0" baseline="0" noProof="0" dirty="0">
                <a:ln>
                  <a:noFill/>
                </a:ln>
                <a:solidFill>
                  <a:srgbClr val="FFFFFF"/>
                </a:solidFill>
                <a:effectLst/>
                <a:uLnTx/>
                <a:uFillTx/>
                <a:latin typeface="Calibri" pitchFamily="34" charset="0"/>
                <a:ea typeface="Calibri" pitchFamily="34" charset="-122"/>
                <a:cs typeface="Calibri" pitchFamily="34" charset="-120"/>
              </a:rPr>
              <a:t>HERRAMIENTAS</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4"/>
          <p:cNvSpPr/>
          <p:nvPr/>
        </p:nvSpPr>
        <p:spPr>
          <a:xfrm>
            <a:off x="548640" y="2011680"/>
            <a:ext cx="10972800" cy="9144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4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Guion de discovery es la prioridad #1 unánime</a:t>
            </a:r>
            <a:endParaRPr kumimoji="0" lang="en-US" sz="3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5"/>
          <p:cNvSpPr/>
          <p:nvPr/>
        </p:nvSpPr>
        <p:spPr>
          <a:xfrm>
            <a:off x="548640" y="2971800"/>
            <a:ext cx="1097280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1" u="none" strike="noStrike" kern="1200" cap="none" spc="0" normalizeH="0" baseline="0" noProof="0" dirty="0">
                <a:ln>
                  <a:noFill/>
                </a:ln>
                <a:solidFill>
                  <a:srgbClr val="EC008C"/>
                </a:solidFill>
                <a:effectLst/>
                <a:uLnTx/>
                <a:uFillTx/>
                <a:latin typeface="Calibri" pitchFamily="34" charset="0"/>
                <a:ea typeface="Calibri" pitchFamily="34" charset="-122"/>
                <a:cs typeface="Calibri" pitchFamily="34" charset="-120"/>
              </a:rPr>
              <a:t>Lo que más le falta al equipo, según los 3 líderes</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Shape 6"/>
          <p:cNvSpPr/>
          <p:nvPr/>
        </p:nvSpPr>
        <p:spPr>
          <a:xfrm>
            <a:off x="548640" y="3429000"/>
            <a:ext cx="5486400" cy="0"/>
          </a:xfrm>
          <a:prstGeom prst="line">
            <a:avLst/>
          </a:prstGeom>
          <a:noFill/>
          <a:ln w="12700">
            <a:solidFill>
              <a:srgbClr val="EC008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Shape 7"/>
          <p:cNvSpPr/>
          <p:nvPr/>
        </p:nvSpPr>
        <p:spPr>
          <a:xfrm>
            <a:off x="548640" y="3794760"/>
            <a:ext cx="9601200" cy="320040"/>
          </a:xfrm>
          <a:prstGeom prst="rect">
            <a:avLst/>
          </a:prstGeom>
          <a:solidFill>
            <a:srgbClr val="1A1A28"/>
          </a:solidFill>
          <a:ln w="6350">
            <a:solidFill>
              <a:srgbClr val="333344"/>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Shape 8"/>
          <p:cNvSpPr/>
          <p:nvPr/>
        </p:nvSpPr>
        <p:spPr>
          <a:xfrm>
            <a:off x="548640" y="3794760"/>
            <a:ext cx="9601200" cy="320040"/>
          </a:xfrm>
          <a:prstGeom prst="rect">
            <a:avLst/>
          </a:prstGeom>
          <a:solidFill>
            <a:srgbClr val="EC008C"/>
          </a:solidFill>
          <a:ln w="12700">
            <a:solidFill>
              <a:srgbClr val="EC008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Text 9"/>
          <p:cNvSpPr/>
          <p:nvPr/>
        </p:nvSpPr>
        <p:spPr>
          <a:xfrm>
            <a:off x="777240" y="3794760"/>
            <a:ext cx="914400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Guion estructurado de discovery con preguntas por arquetipo</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Text 10"/>
          <p:cNvSpPr/>
          <p:nvPr/>
        </p:nvSpPr>
        <p:spPr>
          <a:xfrm>
            <a:off x="10332720" y="3794760"/>
            <a:ext cx="91440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EC008C"/>
                </a:solidFill>
                <a:effectLst/>
                <a:uLnTx/>
                <a:uFillTx/>
                <a:latin typeface="Calibri" pitchFamily="34" charset="0"/>
                <a:ea typeface="Calibri" pitchFamily="34" charset="-122"/>
                <a:cs typeface="Calibri" pitchFamily="34" charset="-120"/>
              </a:rPr>
              <a:t>3/3</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Shape 11"/>
          <p:cNvSpPr/>
          <p:nvPr/>
        </p:nvSpPr>
        <p:spPr>
          <a:xfrm>
            <a:off x="548640" y="4206240"/>
            <a:ext cx="9601200" cy="320040"/>
          </a:xfrm>
          <a:prstGeom prst="rect">
            <a:avLst/>
          </a:prstGeom>
          <a:solidFill>
            <a:srgbClr val="1A1A28"/>
          </a:solidFill>
          <a:ln w="6350">
            <a:solidFill>
              <a:srgbClr val="333344"/>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 name="Shape 12"/>
          <p:cNvSpPr/>
          <p:nvPr/>
        </p:nvSpPr>
        <p:spPr>
          <a:xfrm>
            <a:off x="548640" y="4206240"/>
            <a:ext cx="6400800" cy="320040"/>
          </a:xfrm>
          <a:prstGeom prst="rect">
            <a:avLst/>
          </a:prstGeom>
          <a:solidFill>
            <a:srgbClr val="9F0061"/>
          </a:solidFill>
          <a:ln w="12700">
            <a:solidFill>
              <a:srgbClr val="9F0061"/>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Text 13"/>
          <p:cNvSpPr/>
          <p:nvPr/>
        </p:nvSpPr>
        <p:spPr>
          <a:xfrm>
            <a:off x="777240" y="4206240"/>
            <a:ext cx="914400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Protocolo de seguimiento de hito al nuevo socio en sus 90 días</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Text 14"/>
          <p:cNvSpPr/>
          <p:nvPr/>
        </p:nvSpPr>
        <p:spPr>
          <a:xfrm>
            <a:off x="10332720" y="4206240"/>
            <a:ext cx="91440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EC008C"/>
                </a:solidFill>
                <a:effectLst/>
                <a:uLnTx/>
                <a:uFillTx/>
                <a:latin typeface="Calibri" pitchFamily="34" charset="0"/>
                <a:ea typeface="Calibri" pitchFamily="34" charset="-122"/>
                <a:cs typeface="Calibri" pitchFamily="34" charset="-120"/>
              </a:rPr>
              <a:t>2/3</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Shape 15"/>
          <p:cNvSpPr/>
          <p:nvPr/>
        </p:nvSpPr>
        <p:spPr>
          <a:xfrm>
            <a:off x="548640" y="4617720"/>
            <a:ext cx="9601200" cy="320040"/>
          </a:xfrm>
          <a:prstGeom prst="rect">
            <a:avLst/>
          </a:prstGeom>
          <a:solidFill>
            <a:srgbClr val="1A1A28"/>
          </a:solidFill>
          <a:ln w="6350">
            <a:solidFill>
              <a:srgbClr val="333344"/>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 name="Shape 16"/>
          <p:cNvSpPr/>
          <p:nvPr/>
        </p:nvSpPr>
        <p:spPr>
          <a:xfrm>
            <a:off x="548640" y="4617720"/>
            <a:ext cx="3200400" cy="320040"/>
          </a:xfrm>
          <a:prstGeom prst="rect">
            <a:avLst/>
          </a:prstGeom>
          <a:solidFill>
            <a:srgbClr val="5F0040"/>
          </a:solidFill>
          <a:ln w="12700">
            <a:solidFill>
              <a:srgbClr val="5F004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Text 17"/>
          <p:cNvSpPr/>
          <p:nvPr/>
        </p:nvSpPr>
        <p:spPr>
          <a:xfrm>
            <a:off x="777240" y="4617720"/>
            <a:ext cx="914400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Casos de éxito de miembros reales para storytelling</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Text 18"/>
          <p:cNvSpPr/>
          <p:nvPr/>
        </p:nvSpPr>
        <p:spPr>
          <a:xfrm>
            <a:off x="10332720" y="4617720"/>
            <a:ext cx="91440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EC008C"/>
                </a:solidFill>
                <a:effectLst/>
                <a:uLnTx/>
                <a:uFillTx/>
                <a:latin typeface="Calibri" pitchFamily="34" charset="0"/>
                <a:ea typeface="Calibri" pitchFamily="34" charset="-122"/>
                <a:cs typeface="Calibri" pitchFamily="34" charset="-120"/>
              </a:rPr>
              <a:t>1/3</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Shape 19"/>
          <p:cNvSpPr/>
          <p:nvPr/>
        </p:nvSpPr>
        <p:spPr>
          <a:xfrm>
            <a:off x="548640" y="5029200"/>
            <a:ext cx="9601200" cy="320040"/>
          </a:xfrm>
          <a:prstGeom prst="rect">
            <a:avLst/>
          </a:prstGeom>
          <a:solidFill>
            <a:srgbClr val="1A1A28"/>
          </a:solidFill>
          <a:ln w="6350">
            <a:solidFill>
              <a:srgbClr val="333344"/>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 name="Shape 20"/>
          <p:cNvSpPr/>
          <p:nvPr/>
        </p:nvSpPr>
        <p:spPr>
          <a:xfrm>
            <a:off x="548640" y="5029200"/>
            <a:ext cx="3200400" cy="320040"/>
          </a:xfrm>
          <a:prstGeom prst="rect">
            <a:avLst/>
          </a:prstGeom>
          <a:solidFill>
            <a:srgbClr val="5F0040"/>
          </a:solidFill>
          <a:ln w="12700">
            <a:solidFill>
              <a:srgbClr val="5F004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 name="Text 21"/>
          <p:cNvSpPr/>
          <p:nvPr/>
        </p:nvSpPr>
        <p:spPr>
          <a:xfrm>
            <a:off x="777240" y="5029200"/>
            <a:ext cx="914400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Banco de respuestas a objeciones precargado y practicado</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Text 22"/>
          <p:cNvSpPr/>
          <p:nvPr/>
        </p:nvSpPr>
        <p:spPr>
          <a:xfrm>
            <a:off x="10332720" y="5029200"/>
            <a:ext cx="91440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EC008C"/>
                </a:solidFill>
                <a:effectLst/>
                <a:uLnTx/>
                <a:uFillTx/>
                <a:latin typeface="Calibri" pitchFamily="34" charset="0"/>
                <a:ea typeface="Calibri" pitchFamily="34" charset="-122"/>
                <a:cs typeface="Calibri" pitchFamily="34" charset="-120"/>
              </a:rPr>
              <a:t>1/3</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6" name="Shape 23"/>
          <p:cNvSpPr/>
          <p:nvPr/>
        </p:nvSpPr>
        <p:spPr>
          <a:xfrm>
            <a:off x="548640" y="5440680"/>
            <a:ext cx="9601200" cy="320040"/>
          </a:xfrm>
          <a:prstGeom prst="rect">
            <a:avLst/>
          </a:prstGeom>
          <a:solidFill>
            <a:srgbClr val="1A1A28"/>
          </a:solidFill>
          <a:ln w="6350">
            <a:solidFill>
              <a:srgbClr val="333344"/>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 name="Shape 24"/>
          <p:cNvSpPr/>
          <p:nvPr/>
        </p:nvSpPr>
        <p:spPr>
          <a:xfrm>
            <a:off x="548640" y="5440680"/>
            <a:ext cx="3200400" cy="320040"/>
          </a:xfrm>
          <a:prstGeom prst="rect">
            <a:avLst/>
          </a:prstGeom>
          <a:solidFill>
            <a:srgbClr val="5F0040"/>
          </a:solidFill>
          <a:ln w="12700">
            <a:solidFill>
              <a:srgbClr val="5F004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8" name="Text 25"/>
          <p:cNvSpPr/>
          <p:nvPr/>
        </p:nvSpPr>
        <p:spPr>
          <a:xfrm>
            <a:off x="777240" y="5440680"/>
            <a:ext cx="914400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Material de venta en lenguaje de longevidad</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9" name="Text 26"/>
          <p:cNvSpPr/>
          <p:nvPr/>
        </p:nvSpPr>
        <p:spPr>
          <a:xfrm>
            <a:off x="10332720" y="5440680"/>
            <a:ext cx="91440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EC008C"/>
                </a:solidFill>
                <a:effectLst/>
                <a:uLnTx/>
                <a:uFillTx/>
                <a:latin typeface="Calibri" pitchFamily="34" charset="0"/>
                <a:ea typeface="Calibri" pitchFamily="34" charset="-122"/>
                <a:cs typeface="Calibri" pitchFamily="34" charset="-120"/>
              </a:rPr>
              <a:t>1/3</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0" name="Shape 27"/>
          <p:cNvSpPr/>
          <p:nvPr/>
        </p:nvSpPr>
        <p:spPr>
          <a:xfrm>
            <a:off x="548640" y="5852160"/>
            <a:ext cx="9601200" cy="320040"/>
          </a:xfrm>
          <a:prstGeom prst="rect">
            <a:avLst/>
          </a:prstGeom>
          <a:solidFill>
            <a:srgbClr val="1A1A28"/>
          </a:solidFill>
          <a:ln w="6350">
            <a:solidFill>
              <a:srgbClr val="333344"/>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1" name="Shape 28"/>
          <p:cNvSpPr/>
          <p:nvPr/>
        </p:nvSpPr>
        <p:spPr>
          <a:xfrm>
            <a:off x="548640" y="5852160"/>
            <a:ext cx="3200400" cy="320040"/>
          </a:xfrm>
          <a:prstGeom prst="rect">
            <a:avLst/>
          </a:prstGeom>
          <a:solidFill>
            <a:srgbClr val="5F0040"/>
          </a:solidFill>
          <a:ln w="12700">
            <a:solidFill>
              <a:srgbClr val="5F004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2" name="Text 29"/>
          <p:cNvSpPr/>
          <p:nvPr/>
        </p:nvSpPr>
        <p:spPr>
          <a:xfrm>
            <a:off x="777240" y="5852160"/>
            <a:ext cx="914400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Métricas de su propio desempeño individual y comparativo</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3" name="Text 30"/>
          <p:cNvSpPr/>
          <p:nvPr/>
        </p:nvSpPr>
        <p:spPr>
          <a:xfrm>
            <a:off x="10332720" y="5852160"/>
            <a:ext cx="91440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EC008C"/>
                </a:solidFill>
                <a:effectLst/>
                <a:uLnTx/>
                <a:uFillTx/>
                <a:latin typeface="Calibri" pitchFamily="34" charset="0"/>
                <a:ea typeface="Calibri" pitchFamily="34" charset="-122"/>
                <a:cs typeface="Calibri" pitchFamily="34" charset="-120"/>
              </a:rPr>
              <a:t>1/3</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4" name="Shape 31"/>
          <p:cNvSpPr/>
          <p:nvPr/>
        </p:nvSpPr>
        <p:spPr>
          <a:xfrm>
            <a:off x="548640" y="6400800"/>
            <a:ext cx="118872" cy="118872"/>
          </a:xfrm>
          <a:prstGeom prst="ellipse">
            <a:avLst/>
          </a:prstGeom>
          <a:solidFill>
            <a:srgbClr val="EC008C"/>
          </a:solidFill>
          <a:ln w="12700">
            <a:solidFill>
              <a:srgbClr val="EC008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5" name="Text 32"/>
          <p:cNvSpPr/>
          <p:nvPr/>
        </p:nvSpPr>
        <p:spPr>
          <a:xfrm>
            <a:off x="777240" y="6355080"/>
            <a:ext cx="6400800" cy="2286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0" cap="none" spc="400" normalizeH="0" baseline="0" noProof="0" dirty="0">
                <a:ln>
                  <a:noFill/>
                </a:ln>
                <a:solidFill>
                  <a:srgbClr val="FFFFFF"/>
                </a:solidFill>
                <a:effectLst/>
                <a:uLnTx/>
                <a:uFillTx/>
                <a:latin typeface="Calibri" pitchFamily="34" charset="0"/>
                <a:ea typeface="Calibri" pitchFamily="34" charset="-122"/>
                <a:cs typeface="Calibri" pitchFamily="34" charset="-120"/>
              </a:rPr>
              <a:t>FINAL UPGRADE AI  ·  RESULTADOS DEL CUESTIONARIO</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6" name="Text 33"/>
          <p:cNvSpPr/>
          <p:nvPr/>
        </p:nvSpPr>
        <p:spPr>
          <a:xfrm>
            <a:off x="11002975" y="6355080"/>
            <a:ext cx="640080" cy="22860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B8B8C5"/>
                </a:solidFill>
                <a:effectLst/>
                <a:uLnTx/>
                <a:uFillTx/>
                <a:latin typeface="Calibri" pitchFamily="34" charset="0"/>
                <a:ea typeface="Calibri" pitchFamily="34" charset="-122"/>
                <a:cs typeface="Calibri" pitchFamily="34" charset="-120"/>
              </a:rPr>
              <a:t>07 / 14</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F0F1B"/>
        </a:solidFill>
        <a:effectLst/>
      </p:bgPr>
    </p:bg>
    <p:spTree>
      <p:nvGrpSpPr>
        <p:cNvPr id="1" name=""/>
        <p:cNvGrpSpPr/>
        <p:nvPr/>
      </p:nvGrpSpPr>
      <p:grpSpPr>
        <a:xfrm>
          <a:off x="0" y="0"/>
          <a:ext cx="0" cy="0"/>
          <a:chOff x="0" y="0"/>
          <a:chExt cx="0" cy="0"/>
        </a:xfrm>
      </p:grpSpPr>
      <p:sp>
        <p:nvSpPr>
          <p:cNvPr id="2" name="Text 0"/>
          <p:cNvSpPr/>
          <p:nvPr/>
        </p:nvSpPr>
        <p:spPr>
          <a:xfrm>
            <a:off x="548640" y="411480"/>
            <a:ext cx="73152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600" normalizeH="0" baseline="0" noProof="0" dirty="0">
                <a:ln>
                  <a:noFill/>
                </a:ln>
                <a:solidFill>
                  <a:srgbClr val="EC008C"/>
                </a:solidFill>
                <a:effectLst/>
                <a:uLnTx/>
                <a:uFillTx/>
                <a:latin typeface="Calibri" pitchFamily="34" charset="0"/>
                <a:ea typeface="Calibri" pitchFamily="34" charset="-122"/>
                <a:cs typeface="Calibri" pitchFamily="34" charset="-120"/>
              </a:rPr>
              <a:t>CAPACIDAD DE DEMOSTRAR LA APP SW DURANTE EL CIERRE</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3" name="Image 0" descr="/home/claude/sw_pres/sw_logo_transparent.png"/>
          <p:cNvPicPr>
            <a:picLocks noChangeAspect="1"/>
          </p:cNvPicPr>
          <p:nvPr/>
        </p:nvPicPr>
        <p:blipFill>
          <a:blip r:embed="rId3"/>
          <a:stretch>
            <a:fillRect/>
          </a:stretch>
        </p:blipFill>
        <p:spPr>
          <a:xfrm>
            <a:off x="11094415" y="228600"/>
            <a:ext cx="777240" cy="777240"/>
          </a:xfrm>
          <a:prstGeom prst="rect">
            <a:avLst/>
          </a:prstGeom>
        </p:spPr>
      </p:pic>
      <p:sp>
        <p:nvSpPr>
          <p:cNvPr id="4" name="Shape 1"/>
          <p:cNvSpPr/>
          <p:nvPr/>
        </p:nvSpPr>
        <p:spPr>
          <a:xfrm>
            <a:off x="548640" y="1005840"/>
            <a:ext cx="9997135" cy="0"/>
          </a:xfrm>
          <a:prstGeom prst="line">
            <a:avLst/>
          </a:prstGeom>
          <a:noFill/>
          <a:ln w="12700">
            <a:solidFill>
              <a:srgbClr val="EC008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Shape 2"/>
          <p:cNvSpPr/>
          <p:nvPr/>
        </p:nvSpPr>
        <p:spPr>
          <a:xfrm>
            <a:off x="548640" y="1371600"/>
            <a:ext cx="1280160" cy="411480"/>
          </a:xfrm>
          <a:prstGeom prst="roundRect">
            <a:avLst>
              <a:gd name="adj" fmla="val 50000"/>
            </a:avLst>
          </a:prstGeom>
          <a:solidFill>
            <a:srgbClr val="EC008C"/>
          </a:solidFill>
          <a:ln w="12700">
            <a:solidFill>
              <a:srgbClr val="EC008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 3"/>
          <p:cNvSpPr/>
          <p:nvPr/>
        </p:nvSpPr>
        <p:spPr>
          <a:xfrm>
            <a:off x="548640" y="1371600"/>
            <a:ext cx="1280160" cy="41148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400" normalizeH="0" baseline="0" noProof="0" dirty="0">
                <a:ln>
                  <a:noFill/>
                </a:ln>
                <a:solidFill>
                  <a:srgbClr val="FFFFFF"/>
                </a:solidFill>
                <a:effectLst/>
                <a:uLnTx/>
                <a:uFillTx/>
                <a:latin typeface="Calibri" pitchFamily="34" charset="0"/>
                <a:ea typeface="Calibri" pitchFamily="34" charset="-122"/>
                <a:cs typeface="Calibri" pitchFamily="34" charset="-120"/>
              </a:rPr>
              <a:t>APP SW</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4"/>
          <p:cNvSpPr/>
          <p:nvPr/>
        </p:nvSpPr>
        <p:spPr>
          <a:xfrm>
            <a:off x="548640" y="2011680"/>
            <a:ext cx="10972800" cy="9144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4.3 / 5 promedio · alto</a:t>
            </a:r>
            <a:endParaRPr kumimoji="0" lang="en-US" sz="3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5"/>
          <p:cNvSpPr/>
          <p:nvPr/>
        </p:nvSpPr>
        <p:spPr>
          <a:xfrm>
            <a:off x="548640" y="2971800"/>
            <a:ext cx="1097280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1" u="none" strike="noStrike" kern="1200" cap="none" spc="0" normalizeH="0" baseline="0" noProof="0" dirty="0">
                <a:ln>
                  <a:noFill/>
                </a:ln>
                <a:solidFill>
                  <a:srgbClr val="EC008C"/>
                </a:solidFill>
                <a:effectLst/>
                <a:uLnTx/>
                <a:uFillTx/>
                <a:latin typeface="Calibri" pitchFamily="34" charset="0"/>
                <a:ea typeface="Calibri" pitchFamily="34" charset="-122"/>
                <a:cs typeface="Calibri" pitchFamily="34" charset="-120"/>
              </a:rPr>
              <a:t>Los líderes reportan que el equipo ya domina la demostración de la app en el cierre</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Shape 6"/>
          <p:cNvSpPr/>
          <p:nvPr/>
        </p:nvSpPr>
        <p:spPr>
          <a:xfrm>
            <a:off x="548640" y="3429000"/>
            <a:ext cx="5486400" cy="0"/>
          </a:xfrm>
          <a:prstGeom prst="line">
            <a:avLst/>
          </a:prstGeom>
          <a:noFill/>
          <a:ln w="12700">
            <a:solidFill>
              <a:srgbClr val="EC008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Shape 7"/>
          <p:cNvSpPr/>
          <p:nvPr/>
        </p:nvSpPr>
        <p:spPr>
          <a:xfrm>
            <a:off x="548640" y="3840480"/>
            <a:ext cx="3611880" cy="1737360"/>
          </a:xfrm>
          <a:prstGeom prst="rect">
            <a:avLst/>
          </a:prstGeom>
          <a:solidFill>
            <a:srgbClr val="1A1A28"/>
          </a:solidFill>
          <a:ln w="6350">
            <a:solidFill>
              <a:srgbClr val="333344"/>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Shape 8"/>
          <p:cNvSpPr/>
          <p:nvPr/>
        </p:nvSpPr>
        <p:spPr>
          <a:xfrm>
            <a:off x="548640" y="3840480"/>
            <a:ext cx="3611880" cy="73152"/>
          </a:xfrm>
          <a:prstGeom prst="rect">
            <a:avLst/>
          </a:prstGeom>
          <a:solidFill>
            <a:srgbClr val="EC008C"/>
          </a:solidFill>
          <a:ln w="12700">
            <a:solidFill>
              <a:srgbClr val="EC008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Text 9"/>
          <p:cNvSpPr/>
          <p:nvPr/>
        </p:nvSpPr>
        <p:spPr>
          <a:xfrm>
            <a:off x="822960" y="3977640"/>
            <a:ext cx="32004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400" normalizeH="0" baseline="0" noProof="0" dirty="0">
                <a:ln>
                  <a:noFill/>
                </a:ln>
                <a:solidFill>
                  <a:srgbClr val="EC008C"/>
                </a:solidFill>
                <a:effectLst/>
                <a:uLnTx/>
                <a:uFillTx/>
                <a:latin typeface="Calibri" pitchFamily="34" charset="0"/>
                <a:ea typeface="Calibri" pitchFamily="34" charset="-122"/>
                <a:cs typeface="Calibri" pitchFamily="34" charset="-120"/>
              </a:rPr>
              <a:t>GERARDO</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Text 10"/>
          <p:cNvSpPr/>
          <p:nvPr/>
        </p:nvSpPr>
        <p:spPr>
          <a:xfrm>
            <a:off x="822960" y="4206240"/>
            <a:ext cx="3200400" cy="8229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64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5</a:t>
            </a:r>
            <a:endParaRPr kumimoji="0" lang="en-US" sz="6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Text 11"/>
          <p:cNvSpPr/>
          <p:nvPr/>
        </p:nvSpPr>
        <p:spPr>
          <a:xfrm>
            <a:off x="822960" y="5074920"/>
            <a:ext cx="3200400" cy="457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1" u="none" strike="noStrike" kern="1200" cap="none" spc="0" normalizeH="0" baseline="0" noProof="0" dirty="0">
                <a:ln>
                  <a:noFill/>
                </a:ln>
                <a:solidFill>
                  <a:srgbClr val="B8B8C5"/>
                </a:solidFill>
                <a:effectLst/>
                <a:uLnTx/>
                <a:uFillTx/>
                <a:latin typeface="Calibri" pitchFamily="34" charset="0"/>
                <a:ea typeface="Calibri" pitchFamily="34" charset="-122"/>
                <a:cs typeface="Calibri" pitchFamily="34" charset="-120"/>
              </a:rPr>
              <a:t>La dominan y configuran al socio</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Shape 12"/>
          <p:cNvSpPr/>
          <p:nvPr/>
        </p:nvSpPr>
        <p:spPr>
          <a:xfrm>
            <a:off x="4343400" y="3840480"/>
            <a:ext cx="3611880" cy="1737360"/>
          </a:xfrm>
          <a:prstGeom prst="rect">
            <a:avLst/>
          </a:prstGeom>
          <a:solidFill>
            <a:srgbClr val="1A1A28"/>
          </a:solidFill>
          <a:ln w="6350">
            <a:solidFill>
              <a:srgbClr val="333344"/>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Shape 13"/>
          <p:cNvSpPr/>
          <p:nvPr/>
        </p:nvSpPr>
        <p:spPr>
          <a:xfrm>
            <a:off x="4343400" y="3840480"/>
            <a:ext cx="3611880" cy="73152"/>
          </a:xfrm>
          <a:prstGeom prst="rect">
            <a:avLst/>
          </a:prstGeom>
          <a:solidFill>
            <a:srgbClr val="EC008C"/>
          </a:solidFill>
          <a:ln w="12700">
            <a:solidFill>
              <a:srgbClr val="EC008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Text 14"/>
          <p:cNvSpPr/>
          <p:nvPr/>
        </p:nvSpPr>
        <p:spPr>
          <a:xfrm>
            <a:off x="4617720" y="3977640"/>
            <a:ext cx="32004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400" normalizeH="0" baseline="0" noProof="0" dirty="0">
                <a:ln>
                  <a:noFill/>
                </a:ln>
                <a:solidFill>
                  <a:srgbClr val="EC008C"/>
                </a:solidFill>
                <a:effectLst/>
                <a:uLnTx/>
                <a:uFillTx/>
                <a:latin typeface="Calibri" pitchFamily="34" charset="0"/>
                <a:ea typeface="Calibri" pitchFamily="34" charset="-122"/>
                <a:cs typeface="Calibri" pitchFamily="34" charset="-120"/>
              </a:rPr>
              <a:t>JONATHAN</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Text 15"/>
          <p:cNvSpPr/>
          <p:nvPr/>
        </p:nvSpPr>
        <p:spPr>
          <a:xfrm>
            <a:off x="4617720" y="4206240"/>
            <a:ext cx="3200400" cy="8229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64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5</a:t>
            </a:r>
            <a:endParaRPr kumimoji="0" lang="en-US" sz="6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Text 16"/>
          <p:cNvSpPr/>
          <p:nvPr/>
        </p:nvSpPr>
        <p:spPr>
          <a:xfrm>
            <a:off x="4617720" y="5074920"/>
            <a:ext cx="3200400" cy="457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1" u="none" strike="noStrike" kern="1200" cap="none" spc="0" normalizeH="0" baseline="0" noProof="0" dirty="0">
                <a:ln>
                  <a:noFill/>
                </a:ln>
                <a:solidFill>
                  <a:srgbClr val="B8B8C5"/>
                </a:solidFill>
                <a:effectLst/>
                <a:uLnTx/>
                <a:uFillTx/>
                <a:latin typeface="Calibri" pitchFamily="34" charset="0"/>
                <a:ea typeface="Calibri" pitchFamily="34" charset="-122"/>
                <a:cs typeface="Calibri" pitchFamily="34" charset="-120"/>
              </a:rPr>
              <a:t>La dominan y configuran al socio</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Shape 17"/>
          <p:cNvSpPr/>
          <p:nvPr/>
        </p:nvSpPr>
        <p:spPr>
          <a:xfrm>
            <a:off x="8138160" y="3840480"/>
            <a:ext cx="3611880" cy="1737360"/>
          </a:xfrm>
          <a:prstGeom prst="rect">
            <a:avLst/>
          </a:prstGeom>
          <a:solidFill>
            <a:srgbClr val="1A1A28"/>
          </a:solidFill>
          <a:ln w="6350">
            <a:solidFill>
              <a:srgbClr val="333344"/>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 name="Shape 18"/>
          <p:cNvSpPr/>
          <p:nvPr/>
        </p:nvSpPr>
        <p:spPr>
          <a:xfrm>
            <a:off x="8138160" y="3840480"/>
            <a:ext cx="3611880" cy="73152"/>
          </a:xfrm>
          <a:prstGeom prst="rect">
            <a:avLst/>
          </a:prstGeom>
          <a:solidFill>
            <a:srgbClr val="EC008C"/>
          </a:solidFill>
          <a:ln w="12700">
            <a:solidFill>
              <a:srgbClr val="EC008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 name="Text 19"/>
          <p:cNvSpPr/>
          <p:nvPr/>
        </p:nvSpPr>
        <p:spPr>
          <a:xfrm>
            <a:off x="8412480" y="3977640"/>
            <a:ext cx="32004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400" normalizeH="0" baseline="0" noProof="0" dirty="0">
                <a:ln>
                  <a:noFill/>
                </a:ln>
                <a:solidFill>
                  <a:srgbClr val="EC008C"/>
                </a:solidFill>
                <a:effectLst/>
                <a:uLnTx/>
                <a:uFillTx/>
                <a:latin typeface="Calibri" pitchFamily="34" charset="0"/>
                <a:ea typeface="Calibri" pitchFamily="34" charset="-122"/>
                <a:cs typeface="Calibri" pitchFamily="34" charset="-120"/>
              </a:rPr>
              <a:t>MARIO</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 name="Text 20"/>
          <p:cNvSpPr/>
          <p:nvPr/>
        </p:nvSpPr>
        <p:spPr>
          <a:xfrm>
            <a:off x="8412480" y="4206240"/>
            <a:ext cx="3200400" cy="8229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64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3</a:t>
            </a:r>
            <a:endParaRPr kumimoji="0" lang="en-US" sz="6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4" name="Text 21"/>
          <p:cNvSpPr/>
          <p:nvPr/>
        </p:nvSpPr>
        <p:spPr>
          <a:xfrm>
            <a:off x="8412480" y="5074920"/>
            <a:ext cx="3200400" cy="457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1" u="none" strike="noStrike" kern="1200" cap="none" spc="0" normalizeH="0" baseline="0" noProof="0" dirty="0">
                <a:ln>
                  <a:noFill/>
                </a:ln>
                <a:solidFill>
                  <a:srgbClr val="B8B8C5"/>
                </a:solidFill>
                <a:effectLst/>
                <a:uLnTx/>
                <a:uFillTx/>
                <a:latin typeface="Calibri" pitchFamily="34" charset="0"/>
                <a:ea typeface="Calibri" pitchFamily="34" charset="-122"/>
                <a:cs typeface="Calibri" pitchFamily="34" charset="-120"/>
              </a:rPr>
              <a:t>La demuestran a veces</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Shape 22"/>
          <p:cNvSpPr/>
          <p:nvPr/>
        </p:nvSpPr>
        <p:spPr>
          <a:xfrm>
            <a:off x="548640" y="5806440"/>
            <a:ext cx="11064240" cy="594360"/>
          </a:xfrm>
          <a:prstGeom prst="rect">
            <a:avLst/>
          </a:prstGeom>
          <a:solidFill>
            <a:srgbClr val="1A1A28"/>
          </a:solidFill>
          <a:ln w="12700">
            <a:solidFill>
              <a:srgbClr val="EC008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 name="Text 23"/>
          <p:cNvSpPr/>
          <p:nvPr/>
        </p:nvSpPr>
        <p:spPr>
          <a:xfrm>
            <a:off x="777240" y="5806440"/>
            <a:ext cx="10607040" cy="5943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400" normalizeH="0" baseline="0" noProof="0" dirty="0">
                <a:ln>
                  <a:noFill/>
                </a:ln>
                <a:solidFill>
                  <a:srgbClr val="EC008C"/>
                </a:solidFill>
                <a:effectLst/>
                <a:uLnTx/>
                <a:uFillTx/>
                <a:latin typeface="Calibri" pitchFamily="34" charset="0"/>
                <a:ea typeface="Calibri" pitchFamily="34" charset="-122"/>
                <a:cs typeface="Calibri" pitchFamily="34" charset="-120"/>
              </a:rPr>
              <a:t>IMPLICACIÓN  ·  </a:t>
            </a:r>
            <a:r>
              <a:rPr kumimoji="0" lang="en-US" sz="1300" b="0" i="1"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Alfabetización digital de la app NO es la brecha más urgente. Dejarla más abajo en priorización del programa.</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7" name="Shape 24"/>
          <p:cNvSpPr/>
          <p:nvPr/>
        </p:nvSpPr>
        <p:spPr>
          <a:xfrm>
            <a:off x="548640" y="6400800"/>
            <a:ext cx="118872" cy="118872"/>
          </a:xfrm>
          <a:prstGeom prst="ellipse">
            <a:avLst/>
          </a:prstGeom>
          <a:solidFill>
            <a:srgbClr val="EC008C"/>
          </a:solidFill>
          <a:ln w="12700">
            <a:solidFill>
              <a:srgbClr val="EC008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8" name="Text 25"/>
          <p:cNvSpPr/>
          <p:nvPr/>
        </p:nvSpPr>
        <p:spPr>
          <a:xfrm>
            <a:off x="777240" y="6355080"/>
            <a:ext cx="6400800" cy="2286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0" cap="none" spc="400" normalizeH="0" baseline="0" noProof="0" dirty="0">
                <a:ln>
                  <a:noFill/>
                </a:ln>
                <a:solidFill>
                  <a:srgbClr val="FFFFFF"/>
                </a:solidFill>
                <a:effectLst/>
                <a:uLnTx/>
                <a:uFillTx/>
                <a:latin typeface="Calibri" pitchFamily="34" charset="0"/>
                <a:ea typeface="Calibri" pitchFamily="34" charset="-122"/>
                <a:cs typeface="Calibri" pitchFamily="34" charset="-120"/>
              </a:rPr>
              <a:t>FINAL UPGRADE AI  ·  RESULTADOS DEL CUESTIONARIO</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9" name="Text 26"/>
          <p:cNvSpPr/>
          <p:nvPr/>
        </p:nvSpPr>
        <p:spPr>
          <a:xfrm>
            <a:off x="11002975" y="6355080"/>
            <a:ext cx="640080" cy="22860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B8B8C5"/>
                </a:solidFill>
                <a:effectLst/>
                <a:uLnTx/>
                <a:uFillTx/>
                <a:latin typeface="Calibri" pitchFamily="34" charset="0"/>
                <a:ea typeface="Calibri" pitchFamily="34" charset="-122"/>
                <a:cs typeface="Calibri" pitchFamily="34" charset="-120"/>
              </a:rPr>
              <a:t>08 / 14</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F0F1B"/>
        </a:solidFill>
        <a:effectLst/>
      </p:bgPr>
    </p:bg>
    <p:spTree>
      <p:nvGrpSpPr>
        <p:cNvPr id="1" name=""/>
        <p:cNvGrpSpPr/>
        <p:nvPr/>
      </p:nvGrpSpPr>
      <p:grpSpPr>
        <a:xfrm>
          <a:off x="0" y="0"/>
          <a:ext cx="0" cy="0"/>
          <a:chOff x="0" y="0"/>
          <a:chExt cx="0" cy="0"/>
        </a:xfrm>
      </p:grpSpPr>
      <p:sp>
        <p:nvSpPr>
          <p:cNvPr id="2" name="Text 0"/>
          <p:cNvSpPr/>
          <p:nvPr/>
        </p:nvSpPr>
        <p:spPr>
          <a:xfrm>
            <a:off x="548640" y="411480"/>
            <a:ext cx="73152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600" normalizeH="0" baseline="0" noProof="0" dirty="0">
                <a:ln>
                  <a:noFill/>
                </a:ln>
                <a:solidFill>
                  <a:srgbClr val="EC008C"/>
                </a:solidFill>
                <a:effectLst/>
                <a:uLnTx/>
                <a:uFillTx/>
                <a:latin typeface="Calibri" pitchFamily="34" charset="0"/>
                <a:ea typeface="Calibri" pitchFamily="34" charset="-122"/>
                <a:cs typeface="Calibri" pitchFamily="34" charset="-120"/>
              </a:rPr>
              <a:t>MOMENTO EXACTO DONDE EL EQUIPO PIERDE MÁS LEADS</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3" name="Image 0" descr="/home/claude/sw_pres/sw_logo_transparent.png"/>
          <p:cNvPicPr>
            <a:picLocks noChangeAspect="1"/>
          </p:cNvPicPr>
          <p:nvPr/>
        </p:nvPicPr>
        <p:blipFill>
          <a:blip r:embed="rId3"/>
          <a:stretch>
            <a:fillRect/>
          </a:stretch>
        </p:blipFill>
        <p:spPr>
          <a:xfrm>
            <a:off x="11094415" y="228600"/>
            <a:ext cx="777240" cy="777240"/>
          </a:xfrm>
          <a:prstGeom prst="rect">
            <a:avLst/>
          </a:prstGeom>
        </p:spPr>
      </p:pic>
      <p:sp>
        <p:nvSpPr>
          <p:cNvPr id="4" name="Shape 1"/>
          <p:cNvSpPr/>
          <p:nvPr/>
        </p:nvSpPr>
        <p:spPr>
          <a:xfrm>
            <a:off x="548640" y="1005840"/>
            <a:ext cx="9997135" cy="0"/>
          </a:xfrm>
          <a:prstGeom prst="line">
            <a:avLst/>
          </a:prstGeom>
          <a:noFill/>
          <a:ln w="12700">
            <a:solidFill>
              <a:srgbClr val="EC008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Shape 2"/>
          <p:cNvSpPr/>
          <p:nvPr/>
        </p:nvSpPr>
        <p:spPr>
          <a:xfrm>
            <a:off x="548640" y="1371600"/>
            <a:ext cx="1280160" cy="411480"/>
          </a:xfrm>
          <a:prstGeom prst="roundRect">
            <a:avLst>
              <a:gd name="adj" fmla="val 50000"/>
            </a:avLst>
          </a:prstGeom>
          <a:solidFill>
            <a:srgbClr val="EC008C"/>
          </a:solidFill>
          <a:ln w="12700">
            <a:solidFill>
              <a:srgbClr val="EC008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 3"/>
          <p:cNvSpPr/>
          <p:nvPr/>
        </p:nvSpPr>
        <p:spPr>
          <a:xfrm>
            <a:off x="548640" y="1371600"/>
            <a:ext cx="1280160" cy="41148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400" normalizeH="0" baseline="0" noProof="0" dirty="0">
                <a:ln>
                  <a:noFill/>
                </a:ln>
                <a:solidFill>
                  <a:srgbClr val="FFFFFF"/>
                </a:solidFill>
                <a:effectLst/>
                <a:uLnTx/>
                <a:uFillTx/>
                <a:latin typeface="Calibri" pitchFamily="34" charset="0"/>
                <a:ea typeface="Calibri" pitchFamily="34" charset="-122"/>
                <a:cs typeface="Calibri" pitchFamily="34" charset="-120"/>
              </a:rPr>
              <a:t>PÉRDIDA</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4"/>
          <p:cNvSpPr/>
          <p:nvPr/>
        </p:nvSpPr>
        <p:spPr>
          <a:xfrm>
            <a:off x="548640" y="2011680"/>
            <a:ext cx="10972800" cy="9144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El asesor quiere cerrar antes del discovery</a:t>
            </a:r>
            <a:endPar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5"/>
          <p:cNvSpPr/>
          <p:nvPr/>
        </p:nvSpPr>
        <p:spPr>
          <a:xfrm>
            <a:off x="548640" y="2683764"/>
            <a:ext cx="1097280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1" u="none" strike="noStrike" kern="1200" cap="none" spc="0" normalizeH="0" baseline="0" noProof="0" dirty="0">
                <a:ln>
                  <a:noFill/>
                </a:ln>
                <a:solidFill>
                  <a:srgbClr val="EC008C"/>
                </a:solidFill>
                <a:effectLst/>
                <a:uLnTx/>
                <a:uFillTx/>
                <a:latin typeface="Calibri" pitchFamily="34" charset="0"/>
                <a:ea typeface="Calibri" pitchFamily="34" charset="-122"/>
                <a:cs typeface="Calibri" pitchFamily="34" charset="-120"/>
              </a:rPr>
              <a:t>Patrón unánime: la pérdida ocurre en el PRIMER CONTACTO o la LLAMADA INICIAL</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Shape 6"/>
          <p:cNvSpPr/>
          <p:nvPr/>
        </p:nvSpPr>
        <p:spPr>
          <a:xfrm>
            <a:off x="548640" y="3140964"/>
            <a:ext cx="5486400" cy="0"/>
          </a:xfrm>
          <a:prstGeom prst="line">
            <a:avLst/>
          </a:prstGeom>
          <a:noFill/>
          <a:ln w="12700">
            <a:solidFill>
              <a:srgbClr val="EC008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Shape 7"/>
          <p:cNvSpPr/>
          <p:nvPr/>
        </p:nvSpPr>
        <p:spPr>
          <a:xfrm>
            <a:off x="548640" y="3552444"/>
            <a:ext cx="11064240" cy="777240"/>
          </a:xfrm>
          <a:prstGeom prst="rect">
            <a:avLst/>
          </a:prstGeom>
          <a:solidFill>
            <a:srgbClr val="1A1A28"/>
          </a:solidFill>
          <a:ln w="6350">
            <a:solidFill>
              <a:srgbClr val="333344"/>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Shape 8"/>
          <p:cNvSpPr/>
          <p:nvPr/>
        </p:nvSpPr>
        <p:spPr>
          <a:xfrm>
            <a:off x="548640" y="3552444"/>
            <a:ext cx="73152" cy="777240"/>
          </a:xfrm>
          <a:prstGeom prst="rect">
            <a:avLst/>
          </a:prstGeom>
          <a:solidFill>
            <a:srgbClr val="EC008C"/>
          </a:solidFill>
          <a:ln w="12700">
            <a:solidFill>
              <a:srgbClr val="EC008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Text 9"/>
          <p:cNvSpPr/>
          <p:nvPr/>
        </p:nvSpPr>
        <p:spPr>
          <a:xfrm>
            <a:off x="777240" y="3643884"/>
            <a:ext cx="13716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400" normalizeH="0" baseline="0" noProof="0" dirty="0">
                <a:ln>
                  <a:noFill/>
                </a:ln>
                <a:solidFill>
                  <a:srgbClr val="EC008C"/>
                </a:solidFill>
                <a:effectLst/>
                <a:uLnTx/>
                <a:uFillTx/>
                <a:latin typeface="Calibri" pitchFamily="34" charset="0"/>
                <a:ea typeface="Calibri" pitchFamily="34" charset="-122"/>
                <a:cs typeface="Calibri" pitchFamily="34" charset="-120"/>
              </a:rPr>
              <a:t>GERARDO</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Text 10"/>
          <p:cNvSpPr/>
          <p:nvPr/>
        </p:nvSpPr>
        <p:spPr>
          <a:xfrm>
            <a:off x="777240" y="3872484"/>
            <a:ext cx="10972800" cy="4572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1"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"El speech que se usa como primer contacto, se busca vender de inmediato y se pierde conocer las necesidades reales para lograr la visita."</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Shape 11"/>
          <p:cNvSpPr/>
          <p:nvPr/>
        </p:nvSpPr>
        <p:spPr>
          <a:xfrm>
            <a:off x="548640" y="4421124"/>
            <a:ext cx="11064240" cy="777240"/>
          </a:xfrm>
          <a:prstGeom prst="rect">
            <a:avLst/>
          </a:prstGeom>
          <a:solidFill>
            <a:srgbClr val="1A1A28"/>
          </a:solidFill>
          <a:ln w="6350">
            <a:solidFill>
              <a:srgbClr val="333344"/>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 name="Shape 12"/>
          <p:cNvSpPr/>
          <p:nvPr/>
        </p:nvSpPr>
        <p:spPr>
          <a:xfrm>
            <a:off x="548640" y="4421124"/>
            <a:ext cx="73152" cy="777240"/>
          </a:xfrm>
          <a:prstGeom prst="rect">
            <a:avLst/>
          </a:prstGeom>
          <a:solidFill>
            <a:srgbClr val="EC008C"/>
          </a:solidFill>
          <a:ln w="12700">
            <a:solidFill>
              <a:srgbClr val="EC008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Text 13"/>
          <p:cNvSpPr/>
          <p:nvPr/>
        </p:nvSpPr>
        <p:spPr>
          <a:xfrm>
            <a:off x="777240" y="4512564"/>
            <a:ext cx="13716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400" normalizeH="0" baseline="0" noProof="0" dirty="0">
                <a:ln>
                  <a:noFill/>
                </a:ln>
                <a:solidFill>
                  <a:srgbClr val="EC008C"/>
                </a:solidFill>
                <a:effectLst/>
                <a:uLnTx/>
                <a:uFillTx/>
                <a:latin typeface="Calibri" pitchFamily="34" charset="0"/>
                <a:ea typeface="Calibri" pitchFamily="34" charset="-122"/>
                <a:cs typeface="Calibri" pitchFamily="34" charset="-120"/>
              </a:rPr>
              <a:t>JONATHAN</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Text 14"/>
          <p:cNvSpPr/>
          <p:nvPr/>
        </p:nvSpPr>
        <p:spPr>
          <a:xfrm>
            <a:off x="777240" y="4741164"/>
            <a:ext cx="10972800" cy="4572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1"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"En la llamada inicial se preocupan más por cerrar la venta que por lograr concretar la cita y en ocasiones dan precios o promociones sin conocer realmente al prospecto."</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Shape 15"/>
          <p:cNvSpPr/>
          <p:nvPr/>
        </p:nvSpPr>
        <p:spPr>
          <a:xfrm>
            <a:off x="548640" y="5289804"/>
            <a:ext cx="11064240" cy="777240"/>
          </a:xfrm>
          <a:prstGeom prst="rect">
            <a:avLst/>
          </a:prstGeom>
          <a:solidFill>
            <a:srgbClr val="1A1A28"/>
          </a:solidFill>
          <a:ln w="6350">
            <a:solidFill>
              <a:srgbClr val="333344"/>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 name="Shape 16"/>
          <p:cNvSpPr/>
          <p:nvPr/>
        </p:nvSpPr>
        <p:spPr>
          <a:xfrm>
            <a:off x="548640" y="5289804"/>
            <a:ext cx="73152" cy="777240"/>
          </a:xfrm>
          <a:prstGeom prst="rect">
            <a:avLst/>
          </a:prstGeom>
          <a:solidFill>
            <a:srgbClr val="EC008C"/>
          </a:solidFill>
          <a:ln w="12700">
            <a:solidFill>
              <a:srgbClr val="EC008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Text 17"/>
          <p:cNvSpPr/>
          <p:nvPr/>
        </p:nvSpPr>
        <p:spPr>
          <a:xfrm>
            <a:off x="777240" y="5381244"/>
            <a:ext cx="13716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400" normalizeH="0" baseline="0" noProof="0" dirty="0">
                <a:ln>
                  <a:noFill/>
                </a:ln>
                <a:solidFill>
                  <a:srgbClr val="EC008C"/>
                </a:solidFill>
                <a:effectLst/>
                <a:uLnTx/>
                <a:uFillTx/>
                <a:latin typeface="Calibri" pitchFamily="34" charset="0"/>
                <a:ea typeface="Calibri" pitchFamily="34" charset="-122"/>
                <a:cs typeface="Calibri" pitchFamily="34" charset="-120"/>
              </a:rPr>
              <a:t>MARIO</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Text 18"/>
          <p:cNvSpPr/>
          <p:nvPr/>
        </p:nvSpPr>
        <p:spPr>
          <a:xfrm>
            <a:off x="777240" y="5609844"/>
            <a:ext cx="10972800" cy="4572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1"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"En la parte de mostrar el valor real del club (no económico) adicional al momento de pedir la venta."</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Shape 19"/>
          <p:cNvSpPr/>
          <p:nvPr/>
        </p:nvSpPr>
        <p:spPr>
          <a:xfrm>
            <a:off x="548640" y="6412962"/>
            <a:ext cx="118872" cy="118872"/>
          </a:xfrm>
          <a:prstGeom prst="ellipse">
            <a:avLst/>
          </a:prstGeom>
          <a:solidFill>
            <a:srgbClr val="EC008C"/>
          </a:solidFill>
          <a:ln w="12700">
            <a:solidFill>
              <a:srgbClr val="EC008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 name="Text 20"/>
          <p:cNvSpPr/>
          <p:nvPr/>
        </p:nvSpPr>
        <p:spPr>
          <a:xfrm>
            <a:off x="777240" y="6355080"/>
            <a:ext cx="6400800" cy="2286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0" cap="none" spc="400" normalizeH="0" baseline="0" noProof="0" dirty="0">
                <a:ln>
                  <a:noFill/>
                </a:ln>
                <a:solidFill>
                  <a:srgbClr val="FFFFFF"/>
                </a:solidFill>
                <a:effectLst/>
                <a:uLnTx/>
                <a:uFillTx/>
                <a:latin typeface="Calibri" pitchFamily="34" charset="0"/>
                <a:ea typeface="Calibri" pitchFamily="34" charset="-122"/>
                <a:cs typeface="Calibri" pitchFamily="34" charset="-120"/>
              </a:rPr>
              <a:t>FINAL UPGRADE AI  ·  RESULTADOS DEL CUESTIONARIO</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4" name="Text 21"/>
          <p:cNvSpPr/>
          <p:nvPr/>
        </p:nvSpPr>
        <p:spPr>
          <a:xfrm>
            <a:off x="11002975" y="6355080"/>
            <a:ext cx="640080" cy="22860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B8B8C5"/>
                </a:solidFill>
                <a:effectLst/>
                <a:uLnTx/>
                <a:uFillTx/>
                <a:latin typeface="Calibri" pitchFamily="34" charset="0"/>
                <a:ea typeface="Calibri" pitchFamily="34" charset="-122"/>
                <a:cs typeface="Calibri" pitchFamily="34" charset="-120"/>
              </a:rPr>
              <a:t>09 / 14</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F0F1B"/>
        </a:solidFill>
        <a:effectLst/>
      </p:bgPr>
    </p:bg>
    <p:spTree>
      <p:nvGrpSpPr>
        <p:cNvPr id="1" name=""/>
        <p:cNvGrpSpPr/>
        <p:nvPr/>
      </p:nvGrpSpPr>
      <p:grpSpPr>
        <a:xfrm>
          <a:off x="0" y="0"/>
          <a:ext cx="0" cy="0"/>
          <a:chOff x="0" y="0"/>
          <a:chExt cx="0" cy="0"/>
        </a:xfrm>
      </p:grpSpPr>
      <p:sp>
        <p:nvSpPr>
          <p:cNvPr id="2" name="Text 0"/>
          <p:cNvSpPr/>
          <p:nvPr/>
        </p:nvSpPr>
        <p:spPr>
          <a:xfrm>
            <a:off x="548640" y="411480"/>
            <a:ext cx="73152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600" normalizeH="0" baseline="0" noProof="0" dirty="0">
                <a:ln>
                  <a:noFill/>
                </a:ln>
                <a:solidFill>
                  <a:srgbClr val="EC008C"/>
                </a:solidFill>
                <a:effectLst/>
                <a:uLnTx/>
                <a:uFillTx/>
                <a:latin typeface="Calibri" pitchFamily="34" charset="0"/>
                <a:ea typeface="Calibri" pitchFamily="34" charset="-122"/>
                <a:cs typeface="Calibri" pitchFamily="34" charset="-120"/>
              </a:rPr>
              <a:t>TEMAS OPERATIVOS IDENTIFICADOS · REGISTRO SEPARADO DEL PROGRAMA</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3" name="Image 0" descr="/home/claude/sw_pres/sw_logo_transparent.png"/>
          <p:cNvPicPr>
            <a:picLocks noChangeAspect="1"/>
          </p:cNvPicPr>
          <p:nvPr/>
        </p:nvPicPr>
        <p:blipFill>
          <a:blip r:embed="rId3"/>
          <a:stretch>
            <a:fillRect/>
          </a:stretch>
        </p:blipFill>
        <p:spPr>
          <a:xfrm>
            <a:off x="11094415" y="228600"/>
            <a:ext cx="777240" cy="777240"/>
          </a:xfrm>
          <a:prstGeom prst="rect">
            <a:avLst/>
          </a:prstGeom>
        </p:spPr>
      </p:pic>
      <p:sp>
        <p:nvSpPr>
          <p:cNvPr id="4" name="Shape 1"/>
          <p:cNvSpPr/>
          <p:nvPr/>
        </p:nvSpPr>
        <p:spPr>
          <a:xfrm>
            <a:off x="548640" y="1005840"/>
            <a:ext cx="9997135" cy="0"/>
          </a:xfrm>
          <a:prstGeom prst="line">
            <a:avLst/>
          </a:prstGeom>
          <a:noFill/>
          <a:ln w="12700">
            <a:solidFill>
              <a:srgbClr val="EC008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Shape 2"/>
          <p:cNvSpPr/>
          <p:nvPr/>
        </p:nvSpPr>
        <p:spPr>
          <a:xfrm>
            <a:off x="548640" y="1371600"/>
            <a:ext cx="1463040" cy="411480"/>
          </a:xfrm>
          <a:prstGeom prst="roundRect">
            <a:avLst>
              <a:gd name="adj" fmla="val 50000"/>
            </a:avLst>
          </a:prstGeom>
          <a:solidFill>
            <a:srgbClr val="EC008C"/>
          </a:solidFill>
          <a:ln w="12700">
            <a:solidFill>
              <a:srgbClr val="EC008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 3"/>
          <p:cNvSpPr/>
          <p:nvPr/>
        </p:nvSpPr>
        <p:spPr>
          <a:xfrm>
            <a:off x="548640" y="1371600"/>
            <a:ext cx="1463040" cy="41148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400" normalizeH="0" baseline="0" noProof="0" dirty="0">
                <a:ln>
                  <a:noFill/>
                </a:ln>
                <a:solidFill>
                  <a:srgbClr val="FFFFFF"/>
                </a:solidFill>
                <a:effectLst/>
                <a:uLnTx/>
                <a:uFillTx/>
                <a:latin typeface="Calibri" pitchFamily="34" charset="0"/>
                <a:ea typeface="Calibri" pitchFamily="34" charset="-122"/>
                <a:cs typeface="Calibri" pitchFamily="34" charset="-120"/>
              </a:rPr>
              <a:t>OPERATIVOS</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4"/>
          <p:cNvSpPr/>
          <p:nvPr/>
        </p:nvSpPr>
        <p:spPr>
          <a:xfrm>
            <a:off x="548640" y="2011680"/>
            <a:ext cx="10972800" cy="9144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Amenidades básicas y mantenimiento</a:t>
            </a:r>
            <a:endParaRPr kumimoji="0" lang="en-US" sz="3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5"/>
          <p:cNvSpPr/>
          <p:nvPr/>
        </p:nvSpPr>
        <p:spPr>
          <a:xfrm>
            <a:off x="548640" y="2971800"/>
            <a:ext cx="1097280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1" u="none" strike="noStrike" kern="1200" cap="none" spc="0" normalizeH="0" baseline="0" noProof="0" dirty="0">
                <a:ln>
                  <a:noFill/>
                </a:ln>
                <a:solidFill>
                  <a:srgbClr val="EC008C"/>
                </a:solidFill>
                <a:effectLst/>
                <a:uLnTx/>
                <a:uFillTx/>
                <a:latin typeface="Calibri" pitchFamily="34" charset="0"/>
                <a:ea typeface="Calibri" pitchFamily="34" charset="-122"/>
                <a:cs typeface="Calibri" pitchFamily="34" charset="-120"/>
              </a:rPr>
              <a:t>Estos temas NO entran al programa de capacitación. Registro interno separado.</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Shape 6"/>
          <p:cNvSpPr/>
          <p:nvPr/>
        </p:nvSpPr>
        <p:spPr>
          <a:xfrm>
            <a:off x="548640" y="3429000"/>
            <a:ext cx="5486400" cy="0"/>
          </a:xfrm>
          <a:prstGeom prst="line">
            <a:avLst/>
          </a:prstGeom>
          <a:noFill/>
          <a:ln w="12700">
            <a:solidFill>
              <a:srgbClr val="EC008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Shape 7"/>
          <p:cNvSpPr/>
          <p:nvPr/>
        </p:nvSpPr>
        <p:spPr>
          <a:xfrm>
            <a:off x="548640" y="3794760"/>
            <a:ext cx="11064240" cy="502920"/>
          </a:xfrm>
          <a:prstGeom prst="rect">
            <a:avLst/>
          </a:prstGeom>
          <a:solidFill>
            <a:srgbClr val="1A1A28"/>
          </a:solidFill>
          <a:ln w="6350">
            <a:solidFill>
              <a:srgbClr val="333344"/>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Shape 8"/>
          <p:cNvSpPr/>
          <p:nvPr/>
        </p:nvSpPr>
        <p:spPr>
          <a:xfrm>
            <a:off x="548640" y="3794760"/>
            <a:ext cx="73152" cy="502920"/>
          </a:xfrm>
          <a:prstGeom prst="rect">
            <a:avLst/>
          </a:prstGeom>
          <a:solidFill>
            <a:srgbClr val="EC008C"/>
          </a:solidFill>
          <a:ln w="12700">
            <a:solidFill>
              <a:srgbClr val="EC008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Text 9"/>
          <p:cNvSpPr/>
          <p:nvPr/>
        </p:nvSpPr>
        <p:spPr>
          <a:xfrm>
            <a:off x="777240" y="3840480"/>
            <a:ext cx="36576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300" normalizeH="0" baseline="0" noProof="0" dirty="0">
                <a:ln>
                  <a:noFill/>
                </a:ln>
                <a:solidFill>
                  <a:srgbClr val="EC008C"/>
                </a:solidFill>
                <a:effectLst/>
                <a:uLnTx/>
                <a:uFillTx/>
                <a:latin typeface="Calibri" pitchFamily="34" charset="0"/>
                <a:ea typeface="Calibri" pitchFamily="34" charset="-122"/>
                <a:cs typeface="Calibri" pitchFamily="34" charset="-120"/>
              </a:rPr>
              <a:t>AMENIDADES BÁSICAS</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Text 10"/>
          <p:cNvSpPr/>
          <p:nvPr/>
        </p:nvSpPr>
        <p:spPr>
          <a:xfrm>
            <a:off x="777240" y="4050792"/>
            <a:ext cx="91440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Falta de toallas · falta de agua caliente · falta de aire acondicionado</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Text 11"/>
          <p:cNvSpPr/>
          <p:nvPr/>
        </p:nvSpPr>
        <p:spPr>
          <a:xfrm>
            <a:off x="10515600" y="3794760"/>
            <a:ext cx="914400" cy="50292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B8B8C5"/>
                </a:solidFill>
                <a:effectLst/>
                <a:uLnTx/>
                <a:uFillTx/>
                <a:latin typeface="Calibri" pitchFamily="34" charset="0"/>
                <a:ea typeface="Calibri" pitchFamily="34" charset="-122"/>
                <a:cs typeface="Calibri" pitchFamily="34" charset="-120"/>
              </a:rPr>
              <a:t>3/3</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Shape 12"/>
          <p:cNvSpPr/>
          <p:nvPr/>
        </p:nvSpPr>
        <p:spPr>
          <a:xfrm>
            <a:off x="548640" y="4389120"/>
            <a:ext cx="11064240" cy="502920"/>
          </a:xfrm>
          <a:prstGeom prst="rect">
            <a:avLst/>
          </a:prstGeom>
          <a:solidFill>
            <a:srgbClr val="1A1A28"/>
          </a:solidFill>
          <a:ln w="6350">
            <a:solidFill>
              <a:srgbClr val="333344"/>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Shape 13"/>
          <p:cNvSpPr/>
          <p:nvPr/>
        </p:nvSpPr>
        <p:spPr>
          <a:xfrm>
            <a:off x="548640" y="4389120"/>
            <a:ext cx="73152" cy="502920"/>
          </a:xfrm>
          <a:prstGeom prst="rect">
            <a:avLst/>
          </a:prstGeom>
          <a:solidFill>
            <a:srgbClr val="EC008C"/>
          </a:solidFill>
          <a:ln w="12700">
            <a:solidFill>
              <a:srgbClr val="EC008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Text 14"/>
          <p:cNvSpPr/>
          <p:nvPr/>
        </p:nvSpPr>
        <p:spPr>
          <a:xfrm>
            <a:off x="777240" y="4434840"/>
            <a:ext cx="36576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300" normalizeH="0" baseline="0" noProof="0" dirty="0">
                <a:ln>
                  <a:noFill/>
                </a:ln>
                <a:solidFill>
                  <a:srgbClr val="EC008C"/>
                </a:solidFill>
                <a:effectLst/>
                <a:uLnTx/>
                <a:uFillTx/>
                <a:latin typeface="Calibri" pitchFamily="34" charset="0"/>
                <a:ea typeface="Calibri" pitchFamily="34" charset="-122"/>
                <a:cs typeface="Calibri" pitchFamily="34" charset="-120"/>
              </a:rPr>
              <a:t>MANTENIMIENTO DE INSTALACIONES</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Text 15"/>
          <p:cNvSpPr/>
          <p:nvPr/>
        </p:nvSpPr>
        <p:spPr>
          <a:xfrm>
            <a:off x="777240" y="4645152"/>
            <a:ext cx="91440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Cierres parciales de áreas · equipo deportivo sin atención</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Text 16"/>
          <p:cNvSpPr/>
          <p:nvPr/>
        </p:nvSpPr>
        <p:spPr>
          <a:xfrm>
            <a:off x="10515600" y="4389120"/>
            <a:ext cx="914400" cy="50292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B8B8C5"/>
                </a:solidFill>
                <a:effectLst/>
                <a:uLnTx/>
                <a:uFillTx/>
                <a:latin typeface="Calibri" pitchFamily="34" charset="0"/>
                <a:ea typeface="Calibri" pitchFamily="34" charset="-122"/>
                <a:cs typeface="Calibri" pitchFamily="34" charset="-120"/>
              </a:rPr>
              <a:t>3/3</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Shape 17"/>
          <p:cNvSpPr/>
          <p:nvPr/>
        </p:nvSpPr>
        <p:spPr>
          <a:xfrm>
            <a:off x="548640" y="4983480"/>
            <a:ext cx="11064240" cy="502920"/>
          </a:xfrm>
          <a:prstGeom prst="rect">
            <a:avLst/>
          </a:prstGeom>
          <a:solidFill>
            <a:srgbClr val="1A1A28"/>
          </a:solidFill>
          <a:ln w="6350">
            <a:solidFill>
              <a:srgbClr val="333344"/>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 name="Shape 18"/>
          <p:cNvSpPr/>
          <p:nvPr/>
        </p:nvSpPr>
        <p:spPr>
          <a:xfrm>
            <a:off x="548640" y="4983480"/>
            <a:ext cx="73152" cy="502920"/>
          </a:xfrm>
          <a:prstGeom prst="rect">
            <a:avLst/>
          </a:prstGeom>
          <a:solidFill>
            <a:srgbClr val="EC008C"/>
          </a:solidFill>
          <a:ln w="12700">
            <a:solidFill>
              <a:srgbClr val="EC008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 name="Text 19"/>
          <p:cNvSpPr/>
          <p:nvPr/>
        </p:nvSpPr>
        <p:spPr>
          <a:xfrm>
            <a:off x="777240" y="5029200"/>
            <a:ext cx="36576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300" normalizeH="0" baseline="0" noProof="0" dirty="0">
                <a:ln>
                  <a:noFill/>
                </a:ln>
                <a:solidFill>
                  <a:srgbClr val="EC008C"/>
                </a:solidFill>
                <a:effectLst/>
                <a:uLnTx/>
                <a:uFillTx/>
                <a:latin typeface="Calibri" pitchFamily="34" charset="0"/>
                <a:ea typeface="Calibri" pitchFamily="34" charset="-122"/>
                <a:cs typeface="Calibri" pitchFamily="34" charset="-120"/>
              </a:rPr>
              <a:t>SERVICIO DE ENTRENADORES</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 name="Text 20"/>
          <p:cNvSpPr/>
          <p:nvPr/>
        </p:nvSpPr>
        <p:spPr>
          <a:xfrm>
            <a:off x="777240" y="5239512"/>
            <a:ext cx="91440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Calidad del servicio · rotación percibida</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4" name="Text 21"/>
          <p:cNvSpPr/>
          <p:nvPr/>
        </p:nvSpPr>
        <p:spPr>
          <a:xfrm>
            <a:off x="10515600" y="4983480"/>
            <a:ext cx="914400" cy="50292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B8B8C5"/>
                </a:solidFill>
                <a:effectLst/>
                <a:uLnTx/>
                <a:uFillTx/>
                <a:latin typeface="Calibri" pitchFamily="34" charset="0"/>
                <a:ea typeface="Calibri" pitchFamily="34" charset="-122"/>
                <a:cs typeface="Calibri" pitchFamily="34" charset="-120"/>
              </a:rPr>
              <a:t>1/3</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Shape 22"/>
          <p:cNvSpPr/>
          <p:nvPr/>
        </p:nvSpPr>
        <p:spPr>
          <a:xfrm>
            <a:off x="548640" y="5577840"/>
            <a:ext cx="11064240" cy="502920"/>
          </a:xfrm>
          <a:prstGeom prst="rect">
            <a:avLst/>
          </a:prstGeom>
          <a:solidFill>
            <a:srgbClr val="1A1A28"/>
          </a:solidFill>
          <a:ln w="6350">
            <a:solidFill>
              <a:srgbClr val="333344"/>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 name="Shape 23"/>
          <p:cNvSpPr/>
          <p:nvPr/>
        </p:nvSpPr>
        <p:spPr>
          <a:xfrm>
            <a:off x="548640" y="5577840"/>
            <a:ext cx="73152" cy="502920"/>
          </a:xfrm>
          <a:prstGeom prst="rect">
            <a:avLst/>
          </a:prstGeom>
          <a:solidFill>
            <a:srgbClr val="EC008C"/>
          </a:solidFill>
          <a:ln w="12700">
            <a:solidFill>
              <a:srgbClr val="EC008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 name="Text 24"/>
          <p:cNvSpPr/>
          <p:nvPr/>
        </p:nvSpPr>
        <p:spPr>
          <a:xfrm>
            <a:off x="777240" y="5623560"/>
            <a:ext cx="36576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300" normalizeH="0" baseline="0" noProof="0" dirty="0">
                <a:ln>
                  <a:noFill/>
                </a:ln>
                <a:solidFill>
                  <a:srgbClr val="EC008C"/>
                </a:solidFill>
                <a:effectLst/>
                <a:uLnTx/>
                <a:uFillTx/>
                <a:latin typeface="Calibri" pitchFamily="34" charset="0"/>
                <a:ea typeface="Calibri" pitchFamily="34" charset="-122"/>
                <a:cs typeface="Calibri" pitchFamily="34" charset="-120"/>
              </a:rPr>
              <a:t>POLÍTICAS COMERCIALES</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8" name="Text 25"/>
          <p:cNvSpPr/>
          <p:nvPr/>
        </p:nvSpPr>
        <p:spPr>
          <a:xfrm>
            <a:off x="777240" y="5833872"/>
            <a:ext cx="91440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Restricciones de cancelación y devoluciones que afectan referidos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9" name="Text 26"/>
          <p:cNvSpPr/>
          <p:nvPr/>
        </p:nvSpPr>
        <p:spPr>
          <a:xfrm>
            <a:off x="10515600" y="5577840"/>
            <a:ext cx="914400" cy="50292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B8B8C5"/>
                </a:solidFill>
                <a:effectLst/>
                <a:uLnTx/>
                <a:uFillTx/>
                <a:latin typeface="Calibri" pitchFamily="34" charset="0"/>
                <a:ea typeface="Calibri" pitchFamily="34" charset="-122"/>
                <a:cs typeface="Calibri" pitchFamily="34" charset="-120"/>
              </a:rPr>
              <a:t>1/3</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0" name="Shape 27"/>
          <p:cNvSpPr/>
          <p:nvPr/>
        </p:nvSpPr>
        <p:spPr>
          <a:xfrm>
            <a:off x="548640" y="6400800"/>
            <a:ext cx="118872" cy="118872"/>
          </a:xfrm>
          <a:prstGeom prst="ellipse">
            <a:avLst/>
          </a:prstGeom>
          <a:solidFill>
            <a:srgbClr val="EC008C"/>
          </a:solidFill>
          <a:ln w="12700">
            <a:solidFill>
              <a:srgbClr val="EC008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1" name="Text 28"/>
          <p:cNvSpPr/>
          <p:nvPr/>
        </p:nvSpPr>
        <p:spPr>
          <a:xfrm>
            <a:off x="777240" y="6355080"/>
            <a:ext cx="6400800" cy="2286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0" cap="none" spc="400" normalizeH="0" baseline="0" noProof="0" dirty="0">
                <a:ln>
                  <a:noFill/>
                </a:ln>
                <a:solidFill>
                  <a:srgbClr val="FFFFFF"/>
                </a:solidFill>
                <a:effectLst/>
                <a:uLnTx/>
                <a:uFillTx/>
                <a:latin typeface="Calibri" pitchFamily="34" charset="0"/>
                <a:ea typeface="Calibri" pitchFamily="34" charset="-122"/>
                <a:cs typeface="Calibri" pitchFamily="34" charset="-120"/>
              </a:rPr>
              <a:t>FINAL UPGRADE AI  ·  RESULTADOS DEL CUESTIONARIO</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2" name="Text 29"/>
          <p:cNvSpPr/>
          <p:nvPr/>
        </p:nvSpPr>
        <p:spPr>
          <a:xfrm>
            <a:off x="11002975" y="6355080"/>
            <a:ext cx="640080" cy="22860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B8B8C5"/>
                </a:solidFill>
                <a:effectLst/>
                <a:uLnTx/>
                <a:uFillTx/>
                <a:latin typeface="Calibri" pitchFamily="34" charset="0"/>
                <a:ea typeface="Calibri" pitchFamily="34" charset="-122"/>
                <a:cs typeface="Calibri" pitchFamily="34" charset="-120"/>
              </a:rPr>
              <a:t>10 / 14</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F0F1B"/>
        </a:solidFill>
        <a:effectLst/>
      </p:bgPr>
    </p:bg>
    <p:spTree>
      <p:nvGrpSpPr>
        <p:cNvPr id="1" name=""/>
        <p:cNvGrpSpPr/>
        <p:nvPr/>
      </p:nvGrpSpPr>
      <p:grpSpPr>
        <a:xfrm>
          <a:off x="0" y="0"/>
          <a:ext cx="0" cy="0"/>
          <a:chOff x="0" y="0"/>
          <a:chExt cx="0" cy="0"/>
        </a:xfrm>
      </p:grpSpPr>
      <p:sp>
        <p:nvSpPr>
          <p:cNvPr id="2" name="Text 0"/>
          <p:cNvSpPr/>
          <p:nvPr/>
        </p:nvSpPr>
        <p:spPr>
          <a:xfrm>
            <a:off x="548640" y="411480"/>
            <a:ext cx="73152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600" normalizeH="0" baseline="0" noProof="0" dirty="0">
                <a:ln>
                  <a:noFill/>
                </a:ln>
                <a:solidFill>
                  <a:srgbClr val="EC008C"/>
                </a:solidFill>
                <a:effectLst/>
                <a:uLnTx/>
                <a:uFillTx/>
                <a:latin typeface="Calibri" pitchFamily="34" charset="0"/>
                <a:ea typeface="Calibri" pitchFamily="34" charset="-122"/>
                <a:cs typeface="Calibri" pitchFamily="34" charset="-120"/>
              </a:rPr>
              <a:t>PRIORIZACIÓN COLECTIVA · TOP DE LAS 6 ÁREAS DE CAPACITACIÓN</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3" name="Image 0" descr="/home/claude/sw_pres/sw_logo_transparent.png"/>
          <p:cNvPicPr>
            <a:picLocks noChangeAspect="1"/>
          </p:cNvPicPr>
          <p:nvPr/>
        </p:nvPicPr>
        <p:blipFill>
          <a:blip r:embed="rId3"/>
          <a:stretch>
            <a:fillRect/>
          </a:stretch>
        </p:blipFill>
        <p:spPr>
          <a:xfrm>
            <a:off x="11094415" y="228600"/>
            <a:ext cx="777240" cy="777240"/>
          </a:xfrm>
          <a:prstGeom prst="rect">
            <a:avLst/>
          </a:prstGeom>
        </p:spPr>
      </p:pic>
      <p:sp>
        <p:nvSpPr>
          <p:cNvPr id="4" name="Shape 1"/>
          <p:cNvSpPr/>
          <p:nvPr/>
        </p:nvSpPr>
        <p:spPr>
          <a:xfrm>
            <a:off x="548640" y="1005840"/>
            <a:ext cx="9997135" cy="0"/>
          </a:xfrm>
          <a:prstGeom prst="line">
            <a:avLst/>
          </a:prstGeom>
          <a:noFill/>
          <a:ln w="12700">
            <a:solidFill>
              <a:srgbClr val="EC008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Shape 2"/>
          <p:cNvSpPr/>
          <p:nvPr/>
        </p:nvSpPr>
        <p:spPr>
          <a:xfrm>
            <a:off x="548640" y="1371600"/>
            <a:ext cx="1645920" cy="411480"/>
          </a:xfrm>
          <a:prstGeom prst="roundRect">
            <a:avLst>
              <a:gd name="adj" fmla="val 50000"/>
            </a:avLst>
          </a:prstGeom>
          <a:solidFill>
            <a:srgbClr val="EC008C"/>
          </a:solidFill>
          <a:ln w="12700">
            <a:solidFill>
              <a:srgbClr val="EC008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 3"/>
          <p:cNvSpPr/>
          <p:nvPr/>
        </p:nvSpPr>
        <p:spPr>
          <a:xfrm>
            <a:off x="548640" y="1371600"/>
            <a:ext cx="1645920" cy="41148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400" normalizeH="0" baseline="0" noProof="0" dirty="0">
                <a:ln>
                  <a:noFill/>
                </a:ln>
                <a:solidFill>
                  <a:srgbClr val="FFFFFF"/>
                </a:solidFill>
                <a:effectLst/>
                <a:uLnTx/>
                <a:uFillTx/>
                <a:latin typeface="Calibri" pitchFamily="34" charset="0"/>
                <a:ea typeface="Calibri" pitchFamily="34" charset="-122"/>
                <a:cs typeface="Calibri" pitchFamily="34" charset="-120"/>
              </a:rPr>
              <a:t>PRIORIZACIÓN</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4"/>
          <p:cNvSpPr/>
          <p:nvPr/>
        </p:nvSpPr>
        <p:spPr>
          <a:xfrm>
            <a:off x="548640" y="2011680"/>
            <a:ext cx="10972800" cy="9144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Justificación de valor del ecosistema gana</a:t>
            </a:r>
            <a:endPar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5"/>
          <p:cNvSpPr/>
          <p:nvPr/>
        </p:nvSpPr>
        <p:spPr>
          <a:xfrm>
            <a:off x="548640" y="2971800"/>
            <a:ext cx="1097280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1" u="none" strike="noStrike" kern="1200" cap="none" spc="0" normalizeH="0" baseline="0" noProof="0" dirty="0">
                <a:ln>
                  <a:noFill/>
                </a:ln>
                <a:solidFill>
                  <a:srgbClr val="EC008C"/>
                </a:solidFill>
                <a:effectLst/>
                <a:uLnTx/>
                <a:uFillTx/>
                <a:latin typeface="Calibri" pitchFamily="34" charset="0"/>
                <a:ea typeface="Calibri" pitchFamily="34" charset="-122"/>
                <a:cs typeface="Calibri" pitchFamily="34" charset="-120"/>
              </a:rPr>
              <a:t>Ranking colectivo · promedio menor = mayor prioridad</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Shape 6"/>
          <p:cNvSpPr/>
          <p:nvPr/>
        </p:nvSpPr>
        <p:spPr>
          <a:xfrm>
            <a:off x="548640" y="3429000"/>
            <a:ext cx="5486400" cy="0"/>
          </a:xfrm>
          <a:prstGeom prst="line">
            <a:avLst/>
          </a:prstGeom>
          <a:noFill/>
          <a:ln w="12700">
            <a:solidFill>
              <a:srgbClr val="EC008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Shape 7"/>
          <p:cNvSpPr/>
          <p:nvPr/>
        </p:nvSpPr>
        <p:spPr>
          <a:xfrm>
            <a:off x="548640" y="3794760"/>
            <a:ext cx="11064240" cy="365760"/>
          </a:xfrm>
          <a:prstGeom prst="rect">
            <a:avLst/>
          </a:prstGeom>
          <a:solidFill>
            <a:srgbClr val="1A1A28"/>
          </a:solidFill>
          <a:ln w="6350">
            <a:solidFill>
              <a:srgbClr val="333344"/>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Shape 8"/>
          <p:cNvSpPr/>
          <p:nvPr/>
        </p:nvSpPr>
        <p:spPr>
          <a:xfrm>
            <a:off x="548640" y="3794760"/>
            <a:ext cx="73152" cy="365760"/>
          </a:xfrm>
          <a:prstGeom prst="rect">
            <a:avLst/>
          </a:prstGeom>
          <a:solidFill>
            <a:srgbClr val="EC008C"/>
          </a:solidFill>
          <a:ln w="12700">
            <a:solidFill>
              <a:srgbClr val="EC008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Text 9"/>
          <p:cNvSpPr/>
          <p:nvPr/>
        </p:nvSpPr>
        <p:spPr>
          <a:xfrm>
            <a:off x="868680" y="3794760"/>
            <a:ext cx="54864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EC008C"/>
                </a:solidFill>
                <a:effectLst/>
                <a:uLnTx/>
                <a:uFillTx/>
                <a:latin typeface="Calibri" pitchFamily="34" charset="0"/>
                <a:ea typeface="Calibri" pitchFamily="34" charset="-122"/>
                <a:cs typeface="Calibri" pitchFamily="34" charset="-120"/>
              </a:rPr>
              <a:t>1</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Text 10"/>
          <p:cNvSpPr/>
          <p:nvPr/>
        </p:nvSpPr>
        <p:spPr>
          <a:xfrm>
            <a:off x="1463040" y="3794760"/>
            <a:ext cx="868680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Justificación del valor del ecosistema SW vs boutiques y low-cost</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Text 11"/>
          <p:cNvSpPr/>
          <p:nvPr/>
        </p:nvSpPr>
        <p:spPr>
          <a:xfrm>
            <a:off x="10241280" y="3794760"/>
            <a:ext cx="1280160" cy="36576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EC008C"/>
                </a:solidFill>
                <a:effectLst/>
                <a:uLnTx/>
                <a:uFillTx/>
                <a:latin typeface="Calibri" pitchFamily="34" charset="0"/>
                <a:ea typeface="Calibri" pitchFamily="34" charset="-122"/>
                <a:cs typeface="Calibri" pitchFamily="34" charset="-120"/>
              </a:rPr>
              <a:t>2.00</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Shape 12"/>
          <p:cNvSpPr/>
          <p:nvPr/>
        </p:nvSpPr>
        <p:spPr>
          <a:xfrm>
            <a:off x="548640" y="4206240"/>
            <a:ext cx="11064240" cy="365760"/>
          </a:xfrm>
          <a:prstGeom prst="rect">
            <a:avLst/>
          </a:prstGeom>
          <a:solidFill>
            <a:srgbClr val="1A1A28"/>
          </a:solidFill>
          <a:ln w="6350">
            <a:solidFill>
              <a:srgbClr val="333344"/>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Shape 13"/>
          <p:cNvSpPr/>
          <p:nvPr/>
        </p:nvSpPr>
        <p:spPr>
          <a:xfrm>
            <a:off x="548640" y="4206240"/>
            <a:ext cx="73152" cy="365760"/>
          </a:xfrm>
          <a:prstGeom prst="rect">
            <a:avLst/>
          </a:prstGeom>
          <a:solidFill>
            <a:srgbClr val="EC008C"/>
          </a:solidFill>
          <a:ln w="12700">
            <a:solidFill>
              <a:srgbClr val="EC008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Text 14"/>
          <p:cNvSpPr/>
          <p:nvPr/>
        </p:nvSpPr>
        <p:spPr>
          <a:xfrm>
            <a:off x="868680" y="4206240"/>
            <a:ext cx="54864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EC008C"/>
                </a:solidFill>
                <a:effectLst/>
                <a:uLnTx/>
                <a:uFillTx/>
                <a:latin typeface="Calibri" pitchFamily="34" charset="0"/>
                <a:ea typeface="Calibri" pitchFamily="34" charset="-122"/>
                <a:cs typeface="Calibri" pitchFamily="34" charset="-120"/>
              </a:rPr>
              <a:t>2</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Text 15"/>
          <p:cNvSpPr/>
          <p:nvPr/>
        </p:nvSpPr>
        <p:spPr>
          <a:xfrm>
            <a:off x="1463040" y="4206240"/>
            <a:ext cx="868680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Venta consultiva enfocada a longevidad y bienestar (no estética)</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Text 16"/>
          <p:cNvSpPr/>
          <p:nvPr/>
        </p:nvSpPr>
        <p:spPr>
          <a:xfrm>
            <a:off x="10241280" y="4206240"/>
            <a:ext cx="1280160" cy="36576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EC008C"/>
                </a:solidFill>
                <a:effectLst/>
                <a:uLnTx/>
                <a:uFillTx/>
                <a:latin typeface="Calibri" pitchFamily="34" charset="0"/>
                <a:ea typeface="Calibri" pitchFamily="34" charset="-122"/>
                <a:cs typeface="Calibri" pitchFamily="34" charset="-120"/>
              </a:rPr>
              <a:t>2.67</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Shape 17"/>
          <p:cNvSpPr/>
          <p:nvPr/>
        </p:nvSpPr>
        <p:spPr>
          <a:xfrm>
            <a:off x="548640" y="4617720"/>
            <a:ext cx="11064240" cy="365760"/>
          </a:xfrm>
          <a:prstGeom prst="rect">
            <a:avLst/>
          </a:prstGeom>
          <a:solidFill>
            <a:srgbClr val="1A1A28"/>
          </a:solidFill>
          <a:ln w="6350">
            <a:solidFill>
              <a:srgbClr val="333344"/>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 name="Shape 18"/>
          <p:cNvSpPr/>
          <p:nvPr/>
        </p:nvSpPr>
        <p:spPr>
          <a:xfrm>
            <a:off x="548640" y="4617720"/>
            <a:ext cx="73152" cy="365760"/>
          </a:xfrm>
          <a:prstGeom prst="rect">
            <a:avLst/>
          </a:prstGeom>
          <a:solidFill>
            <a:srgbClr val="EC008C"/>
          </a:solidFill>
          <a:ln w="12700">
            <a:solidFill>
              <a:srgbClr val="EC008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 name="Text 19"/>
          <p:cNvSpPr/>
          <p:nvPr/>
        </p:nvSpPr>
        <p:spPr>
          <a:xfrm>
            <a:off x="868680" y="4617720"/>
            <a:ext cx="54864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EC008C"/>
                </a:solidFill>
                <a:effectLst/>
                <a:uLnTx/>
                <a:uFillTx/>
                <a:latin typeface="Calibri" pitchFamily="34" charset="0"/>
                <a:ea typeface="Calibri" pitchFamily="34" charset="-122"/>
                <a:cs typeface="Calibri" pitchFamily="34" charset="-120"/>
              </a:rPr>
              <a:t>2</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 name="Text 20"/>
          <p:cNvSpPr/>
          <p:nvPr/>
        </p:nvSpPr>
        <p:spPr>
          <a:xfrm>
            <a:off x="1463040" y="4617720"/>
            <a:ext cx="868680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Hospitalidad premium y construcción de vínculos (anfitrión)</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4" name="Text 21"/>
          <p:cNvSpPr/>
          <p:nvPr/>
        </p:nvSpPr>
        <p:spPr>
          <a:xfrm>
            <a:off x="10241280" y="4617720"/>
            <a:ext cx="1280160" cy="36576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EC008C"/>
                </a:solidFill>
                <a:effectLst/>
                <a:uLnTx/>
                <a:uFillTx/>
                <a:latin typeface="Calibri" pitchFamily="34" charset="0"/>
                <a:ea typeface="Calibri" pitchFamily="34" charset="-122"/>
                <a:cs typeface="Calibri" pitchFamily="34" charset="-120"/>
              </a:rPr>
              <a:t>2.67</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Shape 22"/>
          <p:cNvSpPr/>
          <p:nvPr/>
        </p:nvSpPr>
        <p:spPr>
          <a:xfrm>
            <a:off x="548640" y="5029200"/>
            <a:ext cx="11064240" cy="365760"/>
          </a:xfrm>
          <a:prstGeom prst="rect">
            <a:avLst/>
          </a:prstGeom>
          <a:solidFill>
            <a:srgbClr val="1A1A28"/>
          </a:solidFill>
          <a:ln w="6350">
            <a:solidFill>
              <a:srgbClr val="333344"/>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 name="Shape 23"/>
          <p:cNvSpPr/>
          <p:nvPr/>
        </p:nvSpPr>
        <p:spPr>
          <a:xfrm>
            <a:off x="548640" y="5029200"/>
            <a:ext cx="73152" cy="365760"/>
          </a:xfrm>
          <a:prstGeom prst="rect">
            <a:avLst/>
          </a:prstGeom>
          <a:solidFill>
            <a:srgbClr val="333344"/>
          </a:solidFill>
          <a:ln w="12700">
            <a:solidFill>
              <a:srgbClr val="333344"/>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 name="Text 24"/>
          <p:cNvSpPr/>
          <p:nvPr/>
        </p:nvSpPr>
        <p:spPr>
          <a:xfrm>
            <a:off x="868680" y="5029200"/>
            <a:ext cx="54864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B8B8C5"/>
                </a:solidFill>
                <a:effectLst/>
                <a:uLnTx/>
                <a:uFillTx/>
                <a:latin typeface="Calibri" pitchFamily="34" charset="0"/>
                <a:ea typeface="Calibri" pitchFamily="34" charset="-122"/>
                <a:cs typeface="Calibri" pitchFamily="34" charset="-120"/>
              </a:rPr>
              <a:t>4</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8" name="Text 25"/>
          <p:cNvSpPr/>
          <p:nvPr/>
        </p:nvSpPr>
        <p:spPr>
          <a:xfrm>
            <a:off x="1463040" y="5029200"/>
            <a:ext cx="868680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Manejo de objeciones reputacionales (app, mantenimiento, reseñas)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9" name="Text 26"/>
          <p:cNvSpPr/>
          <p:nvPr/>
        </p:nvSpPr>
        <p:spPr>
          <a:xfrm>
            <a:off x="10241280" y="5029200"/>
            <a:ext cx="1280160" cy="36576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B8B8C5"/>
                </a:solidFill>
                <a:effectLst/>
                <a:uLnTx/>
                <a:uFillTx/>
                <a:latin typeface="Calibri" pitchFamily="34" charset="0"/>
                <a:ea typeface="Calibri" pitchFamily="34" charset="-122"/>
                <a:cs typeface="Calibri" pitchFamily="34" charset="-120"/>
              </a:rPr>
              <a:t>4.00</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0" name="Shape 27"/>
          <p:cNvSpPr/>
          <p:nvPr/>
        </p:nvSpPr>
        <p:spPr>
          <a:xfrm>
            <a:off x="548640" y="5440680"/>
            <a:ext cx="11064240" cy="365760"/>
          </a:xfrm>
          <a:prstGeom prst="rect">
            <a:avLst/>
          </a:prstGeom>
          <a:solidFill>
            <a:srgbClr val="1A1A28"/>
          </a:solidFill>
          <a:ln w="6350">
            <a:solidFill>
              <a:srgbClr val="333344"/>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1" name="Shape 28"/>
          <p:cNvSpPr/>
          <p:nvPr/>
        </p:nvSpPr>
        <p:spPr>
          <a:xfrm>
            <a:off x="548640" y="5440680"/>
            <a:ext cx="73152" cy="365760"/>
          </a:xfrm>
          <a:prstGeom prst="rect">
            <a:avLst/>
          </a:prstGeom>
          <a:solidFill>
            <a:srgbClr val="333344"/>
          </a:solidFill>
          <a:ln w="12700">
            <a:solidFill>
              <a:srgbClr val="333344"/>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2" name="Text 29"/>
          <p:cNvSpPr/>
          <p:nvPr/>
        </p:nvSpPr>
        <p:spPr>
          <a:xfrm>
            <a:off x="868680" y="5440680"/>
            <a:ext cx="54864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B8B8C5"/>
                </a:solidFill>
                <a:effectLst/>
                <a:uLnTx/>
                <a:uFillTx/>
                <a:latin typeface="Calibri" pitchFamily="34" charset="0"/>
                <a:ea typeface="Calibri" pitchFamily="34" charset="-122"/>
                <a:cs typeface="Calibri" pitchFamily="34" charset="-120"/>
              </a:rPr>
              <a:t>5</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3" name="Text 30"/>
          <p:cNvSpPr/>
          <p:nvPr/>
        </p:nvSpPr>
        <p:spPr>
          <a:xfrm>
            <a:off x="1463040" y="5440680"/>
            <a:ext cx="868680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Llamadas de hito del asesor al nuevo socio en sus 90 días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4" name="Text 31"/>
          <p:cNvSpPr/>
          <p:nvPr/>
        </p:nvSpPr>
        <p:spPr>
          <a:xfrm>
            <a:off x="10241280" y="5440680"/>
            <a:ext cx="1280160" cy="36576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B8B8C5"/>
                </a:solidFill>
                <a:effectLst/>
                <a:uLnTx/>
                <a:uFillTx/>
                <a:latin typeface="Calibri" pitchFamily="34" charset="0"/>
                <a:ea typeface="Calibri" pitchFamily="34" charset="-122"/>
                <a:cs typeface="Calibri" pitchFamily="34" charset="-120"/>
              </a:rPr>
              <a:t>4.67</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5" name="Shape 32"/>
          <p:cNvSpPr/>
          <p:nvPr/>
        </p:nvSpPr>
        <p:spPr>
          <a:xfrm>
            <a:off x="548640" y="5852160"/>
            <a:ext cx="11064240" cy="365760"/>
          </a:xfrm>
          <a:prstGeom prst="rect">
            <a:avLst/>
          </a:prstGeom>
          <a:solidFill>
            <a:srgbClr val="1A1A28"/>
          </a:solidFill>
          <a:ln w="6350">
            <a:solidFill>
              <a:srgbClr val="333344"/>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6" name="Shape 33"/>
          <p:cNvSpPr/>
          <p:nvPr/>
        </p:nvSpPr>
        <p:spPr>
          <a:xfrm>
            <a:off x="548640" y="5852160"/>
            <a:ext cx="73152" cy="365760"/>
          </a:xfrm>
          <a:prstGeom prst="rect">
            <a:avLst/>
          </a:prstGeom>
          <a:solidFill>
            <a:srgbClr val="333344"/>
          </a:solidFill>
          <a:ln w="12700">
            <a:solidFill>
              <a:srgbClr val="333344"/>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7" name="Text 34"/>
          <p:cNvSpPr/>
          <p:nvPr/>
        </p:nvSpPr>
        <p:spPr>
          <a:xfrm>
            <a:off x="868680" y="5852160"/>
            <a:ext cx="54864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B8B8C5"/>
                </a:solidFill>
                <a:effectLst/>
                <a:uLnTx/>
                <a:uFillTx/>
                <a:latin typeface="Calibri" pitchFamily="34" charset="0"/>
                <a:ea typeface="Calibri" pitchFamily="34" charset="-122"/>
                <a:cs typeface="Calibri" pitchFamily="34" charset="-120"/>
              </a:rPr>
              <a:t>6</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8" name="Text 35"/>
          <p:cNvSpPr/>
          <p:nvPr/>
        </p:nvSpPr>
        <p:spPr>
          <a:xfrm>
            <a:off x="1463040" y="5852160"/>
            <a:ext cx="868680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Alfabetización digital y demostración de la app SW en el cierre</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9" name="Text 36"/>
          <p:cNvSpPr/>
          <p:nvPr/>
        </p:nvSpPr>
        <p:spPr>
          <a:xfrm>
            <a:off x="10241280" y="5852160"/>
            <a:ext cx="1280160" cy="36576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B8B8C5"/>
                </a:solidFill>
                <a:effectLst/>
                <a:uLnTx/>
                <a:uFillTx/>
                <a:latin typeface="Calibri" pitchFamily="34" charset="0"/>
                <a:ea typeface="Calibri" pitchFamily="34" charset="-122"/>
                <a:cs typeface="Calibri" pitchFamily="34" charset="-120"/>
              </a:rPr>
              <a:t>5.00</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1" name="Shape 38"/>
          <p:cNvSpPr/>
          <p:nvPr/>
        </p:nvSpPr>
        <p:spPr>
          <a:xfrm>
            <a:off x="548640" y="6400800"/>
            <a:ext cx="118872" cy="118872"/>
          </a:xfrm>
          <a:prstGeom prst="ellipse">
            <a:avLst/>
          </a:prstGeom>
          <a:solidFill>
            <a:srgbClr val="EC008C"/>
          </a:solidFill>
          <a:ln w="12700">
            <a:solidFill>
              <a:srgbClr val="EC008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2" name="Text 39"/>
          <p:cNvSpPr/>
          <p:nvPr/>
        </p:nvSpPr>
        <p:spPr>
          <a:xfrm>
            <a:off x="777240" y="6355080"/>
            <a:ext cx="6400800" cy="2286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0" cap="none" spc="400" normalizeH="0" baseline="0" noProof="0" dirty="0">
                <a:ln>
                  <a:noFill/>
                </a:ln>
                <a:solidFill>
                  <a:srgbClr val="FFFFFF"/>
                </a:solidFill>
                <a:effectLst/>
                <a:uLnTx/>
                <a:uFillTx/>
                <a:latin typeface="Calibri" pitchFamily="34" charset="0"/>
                <a:ea typeface="Calibri" pitchFamily="34" charset="-122"/>
                <a:cs typeface="Calibri" pitchFamily="34" charset="-120"/>
              </a:rPr>
              <a:t>FINAL UPGRADE AI  ·  RESULTADOS DEL CUESTIONARIO</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3" name="Text 40"/>
          <p:cNvSpPr/>
          <p:nvPr/>
        </p:nvSpPr>
        <p:spPr>
          <a:xfrm>
            <a:off x="11002975" y="6355080"/>
            <a:ext cx="640080" cy="22860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B8B8C5"/>
                </a:solidFill>
                <a:effectLst/>
                <a:uLnTx/>
                <a:uFillTx/>
                <a:latin typeface="Calibri" pitchFamily="34" charset="0"/>
                <a:ea typeface="Calibri" pitchFamily="34" charset="-122"/>
                <a:cs typeface="Calibri" pitchFamily="34" charset="-120"/>
              </a:rPr>
              <a:t>11 / 14</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F0F1B"/>
        </a:solidFill>
        <a:effectLst/>
      </p:bgPr>
    </p:bg>
    <p:spTree>
      <p:nvGrpSpPr>
        <p:cNvPr id="1" name=""/>
        <p:cNvGrpSpPr/>
        <p:nvPr/>
      </p:nvGrpSpPr>
      <p:grpSpPr>
        <a:xfrm>
          <a:off x="0" y="0"/>
          <a:ext cx="0" cy="0"/>
          <a:chOff x="0" y="0"/>
          <a:chExt cx="0" cy="0"/>
        </a:xfrm>
      </p:grpSpPr>
      <p:sp>
        <p:nvSpPr>
          <p:cNvPr id="2" name="Text 0"/>
          <p:cNvSpPr/>
          <p:nvPr/>
        </p:nvSpPr>
        <p:spPr>
          <a:xfrm>
            <a:off x="548640" y="411480"/>
            <a:ext cx="73152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600" normalizeH="0" baseline="0" noProof="0" dirty="0">
                <a:ln>
                  <a:noFill/>
                </a:ln>
                <a:solidFill>
                  <a:srgbClr val="EC008C"/>
                </a:solidFill>
                <a:effectLst/>
                <a:uLnTx/>
                <a:uFillTx/>
                <a:latin typeface="Calibri" pitchFamily="34" charset="0"/>
                <a:ea typeface="Calibri" pitchFamily="34" charset="-122"/>
                <a:cs typeface="Calibri" pitchFamily="34" charset="-120"/>
              </a:rPr>
              <a:t>TEMA CRÍTICO ADICIONAL Y VISIÓN DE ÉXITO A 6 MESES</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3" name="Image 0" descr="/home/claude/sw_pres/sw_logo_transparent.png"/>
          <p:cNvPicPr>
            <a:picLocks noChangeAspect="1"/>
          </p:cNvPicPr>
          <p:nvPr/>
        </p:nvPicPr>
        <p:blipFill>
          <a:blip r:embed="rId3"/>
          <a:stretch>
            <a:fillRect/>
          </a:stretch>
        </p:blipFill>
        <p:spPr>
          <a:xfrm>
            <a:off x="11094415" y="228600"/>
            <a:ext cx="777240" cy="777240"/>
          </a:xfrm>
          <a:prstGeom prst="rect">
            <a:avLst/>
          </a:prstGeom>
        </p:spPr>
      </p:pic>
      <p:sp>
        <p:nvSpPr>
          <p:cNvPr id="4" name="Shape 1"/>
          <p:cNvSpPr/>
          <p:nvPr/>
        </p:nvSpPr>
        <p:spPr>
          <a:xfrm>
            <a:off x="548640" y="1005840"/>
            <a:ext cx="9997135" cy="0"/>
          </a:xfrm>
          <a:prstGeom prst="line">
            <a:avLst/>
          </a:prstGeom>
          <a:noFill/>
          <a:ln w="12700">
            <a:solidFill>
              <a:srgbClr val="EC008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Shape 2"/>
          <p:cNvSpPr/>
          <p:nvPr/>
        </p:nvSpPr>
        <p:spPr>
          <a:xfrm>
            <a:off x="548640" y="1371600"/>
            <a:ext cx="1554480" cy="411480"/>
          </a:xfrm>
          <a:prstGeom prst="roundRect">
            <a:avLst>
              <a:gd name="adj" fmla="val 50000"/>
            </a:avLst>
          </a:prstGeom>
          <a:solidFill>
            <a:srgbClr val="EC008C"/>
          </a:solidFill>
          <a:ln w="12700">
            <a:solidFill>
              <a:srgbClr val="EC008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 3"/>
          <p:cNvSpPr/>
          <p:nvPr/>
        </p:nvSpPr>
        <p:spPr>
          <a:xfrm>
            <a:off x="548640" y="1371600"/>
            <a:ext cx="1554480" cy="41148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400" normalizeH="0" baseline="0" noProof="0" dirty="0">
                <a:ln>
                  <a:noFill/>
                </a:ln>
                <a:solidFill>
                  <a:srgbClr val="FFFFFF"/>
                </a:solidFill>
                <a:effectLst/>
                <a:uLnTx/>
                <a:uFillTx/>
                <a:latin typeface="Calibri" pitchFamily="34" charset="0"/>
                <a:ea typeface="Calibri" pitchFamily="34" charset="-122"/>
                <a:cs typeface="Calibri" pitchFamily="34" charset="-120"/>
              </a:rPr>
              <a:t>CUALITATIVO</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4"/>
          <p:cNvSpPr/>
          <p:nvPr/>
        </p:nvSpPr>
        <p:spPr>
          <a:xfrm>
            <a:off x="548640" y="2011680"/>
            <a:ext cx="10972800" cy="9144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Venta por valor, no por promoción</a:t>
            </a:r>
            <a:endParaRPr kumimoji="0" lang="en-US" sz="3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5"/>
          <p:cNvSpPr/>
          <p:nvPr/>
        </p:nvSpPr>
        <p:spPr>
          <a:xfrm>
            <a:off x="548640" y="2782028"/>
            <a:ext cx="1097280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1" u="none" strike="noStrike" kern="1200" cap="none" spc="0" normalizeH="0" baseline="0" noProof="0" dirty="0">
                <a:ln>
                  <a:noFill/>
                </a:ln>
                <a:solidFill>
                  <a:srgbClr val="EC008C"/>
                </a:solidFill>
                <a:effectLst/>
                <a:uLnTx/>
                <a:uFillTx/>
                <a:latin typeface="Calibri" pitchFamily="34" charset="0"/>
                <a:ea typeface="Calibri" pitchFamily="34" charset="-122"/>
                <a:cs typeface="Calibri" pitchFamily="34" charset="-120"/>
              </a:rPr>
              <a:t>La aspiración común: que el asesor venda calidad, no descuento</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Shape 6"/>
          <p:cNvSpPr/>
          <p:nvPr/>
        </p:nvSpPr>
        <p:spPr>
          <a:xfrm>
            <a:off x="548640" y="3239228"/>
            <a:ext cx="5486400" cy="0"/>
          </a:xfrm>
          <a:prstGeom prst="line">
            <a:avLst/>
          </a:prstGeom>
          <a:noFill/>
          <a:ln w="12700">
            <a:solidFill>
              <a:srgbClr val="EC008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Text 7"/>
          <p:cNvSpPr/>
          <p:nvPr/>
        </p:nvSpPr>
        <p:spPr>
          <a:xfrm>
            <a:off x="548640" y="3559268"/>
            <a:ext cx="109728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400" normalizeH="0" baseline="0" noProof="0" dirty="0">
                <a:ln>
                  <a:noFill/>
                </a:ln>
                <a:solidFill>
                  <a:srgbClr val="EC008C"/>
                </a:solidFill>
                <a:effectLst/>
                <a:uLnTx/>
                <a:uFillTx/>
                <a:latin typeface="Calibri" pitchFamily="34" charset="0"/>
                <a:ea typeface="Calibri" pitchFamily="34" charset="-122"/>
                <a:cs typeface="Calibri" pitchFamily="34" charset="-120"/>
              </a:rPr>
              <a:t>TEMA CRÍTICO QUE PROPONEN AGREGAR</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 8"/>
          <p:cNvSpPr/>
          <p:nvPr/>
        </p:nvSpPr>
        <p:spPr>
          <a:xfrm>
            <a:off x="548640" y="3879308"/>
            <a:ext cx="109728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  Gerardo — Seguimiento puntual a prospectos que no compran en la primera visita</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 9"/>
          <p:cNvSpPr/>
          <p:nvPr/>
        </p:nvSpPr>
        <p:spPr>
          <a:xfrm>
            <a:off x="548640" y="4171916"/>
            <a:ext cx="109728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  Jonathan — Capacitación integral de beneficios de cada área de SW, integrada al proceso de venta</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Text 10"/>
          <p:cNvSpPr/>
          <p:nvPr/>
        </p:nvSpPr>
        <p:spPr>
          <a:xfrm>
            <a:off x="548640" y="4464524"/>
            <a:ext cx="109728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  Mario — Asertividad en demostración de producto: cerrar por calidad, no por promoción</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Text 11"/>
          <p:cNvSpPr/>
          <p:nvPr/>
        </p:nvSpPr>
        <p:spPr>
          <a:xfrm>
            <a:off x="548640" y="4930868"/>
            <a:ext cx="109728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400" normalizeH="0" baseline="0" noProof="0" dirty="0">
                <a:ln>
                  <a:noFill/>
                </a:ln>
                <a:solidFill>
                  <a:srgbClr val="EC008C"/>
                </a:solidFill>
                <a:effectLst/>
                <a:uLnTx/>
                <a:uFillTx/>
                <a:latin typeface="Calibri" pitchFamily="34" charset="0"/>
                <a:ea typeface="Calibri" pitchFamily="34" charset="-122"/>
                <a:cs typeface="Calibri" pitchFamily="34" charset="-120"/>
              </a:rPr>
              <a:t>VISIÓN DE ÉXITO A 6 MESES</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Text 12"/>
          <p:cNvSpPr/>
          <p:nvPr/>
        </p:nvSpPr>
        <p:spPr>
          <a:xfrm>
            <a:off x="548640" y="5250908"/>
            <a:ext cx="109728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  Gerardo — Servicio premium homologado y conocimiento integral de oferta de valor y deportiva</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Text 13"/>
          <p:cNvSpPr/>
          <p:nvPr/>
        </p:nvSpPr>
        <p:spPr>
          <a:xfrm>
            <a:off x="548640" y="5543516"/>
            <a:ext cx="109728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  Jonathan — Estructura de seguimiento con metas claras en cada paso del funnel de venta y post-venta</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Text 14"/>
          <p:cNvSpPr/>
          <p:nvPr/>
        </p:nvSpPr>
        <p:spPr>
          <a:xfrm>
            <a:off x="548640" y="5836124"/>
            <a:ext cx="109728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  Mario — Que ellos sepan que van a cumplir el objetivo por valor y no por promoción</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Shape 15"/>
          <p:cNvSpPr/>
          <p:nvPr/>
        </p:nvSpPr>
        <p:spPr>
          <a:xfrm>
            <a:off x="548640" y="6400800"/>
            <a:ext cx="118872" cy="118872"/>
          </a:xfrm>
          <a:prstGeom prst="ellipse">
            <a:avLst/>
          </a:prstGeom>
          <a:solidFill>
            <a:srgbClr val="EC008C"/>
          </a:solidFill>
          <a:ln w="12700">
            <a:solidFill>
              <a:srgbClr val="EC008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 name="Text 16"/>
          <p:cNvSpPr/>
          <p:nvPr/>
        </p:nvSpPr>
        <p:spPr>
          <a:xfrm>
            <a:off x="777240" y="6355080"/>
            <a:ext cx="6400800" cy="2286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0" cap="none" spc="400" normalizeH="0" baseline="0" noProof="0" dirty="0">
                <a:ln>
                  <a:noFill/>
                </a:ln>
                <a:solidFill>
                  <a:srgbClr val="FFFFFF"/>
                </a:solidFill>
                <a:effectLst/>
                <a:uLnTx/>
                <a:uFillTx/>
                <a:latin typeface="Calibri" pitchFamily="34" charset="0"/>
                <a:ea typeface="Calibri" pitchFamily="34" charset="-122"/>
                <a:cs typeface="Calibri" pitchFamily="34" charset="-120"/>
              </a:rPr>
              <a:t>FINAL UPGRADE AI  ·  RESULTADOS DEL CUESTIONARIO</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Text 17"/>
          <p:cNvSpPr/>
          <p:nvPr/>
        </p:nvSpPr>
        <p:spPr>
          <a:xfrm>
            <a:off x="11002975" y="6355080"/>
            <a:ext cx="640080" cy="22860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B8B8C5"/>
                </a:solidFill>
                <a:effectLst/>
                <a:uLnTx/>
                <a:uFillTx/>
                <a:latin typeface="Calibri" pitchFamily="34" charset="0"/>
                <a:ea typeface="Calibri" pitchFamily="34" charset="-122"/>
                <a:cs typeface="Calibri" pitchFamily="34" charset="-120"/>
              </a:rPr>
              <a:t>12 / 14</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F0F1B"/>
        </a:solidFill>
        <a:effectLst/>
      </p:bgPr>
    </p:bg>
    <p:spTree>
      <p:nvGrpSpPr>
        <p:cNvPr id="1" name=""/>
        <p:cNvGrpSpPr/>
        <p:nvPr/>
      </p:nvGrpSpPr>
      <p:grpSpPr>
        <a:xfrm>
          <a:off x="0" y="0"/>
          <a:ext cx="0" cy="0"/>
          <a:chOff x="0" y="0"/>
          <a:chExt cx="0" cy="0"/>
        </a:xfrm>
      </p:grpSpPr>
      <p:sp>
        <p:nvSpPr>
          <p:cNvPr id="2" name="Text 0"/>
          <p:cNvSpPr/>
          <p:nvPr/>
        </p:nvSpPr>
        <p:spPr>
          <a:xfrm>
            <a:off x="548640" y="411480"/>
            <a:ext cx="73152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600" normalizeH="0" baseline="0" noProof="0" dirty="0">
                <a:ln>
                  <a:noFill/>
                </a:ln>
                <a:solidFill>
                  <a:srgbClr val="EC008C"/>
                </a:solidFill>
                <a:effectLst/>
                <a:uLnTx/>
                <a:uFillTx/>
                <a:latin typeface="Calibri" pitchFamily="34" charset="0"/>
                <a:ea typeface="Calibri" pitchFamily="34" charset="-122"/>
                <a:cs typeface="Calibri" pitchFamily="34" charset="-120"/>
              </a:rPr>
              <a:t>CUATRO PATRONES CONSISTENTES EN LAS RESPUESTAS</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3" name="Image 0" descr="/home/claude/sw_pres/sw_logo_transparent.png"/>
          <p:cNvPicPr>
            <a:picLocks noChangeAspect="1"/>
          </p:cNvPicPr>
          <p:nvPr/>
        </p:nvPicPr>
        <p:blipFill>
          <a:blip r:embed="rId3"/>
          <a:stretch>
            <a:fillRect/>
          </a:stretch>
        </p:blipFill>
        <p:spPr>
          <a:xfrm>
            <a:off x="11094415" y="228600"/>
            <a:ext cx="777240" cy="777240"/>
          </a:xfrm>
          <a:prstGeom prst="rect">
            <a:avLst/>
          </a:prstGeom>
        </p:spPr>
      </p:pic>
      <p:sp>
        <p:nvSpPr>
          <p:cNvPr id="4" name="Shape 1"/>
          <p:cNvSpPr/>
          <p:nvPr/>
        </p:nvSpPr>
        <p:spPr>
          <a:xfrm>
            <a:off x="548640" y="1005840"/>
            <a:ext cx="9997135" cy="0"/>
          </a:xfrm>
          <a:prstGeom prst="line">
            <a:avLst/>
          </a:prstGeom>
          <a:noFill/>
          <a:ln w="12700">
            <a:solidFill>
              <a:srgbClr val="EC008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Shape 2"/>
          <p:cNvSpPr/>
          <p:nvPr/>
        </p:nvSpPr>
        <p:spPr>
          <a:xfrm>
            <a:off x="548640" y="1371600"/>
            <a:ext cx="1280160" cy="411480"/>
          </a:xfrm>
          <a:prstGeom prst="roundRect">
            <a:avLst>
              <a:gd name="adj" fmla="val 50000"/>
            </a:avLst>
          </a:prstGeom>
          <a:solidFill>
            <a:srgbClr val="EC008C"/>
          </a:solidFill>
          <a:ln w="12700">
            <a:solidFill>
              <a:srgbClr val="EC008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 3"/>
          <p:cNvSpPr/>
          <p:nvPr/>
        </p:nvSpPr>
        <p:spPr>
          <a:xfrm>
            <a:off x="548640" y="1371600"/>
            <a:ext cx="1280160" cy="41148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400" normalizeH="0" baseline="0" noProof="0" dirty="0">
                <a:ln>
                  <a:noFill/>
                </a:ln>
                <a:solidFill>
                  <a:srgbClr val="FFFFFF"/>
                </a:solidFill>
                <a:effectLst/>
                <a:uLnTx/>
                <a:uFillTx/>
                <a:latin typeface="Calibri" pitchFamily="34" charset="0"/>
                <a:ea typeface="Calibri" pitchFamily="34" charset="-122"/>
                <a:cs typeface="Calibri" pitchFamily="34" charset="-120"/>
              </a:rPr>
              <a:t>SÍNTESIS</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4"/>
          <p:cNvSpPr/>
          <p:nvPr/>
        </p:nvSpPr>
        <p:spPr>
          <a:xfrm>
            <a:off x="548640" y="2011680"/>
            <a:ext cx="10972800" cy="9144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8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Lo que el cuestionario nos dice</a:t>
            </a:r>
            <a:endParaRPr kumimoji="0" lang="en-US" sz="3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Shape 5"/>
          <p:cNvSpPr/>
          <p:nvPr/>
        </p:nvSpPr>
        <p:spPr>
          <a:xfrm>
            <a:off x="548640" y="3108960"/>
            <a:ext cx="5486400" cy="0"/>
          </a:xfrm>
          <a:prstGeom prst="line">
            <a:avLst/>
          </a:prstGeom>
          <a:noFill/>
          <a:ln w="12700">
            <a:solidFill>
              <a:srgbClr val="EC008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Shape 6"/>
          <p:cNvSpPr/>
          <p:nvPr/>
        </p:nvSpPr>
        <p:spPr>
          <a:xfrm>
            <a:off x="548640" y="3520440"/>
            <a:ext cx="5486400" cy="1280160"/>
          </a:xfrm>
          <a:prstGeom prst="rect">
            <a:avLst/>
          </a:prstGeom>
          <a:solidFill>
            <a:srgbClr val="1A1A28"/>
          </a:solidFill>
          <a:ln w="6350">
            <a:solidFill>
              <a:srgbClr val="333344"/>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Shape 7"/>
          <p:cNvSpPr/>
          <p:nvPr/>
        </p:nvSpPr>
        <p:spPr>
          <a:xfrm>
            <a:off x="548640" y="3520440"/>
            <a:ext cx="5486400" cy="54864"/>
          </a:xfrm>
          <a:prstGeom prst="rect">
            <a:avLst/>
          </a:prstGeom>
          <a:solidFill>
            <a:srgbClr val="EC008C"/>
          </a:solidFill>
          <a:ln w="12700">
            <a:solidFill>
              <a:srgbClr val="EC008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Text 8"/>
          <p:cNvSpPr/>
          <p:nvPr/>
        </p:nvSpPr>
        <p:spPr>
          <a:xfrm>
            <a:off x="777240" y="3657600"/>
            <a:ext cx="731520" cy="457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EC008C"/>
                </a:solidFill>
                <a:effectLst/>
                <a:uLnTx/>
                <a:uFillTx/>
                <a:latin typeface="Calibri" pitchFamily="34" charset="0"/>
                <a:ea typeface="Calibri" pitchFamily="34" charset="-122"/>
                <a:cs typeface="Calibri" pitchFamily="34" charset="-120"/>
              </a:rPr>
              <a:t>01</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Shape 11"/>
          <p:cNvSpPr/>
          <p:nvPr/>
        </p:nvSpPr>
        <p:spPr>
          <a:xfrm>
            <a:off x="6126480" y="3520440"/>
            <a:ext cx="5486400" cy="1280160"/>
          </a:xfrm>
          <a:prstGeom prst="rect">
            <a:avLst/>
          </a:prstGeom>
          <a:solidFill>
            <a:srgbClr val="1A1A28"/>
          </a:solidFill>
          <a:ln w="6350">
            <a:solidFill>
              <a:srgbClr val="333344"/>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 name="Shape 12"/>
          <p:cNvSpPr/>
          <p:nvPr/>
        </p:nvSpPr>
        <p:spPr>
          <a:xfrm>
            <a:off x="6126480" y="3520440"/>
            <a:ext cx="5486400" cy="54864"/>
          </a:xfrm>
          <a:prstGeom prst="rect">
            <a:avLst/>
          </a:prstGeom>
          <a:solidFill>
            <a:srgbClr val="EC008C"/>
          </a:solidFill>
          <a:ln w="12700">
            <a:solidFill>
              <a:srgbClr val="EC008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Text 13"/>
          <p:cNvSpPr/>
          <p:nvPr/>
        </p:nvSpPr>
        <p:spPr>
          <a:xfrm>
            <a:off x="6355080" y="3657600"/>
            <a:ext cx="731520" cy="457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EC008C"/>
                </a:solidFill>
                <a:effectLst/>
                <a:uLnTx/>
                <a:uFillTx/>
                <a:latin typeface="Calibri" pitchFamily="34" charset="0"/>
                <a:ea typeface="Calibri" pitchFamily="34" charset="-122"/>
                <a:cs typeface="Calibri" pitchFamily="34" charset="-120"/>
              </a:rPr>
              <a:t>02</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Text 14"/>
          <p:cNvSpPr/>
          <p:nvPr/>
        </p:nvSpPr>
        <p:spPr>
          <a:xfrm>
            <a:off x="7132320" y="3657600"/>
            <a:ext cx="4297680" cy="41148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La pérdida ocurre en el PRIMER CONTACTO</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Text 15"/>
          <p:cNvSpPr/>
          <p:nvPr/>
        </p:nvSpPr>
        <p:spPr>
          <a:xfrm>
            <a:off x="7132320" y="4114800"/>
            <a:ext cx="4297680" cy="64008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B8B8C5"/>
                </a:solidFill>
                <a:effectLst/>
                <a:uLnTx/>
                <a:uFillTx/>
                <a:latin typeface="Calibri" pitchFamily="34" charset="0"/>
                <a:ea typeface="Calibri" pitchFamily="34" charset="-122"/>
                <a:cs typeface="Calibri" pitchFamily="34" charset="-120"/>
              </a:rPr>
              <a:t>Los 3 líderes coinciden: el asesor vende muy rápido sin discovery. Da precio y promoción antes de entender al prospecto.</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Shape 16"/>
          <p:cNvSpPr/>
          <p:nvPr/>
        </p:nvSpPr>
        <p:spPr>
          <a:xfrm>
            <a:off x="548640" y="4937760"/>
            <a:ext cx="5486400" cy="1280160"/>
          </a:xfrm>
          <a:prstGeom prst="rect">
            <a:avLst/>
          </a:prstGeom>
          <a:solidFill>
            <a:srgbClr val="1A1A28"/>
          </a:solidFill>
          <a:ln w="6350">
            <a:solidFill>
              <a:srgbClr val="333344"/>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Shape 17"/>
          <p:cNvSpPr/>
          <p:nvPr/>
        </p:nvSpPr>
        <p:spPr>
          <a:xfrm>
            <a:off x="548640" y="4937760"/>
            <a:ext cx="5486400" cy="54864"/>
          </a:xfrm>
          <a:prstGeom prst="rect">
            <a:avLst/>
          </a:prstGeom>
          <a:solidFill>
            <a:srgbClr val="EC008C"/>
          </a:solidFill>
          <a:ln w="12700">
            <a:solidFill>
              <a:srgbClr val="EC008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 name="Text 18"/>
          <p:cNvSpPr/>
          <p:nvPr/>
        </p:nvSpPr>
        <p:spPr>
          <a:xfrm>
            <a:off x="777240" y="5074920"/>
            <a:ext cx="731520" cy="457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EC008C"/>
                </a:solidFill>
                <a:effectLst/>
                <a:uLnTx/>
                <a:uFillTx/>
                <a:latin typeface="Calibri" pitchFamily="34" charset="0"/>
                <a:ea typeface="Calibri" pitchFamily="34" charset="-122"/>
                <a:cs typeface="Calibri" pitchFamily="34" charset="-120"/>
              </a:rPr>
              <a:t>03</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Text 19"/>
          <p:cNvSpPr/>
          <p:nvPr/>
        </p:nvSpPr>
        <p:spPr>
          <a:xfrm>
            <a:off x="1325880" y="3657600"/>
            <a:ext cx="4297680" cy="41148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Guion de discovery es la herramienta más urgente</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 name="Text 20"/>
          <p:cNvSpPr/>
          <p:nvPr/>
        </p:nvSpPr>
        <p:spPr>
          <a:xfrm>
            <a:off x="1325880" y="4114800"/>
            <a:ext cx="4297680" cy="64008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B8B8C5"/>
                </a:solidFill>
                <a:effectLst/>
                <a:uLnTx/>
                <a:uFillTx/>
                <a:latin typeface="Calibri" pitchFamily="34" charset="0"/>
                <a:ea typeface="Calibri" pitchFamily="34" charset="-122"/>
                <a:cs typeface="Calibri" pitchFamily="34" charset="-120"/>
              </a:rPr>
              <a:t>3/3 lo marcaron como prioridad. Conecta directamente con el patrón del primer contacto fallido.</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4" name="Shape 21"/>
          <p:cNvSpPr/>
          <p:nvPr/>
        </p:nvSpPr>
        <p:spPr>
          <a:xfrm>
            <a:off x="6126480" y="4937760"/>
            <a:ext cx="5486400" cy="1280160"/>
          </a:xfrm>
          <a:prstGeom prst="rect">
            <a:avLst/>
          </a:prstGeom>
          <a:solidFill>
            <a:srgbClr val="1A1A28"/>
          </a:solidFill>
          <a:ln w="6350">
            <a:solidFill>
              <a:srgbClr val="333344"/>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 name="Shape 22"/>
          <p:cNvSpPr/>
          <p:nvPr/>
        </p:nvSpPr>
        <p:spPr>
          <a:xfrm>
            <a:off x="6126480" y="4937760"/>
            <a:ext cx="5486400" cy="54864"/>
          </a:xfrm>
          <a:prstGeom prst="rect">
            <a:avLst/>
          </a:prstGeom>
          <a:solidFill>
            <a:srgbClr val="EC008C"/>
          </a:solidFill>
          <a:ln w="12700">
            <a:solidFill>
              <a:srgbClr val="EC008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 name="Text 23"/>
          <p:cNvSpPr/>
          <p:nvPr/>
        </p:nvSpPr>
        <p:spPr>
          <a:xfrm>
            <a:off x="6355080" y="5074920"/>
            <a:ext cx="731520" cy="457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EC008C"/>
                </a:solidFill>
                <a:effectLst/>
                <a:uLnTx/>
                <a:uFillTx/>
                <a:latin typeface="Calibri" pitchFamily="34" charset="0"/>
                <a:ea typeface="Calibri" pitchFamily="34" charset="-122"/>
                <a:cs typeface="Calibri" pitchFamily="34" charset="-120"/>
              </a:rPr>
              <a:t>04</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7" name="Text 24"/>
          <p:cNvSpPr/>
          <p:nvPr/>
        </p:nvSpPr>
        <p:spPr>
          <a:xfrm>
            <a:off x="7132320" y="5074920"/>
            <a:ext cx="4297680" cy="41148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Demostración de app NO es la brecha</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8" name="Text 25"/>
          <p:cNvSpPr/>
          <p:nvPr/>
        </p:nvSpPr>
        <p:spPr>
          <a:xfrm>
            <a:off x="7132320" y="5532120"/>
            <a:ext cx="4297680" cy="64008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B8B8C5"/>
                </a:solidFill>
                <a:effectLst/>
                <a:uLnTx/>
                <a:uFillTx/>
                <a:latin typeface="Calibri" pitchFamily="34" charset="0"/>
                <a:ea typeface="Calibri" pitchFamily="34" charset="-122"/>
                <a:cs typeface="Calibri" pitchFamily="34" charset="-120"/>
              </a:rPr>
              <a:t>Score promedio 4.3/5. Priorización colectiva la coloca en último lugar (5.0). Bajar prioridad en el diseño del </a:t>
            </a:r>
            <a:r>
              <a:rPr kumimoji="0" lang="en-US" sz="1100" b="0" i="0" u="none" strike="noStrike" kern="1200" cap="none" spc="0" normalizeH="0" baseline="0" noProof="0" dirty="0" err="1">
                <a:ln>
                  <a:noFill/>
                </a:ln>
                <a:solidFill>
                  <a:srgbClr val="B8B8C5"/>
                </a:solidFill>
                <a:effectLst/>
                <a:uLnTx/>
                <a:uFillTx/>
                <a:latin typeface="Calibri" pitchFamily="34" charset="0"/>
                <a:ea typeface="Calibri" pitchFamily="34" charset="-122"/>
                <a:cs typeface="Calibri" pitchFamily="34" charset="-120"/>
              </a:rPr>
              <a:t>programa</a:t>
            </a:r>
            <a:r>
              <a:rPr kumimoji="0" lang="en-US" sz="1100" b="0" i="0" u="none" strike="noStrike" kern="1200" cap="none" spc="0" normalizeH="0" baseline="0" noProof="0" dirty="0">
                <a:ln>
                  <a:noFill/>
                </a:ln>
                <a:solidFill>
                  <a:srgbClr val="B8B8C5"/>
                </a:solidFill>
                <a:effectLst/>
                <a:uLnTx/>
                <a:uFillTx/>
                <a:latin typeface="Calibri" pitchFamily="34" charset="0"/>
                <a:ea typeface="Calibri" pitchFamily="34" charset="-122"/>
                <a:cs typeface="Calibri" pitchFamily="34" charset="-120"/>
              </a:rPr>
              <a:t>.</a:t>
            </a:r>
            <a:r>
              <a:rPr lang="en-US" sz="1100" dirty="0">
                <a:solidFill>
                  <a:srgbClr val="B8B8C5"/>
                </a:solidFill>
                <a:latin typeface="Calibri" pitchFamily="34" charset="0"/>
                <a:ea typeface="Calibri" pitchFamily="34" charset="-122"/>
                <a:cs typeface="Calibri" pitchFamily="34" charset="-120"/>
              </a:rPr>
              <a:t> Sin embargo la </a:t>
            </a:r>
            <a:r>
              <a:rPr lang="en-US" sz="1100" dirty="0" err="1">
                <a:solidFill>
                  <a:srgbClr val="B8B8C5"/>
                </a:solidFill>
                <a:latin typeface="Calibri" pitchFamily="34" charset="0"/>
                <a:ea typeface="Calibri" pitchFamily="34" charset="-122"/>
                <a:cs typeface="Calibri" pitchFamily="34" charset="-120"/>
              </a:rPr>
              <a:t>demostracion</a:t>
            </a:r>
            <a:r>
              <a:rPr lang="en-US" sz="1100" dirty="0">
                <a:solidFill>
                  <a:srgbClr val="B8B8C5"/>
                </a:solidFill>
                <a:latin typeface="Calibri" pitchFamily="34" charset="0"/>
                <a:ea typeface="Calibri" pitchFamily="34" charset="-122"/>
                <a:cs typeface="Calibri" pitchFamily="34" charset="-120"/>
              </a:rPr>
              <a:t> </a:t>
            </a:r>
            <a:r>
              <a:rPr lang="en-US" sz="1100" dirty="0" err="1">
                <a:solidFill>
                  <a:srgbClr val="B8B8C5"/>
                </a:solidFill>
                <a:latin typeface="Calibri" pitchFamily="34" charset="0"/>
                <a:ea typeface="Calibri" pitchFamily="34" charset="-122"/>
                <a:cs typeface="Calibri" pitchFamily="34" charset="-120"/>
              </a:rPr>
              <a:t>debe</a:t>
            </a:r>
            <a:r>
              <a:rPr lang="en-US" sz="1100" dirty="0">
                <a:solidFill>
                  <a:srgbClr val="B8B8C5"/>
                </a:solidFill>
                <a:latin typeface="Calibri" pitchFamily="34" charset="0"/>
                <a:ea typeface="Calibri" pitchFamily="34" charset="-122"/>
                <a:cs typeface="Calibri" pitchFamily="34" charset="-120"/>
              </a:rPr>
              <a:t> de </a:t>
            </a:r>
            <a:r>
              <a:rPr lang="en-US" sz="1100" dirty="0" err="1">
                <a:solidFill>
                  <a:srgbClr val="B8B8C5"/>
                </a:solidFill>
                <a:latin typeface="Calibri" pitchFamily="34" charset="0"/>
                <a:ea typeface="Calibri" pitchFamily="34" charset="-122"/>
                <a:cs typeface="Calibri" pitchFamily="34" charset="-120"/>
              </a:rPr>
              <a:t>ir</a:t>
            </a:r>
            <a:r>
              <a:rPr lang="en-US" sz="1100" dirty="0">
                <a:solidFill>
                  <a:srgbClr val="B8B8C5"/>
                </a:solidFill>
                <a:latin typeface="Calibri" pitchFamily="34" charset="0"/>
                <a:ea typeface="Calibri" pitchFamily="34" charset="-122"/>
                <a:cs typeface="Calibri" pitchFamily="34" charset="-120"/>
              </a:rPr>
              <a:t> </a:t>
            </a:r>
            <a:r>
              <a:rPr lang="en-US" sz="1100" dirty="0" err="1">
                <a:solidFill>
                  <a:srgbClr val="B8B8C5"/>
                </a:solidFill>
                <a:latin typeface="Calibri" pitchFamily="34" charset="0"/>
                <a:ea typeface="Calibri" pitchFamily="34" charset="-122"/>
                <a:cs typeface="Calibri" pitchFamily="34" charset="-120"/>
              </a:rPr>
              <a:t>en</a:t>
            </a:r>
            <a:r>
              <a:rPr lang="en-US" sz="1100" dirty="0">
                <a:solidFill>
                  <a:srgbClr val="B8B8C5"/>
                </a:solidFill>
                <a:latin typeface="Calibri" pitchFamily="34" charset="0"/>
                <a:ea typeface="Calibri" pitchFamily="34" charset="-122"/>
                <a:cs typeface="Calibri" pitchFamily="34" charset="-120"/>
              </a:rPr>
              <a:t> </a:t>
            </a:r>
            <a:r>
              <a:rPr lang="en-US" sz="1100" dirty="0" err="1">
                <a:solidFill>
                  <a:srgbClr val="B8B8C5"/>
                </a:solidFill>
                <a:latin typeface="Calibri" pitchFamily="34" charset="0"/>
                <a:ea typeface="Calibri" pitchFamily="34" charset="-122"/>
                <a:cs typeface="Calibri" pitchFamily="34" charset="-120"/>
              </a:rPr>
              <a:t>linea</a:t>
            </a:r>
            <a:r>
              <a:rPr lang="en-US" sz="1100" dirty="0">
                <a:solidFill>
                  <a:srgbClr val="B8B8C5"/>
                </a:solidFill>
                <a:latin typeface="Calibri" pitchFamily="34" charset="0"/>
                <a:ea typeface="Calibri" pitchFamily="34" charset="-122"/>
                <a:cs typeface="Calibri" pitchFamily="34" charset="-120"/>
              </a:rPr>
              <a:t> con la </a:t>
            </a:r>
            <a:r>
              <a:rPr lang="en-US" sz="1100" dirty="0" err="1">
                <a:solidFill>
                  <a:srgbClr val="B8B8C5"/>
                </a:solidFill>
                <a:latin typeface="Calibri" pitchFamily="34" charset="0"/>
                <a:ea typeface="Calibri" pitchFamily="34" charset="-122"/>
                <a:cs typeface="Calibri" pitchFamily="34" charset="-120"/>
              </a:rPr>
              <a:t>venta</a:t>
            </a:r>
            <a:r>
              <a:rPr lang="en-US" sz="1100" dirty="0">
                <a:solidFill>
                  <a:srgbClr val="B8B8C5"/>
                </a:solidFill>
                <a:latin typeface="Calibri" pitchFamily="34" charset="0"/>
                <a:ea typeface="Calibri" pitchFamily="34" charset="-122"/>
                <a:cs typeface="Calibri" pitchFamily="34" charset="-120"/>
              </a:rPr>
              <a:t> de valor </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9" name="Shape 26"/>
          <p:cNvSpPr/>
          <p:nvPr/>
        </p:nvSpPr>
        <p:spPr>
          <a:xfrm>
            <a:off x="548640" y="6400800"/>
            <a:ext cx="118872" cy="118872"/>
          </a:xfrm>
          <a:prstGeom prst="ellipse">
            <a:avLst/>
          </a:prstGeom>
          <a:solidFill>
            <a:srgbClr val="EC008C"/>
          </a:solidFill>
          <a:ln w="12700">
            <a:solidFill>
              <a:srgbClr val="EC008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 name="Text 27"/>
          <p:cNvSpPr/>
          <p:nvPr/>
        </p:nvSpPr>
        <p:spPr>
          <a:xfrm>
            <a:off x="777240" y="6355080"/>
            <a:ext cx="6400800" cy="2286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0" cap="none" spc="400" normalizeH="0" baseline="0" noProof="0" dirty="0">
                <a:ln>
                  <a:noFill/>
                </a:ln>
                <a:solidFill>
                  <a:srgbClr val="FFFFFF"/>
                </a:solidFill>
                <a:effectLst/>
                <a:uLnTx/>
                <a:uFillTx/>
                <a:latin typeface="Calibri" pitchFamily="34" charset="0"/>
                <a:ea typeface="Calibri" pitchFamily="34" charset="-122"/>
                <a:cs typeface="Calibri" pitchFamily="34" charset="-120"/>
              </a:rPr>
              <a:t>FINAL UPGRADE AI  ·  RESULTADOS DEL CUESTIONARIO</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1" name="Text 28"/>
          <p:cNvSpPr/>
          <p:nvPr/>
        </p:nvSpPr>
        <p:spPr>
          <a:xfrm>
            <a:off x="11002975" y="6355080"/>
            <a:ext cx="640080" cy="22860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B8B8C5"/>
                </a:solidFill>
                <a:effectLst/>
                <a:uLnTx/>
                <a:uFillTx/>
                <a:latin typeface="Calibri" pitchFamily="34" charset="0"/>
                <a:ea typeface="Calibri" pitchFamily="34" charset="-122"/>
                <a:cs typeface="Calibri" pitchFamily="34" charset="-120"/>
              </a:rPr>
              <a:t>13 / 14</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 9"/>
          <p:cNvSpPr/>
          <p:nvPr/>
        </p:nvSpPr>
        <p:spPr>
          <a:xfrm>
            <a:off x="1325880" y="5097780"/>
            <a:ext cx="4297680" cy="41148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El problema central NO es estética vs longevidad</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Text 10"/>
          <p:cNvSpPr/>
          <p:nvPr/>
        </p:nvSpPr>
        <p:spPr>
          <a:xfrm>
            <a:off x="1325880" y="5489246"/>
            <a:ext cx="4297680" cy="64008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B8B8C5"/>
                </a:solidFill>
                <a:effectLst/>
                <a:uLnTx/>
                <a:uFillTx/>
                <a:latin typeface="Calibri" pitchFamily="34" charset="0"/>
                <a:ea typeface="Calibri" pitchFamily="34" charset="-122"/>
                <a:cs typeface="Calibri" pitchFamily="34" charset="-120"/>
              </a:rPr>
              <a:t>Es la incapacidad de articular el VALOR DEL ECOSISTEMA frente a competencia más barata. Justificación del valor quedó #1 en priorización.</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0F0F1B"/>
        </a:solidFill>
        <a:effectLst/>
      </p:bgPr>
    </p:bg>
    <p:spTree>
      <p:nvGrpSpPr>
        <p:cNvPr id="1" name=""/>
        <p:cNvGrpSpPr/>
        <p:nvPr/>
      </p:nvGrpSpPr>
      <p:grpSpPr>
        <a:xfrm>
          <a:off x="0" y="0"/>
          <a:ext cx="0" cy="0"/>
          <a:chOff x="0" y="0"/>
          <a:chExt cx="0" cy="0"/>
        </a:xfrm>
      </p:grpSpPr>
      <p:sp>
        <p:nvSpPr>
          <p:cNvPr id="2" name="Text 0"/>
          <p:cNvSpPr/>
          <p:nvPr/>
        </p:nvSpPr>
        <p:spPr>
          <a:xfrm>
            <a:off x="548640" y="411480"/>
            <a:ext cx="54864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600" normalizeH="0" baseline="0" noProof="0" dirty="0">
                <a:ln>
                  <a:noFill/>
                </a:ln>
                <a:solidFill>
                  <a:srgbClr val="EC008C"/>
                </a:solidFill>
                <a:effectLst/>
                <a:uLnTx/>
                <a:uFillTx/>
                <a:latin typeface="Calibri" pitchFamily="34" charset="0"/>
                <a:ea typeface="Calibri" pitchFamily="34" charset="-122"/>
                <a:cs typeface="Calibri" pitchFamily="34" charset="-120"/>
              </a:rPr>
              <a:t>FINAL UPGRADE AI</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3" name="Image 0" descr="/home/claude/sw_pres/sw_logo_transparent.png"/>
          <p:cNvPicPr>
            <a:picLocks noChangeAspect="1"/>
          </p:cNvPicPr>
          <p:nvPr/>
        </p:nvPicPr>
        <p:blipFill>
          <a:blip r:embed="rId3"/>
          <a:stretch>
            <a:fillRect/>
          </a:stretch>
        </p:blipFill>
        <p:spPr>
          <a:xfrm>
            <a:off x="11094415" y="228600"/>
            <a:ext cx="777240" cy="777240"/>
          </a:xfrm>
          <a:prstGeom prst="rect">
            <a:avLst/>
          </a:prstGeom>
        </p:spPr>
      </p:pic>
      <p:sp>
        <p:nvSpPr>
          <p:cNvPr id="4" name="Shape 1"/>
          <p:cNvSpPr/>
          <p:nvPr/>
        </p:nvSpPr>
        <p:spPr>
          <a:xfrm>
            <a:off x="548640" y="1005840"/>
            <a:ext cx="9997135" cy="0"/>
          </a:xfrm>
          <a:prstGeom prst="line">
            <a:avLst/>
          </a:prstGeom>
          <a:noFill/>
          <a:ln w="12700">
            <a:solidFill>
              <a:srgbClr val="EC008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Shape 2"/>
          <p:cNvSpPr/>
          <p:nvPr/>
        </p:nvSpPr>
        <p:spPr>
          <a:xfrm>
            <a:off x="548640" y="1463040"/>
            <a:ext cx="1828800" cy="411480"/>
          </a:xfrm>
          <a:prstGeom prst="roundRect">
            <a:avLst>
              <a:gd name="adj" fmla="val 50000"/>
            </a:avLst>
          </a:prstGeom>
          <a:solidFill>
            <a:srgbClr val="EC008C"/>
          </a:solidFill>
          <a:ln w="12700">
            <a:solidFill>
              <a:srgbClr val="EC008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 3"/>
          <p:cNvSpPr/>
          <p:nvPr/>
        </p:nvSpPr>
        <p:spPr>
          <a:xfrm>
            <a:off x="548640" y="1463040"/>
            <a:ext cx="1828800" cy="41148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400" normalizeH="0" baseline="0" noProof="0" dirty="0">
                <a:ln>
                  <a:noFill/>
                </a:ln>
                <a:solidFill>
                  <a:srgbClr val="FFFFFF"/>
                </a:solidFill>
                <a:effectLst/>
                <a:uLnTx/>
                <a:uFillTx/>
                <a:latin typeface="Calibri" pitchFamily="34" charset="0"/>
                <a:ea typeface="Calibri" pitchFamily="34" charset="-122"/>
                <a:cs typeface="Calibri" pitchFamily="34" charset="-120"/>
              </a:rPr>
              <a:t>IMPLICACIONES</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4"/>
          <p:cNvSpPr/>
          <p:nvPr/>
        </p:nvSpPr>
        <p:spPr>
          <a:xfrm>
            <a:off x="548640" y="2194560"/>
            <a:ext cx="10972800" cy="11887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200" b="1" i="0" u="none" strike="noStrike" kern="1200" cap="none" spc="0" normalizeH="0" baseline="0" noProof="0" dirty="0" err="1">
                <a:ln>
                  <a:noFill/>
                </a:ln>
                <a:solidFill>
                  <a:srgbClr val="FFFFFF"/>
                </a:solidFill>
                <a:effectLst/>
                <a:uLnTx/>
                <a:uFillTx/>
                <a:latin typeface="Calibri" pitchFamily="34" charset="0"/>
                <a:ea typeface="Calibri" pitchFamily="34" charset="-122"/>
                <a:cs typeface="Calibri" pitchFamily="34" charset="-120"/>
              </a:rPr>
              <a:t>Prioridades</a:t>
            </a:r>
            <a:r>
              <a:rPr kumimoji="0" lang="en-US" sz="72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 de </a:t>
            </a:r>
            <a:r>
              <a:rPr kumimoji="0" lang="en-US" sz="7200" b="1" i="0" u="none" strike="noStrike" kern="1200" cap="none" spc="0" normalizeH="0" baseline="0" noProof="0" dirty="0" err="1">
                <a:ln>
                  <a:noFill/>
                </a:ln>
                <a:solidFill>
                  <a:srgbClr val="FFFFFF"/>
                </a:solidFill>
                <a:effectLst/>
                <a:uLnTx/>
                <a:uFillTx/>
                <a:latin typeface="Calibri" pitchFamily="34" charset="0"/>
                <a:ea typeface="Calibri" pitchFamily="34" charset="-122"/>
                <a:cs typeface="Calibri" pitchFamily="34" charset="-120"/>
              </a:rPr>
              <a:t>Arranque</a:t>
            </a:r>
            <a:endParaRPr kumimoji="0" lang="en-US" sz="7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5"/>
          <p:cNvSpPr/>
          <p:nvPr/>
        </p:nvSpPr>
        <p:spPr>
          <a:xfrm>
            <a:off x="548640" y="3520440"/>
            <a:ext cx="10972800" cy="457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1" u="none" strike="noStrike" kern="1200" cap="none" spc="0" normalizeH="0" baseline="0" noProof="0" dirty="0">
                <a:ln>
                  <a:noFill/>
                </a:ln>
                <a:solidFill>
                  <a:srgbClr val="B8B8C5"/>
                </a:solidFill>
                <a:effectLst/>
                <a:uLnTx/>
                <a:uFillTx/>
                <a:latin typeface="Calibri" pitchFamily="34" charset="0"/>
                <a:ea typeface="Calibri" pitchFamily="34" charset="-122"/>
                <a:cs typeface="Calibri" pitchFamily="34" charset="-120"/>
              </a:rPr>
              <a:t>Las prioridades de arranque del programa quedan así</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Shape 6"/>
          <p:cNvSpPr/>
          <p:nvPr/>
        </p:nvSpPr>
        <p:spPr>
          <a:xfrm>
            <a:off x="548640" y="4160520"/>
            <a:ext cx="5029200" cy="0"/>
          </a:xfrm>
          <a:prstGeom prst="line">
            <a:avLst/>
          </a:prstGeom>
          <a:noFill/>
          <a:ln w="12700">
            <a:solidFill>
              <a:srgbClr val="EC008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Text 7"/>
          <p:cNvSpPr/>
          <p:nvPr/>
        </p:nvSpPr>
        <p:spPr>
          <a:xfrm>
            <a:off x="548640" y="4434840"/>
            <a:ext cx="822960" cy="457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EC008C"/>
                </a:solidFill>
                <a:effectLst/>
                <a:uLnTx/>
                <a:uFillTx/>
                <a:latin typeface="Calibri" pitchFamily="34" charset="0"/>
                <a:ea typeface="Calibri" pitchFamily="34" charset="-122"/>
                <a:cs typeface="Calibri" pitchFamily="34" charset="-120"/>
              </a:rPr>
              <a:t>01</a:t>
            </a: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 8"/>
          <p:cNvSpPr/>
          <p:nvPr/>
        </p:nvSpPr>
        <p:spPr>
          <a:xfrm>
            <a:off x="1554480" y="4434840"/>
            <a:ext cx="10058400" cy="457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Justificación de valor del ecosistema vs competencia</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 9"/>
          <p:cNvSpPr/>
          <p:nvPr/>
        </p:nvSpPr>
        <p:spPr>
          <a:xfrm>
            <a:off x="548640" y="4937760"/>
            <a:ext cx="822960" cy="457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EC008C"/>
                </a:solidFill>
                <a:effectLst/>
                <a:uLnTx/>
                <a:uFillTx/>
                <a:latin typeface="Calibri" pitchFamily="34" charset="0"/>
                <a:ea typeface="Calibri" pitchFamily="34" charset="-122"/>
                <a:cs typeface="Calibri" pitchFamily="34" charset="-120"/>
              </a:rPr>
              <a:t>02</a:t>
            </a: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Text 10"/>
          <p:cNvSpPr/>
          <p:nvPr/>
        </p:nvSpPr>
        <p:spPr>
          <a:xfrm>
            <a:off x="1554480" y="4937760"/>
            <a:ext cx="10058400" cy="457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Guion de discovery estructurado por arquetipo de cliente</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Text 11"/>
          <p:cNvSpPr/>
          <p:nvPr/>
        </p:nvSpPr>
        <p:spPr>
          <a:xfrm>
            <a:off x="548640" y="5440680"/>
            <a:ext cx="822960" cy="457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EC008C"/>
                </a:solidFill>
                <a:effectLst/>
                <a:uLnTx/>
                <a:uFillTx/>
                <a:latin typeface="Calibri" pitchFamily="34" charset="0"/>
                <a:ea typeface="Calibri" pitchFamily="34" charset="-122"/>
                <a:cs typeface="Calibri" pitchFamily="34" charset="-120"/>
              </a:rPr>
              <a:t>03</a:t>
            </a: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Text 12"/>
          <p:cNvSpPr/>
          <p:nvPr/>
        </p:nvSpPr>
        <p:spPr>
          <a:xfrm>
            <a:off x="1554480" y="5440680"/>
            <a:ext cx="10058400" cy="457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Hospitalidad consultiva en el primer contacto</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Shape 13"/>
          <p:cNvSpPr/>
          <p:nvPr/>
        </p:nvSpPr>
        <p:spPr>
          <a:xfrm>
            <a:off x="548640" y="6400800"/>
            <a:ext cx="118872" cy="118872"/>
          </a:xfrm>
          <a:prstGeom prst="ellipse">
            <a:avLst/>
          </a:prstGeom>
          <a:solidFill>
            <a:srgbClr val="EC008C"/>
          </a:solidFill>
          <a:ln w="12700">
            <a:solidFill>
              <a:srgbClr val="EC008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Text 14"/>
          <p:cNvSpPr/>
          <p:nvPr/>
        </p:nvSpPr>
        <p:spPr>
          <a:xfrm>
            <a:off x="777240" y="6355080"/>
            <a:ext cx="6400800" cy="2286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0" cap="none" spc="400" normalizeH="0" baseline="0" noProof="0" dirty="0">
                <a:ln>
                  <a:noFill/>
                </a:ln>
                <a:solidFill>
                  <a:srgbClr val="FFFFFF"/>
                </a:solidFill>
                <a:effectLst/>
                <a:uLnTx/>
                <a:uFillTx/>
                <a:latin typeface="Calibri" pitchFamily="34" charset="0"/>
                <a:ea typeface="Calibri" pitchFamily="34" charset="-122"/>
                <a:cs typeface="Calibri" pitchFamily="34" charset="-120"/>
              </a:rPr>
              <a:t>FINAL UPGRADE AI  ·  RESULTADOS DEL CUESTIONARIO</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Text 15"/>
          <p:cNvSpPr/>
          <p:nvPr/>
        </p:nvSpPr>
        <p:spPr>
          <a:xfrm>
            <a:off x="11002975" y="6355080"/>
            <a:ext cx="640080" cy="22860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B8B8C5"/>
                </a:solidFill>
                <a:effectLst/>
                <a:uLnTx/>
                <a:uFillTx/>
                <a:latin typeface="Calibri" pitchFamily="34" charset="0"/>
                <a:ea typeface="Calibri" pitchFamily="34" charset="-122"/>
                <a:cs typeface="Calibri" pitchFamily="34" charset="-120"/>
              </a:rPr>
              <a:t>14 / 14</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17">
    <p:bg>
      <p:bgPr>
        <a:solidFill>
          <a:srgbClr val="0F0F1B"/>
        </a:solidFill>
        <a:effectLst/>
      </p:bgPr>
    </p:bg>
    <p:spTree>
      <p:nvGrpSpPr>
        <p:cNvPr id="1" name=""/>
        <p:cNvGrpSpPr/>
        <p:nvPr/>
      </p:nvGrpSpPr>
      <p:grpSpPr>
        <a:xfrm>
          <a:off x="0" y="0"/>
          <a:ext cx="0" cy="0"/>
          <a:chOff x="0" y="0"/>
          <a:chExt cx="0" cy="0"/>
        </a:xfrm>
      </p:grpSpPr>
      <p:sp>
        <p:nvSpPr>
          <p:cNvPr id="2" name="Text 0"/>
          <p:cNvSpPr/>
          <p:nvPr/>
        </p:nvSpPr>
        <p:spPr>
          <a:xfrm>
            <a:off x="548640" y="411480"/>
            <a:ext cx="7315200" cy="274320"/>
          </a:xfrm>
          <a:prstGeom prst="rect">
            <a:avLst/>
          </a:prstGeom>
          <a:noFill/>
          <a:ln/>
        </p:spPr>
        <p:txBody>
          <a:bodyPr wrap="square" lIns="0" tIns="0" rIns="0" bIns="0" rtlCol="0" anchor="ctr"/>
          <a:lstStyle/>
          <a:p>
            <a:pPr marL="0" indent="0">
              <a:buNone/>
            </a:pPr>
            <a:r>
              <a:rPr lang="en-US" sz="1100" b="1" kern="0" spc="600" dirty="0">
                <a:solidFill>
                  <a:srgbClr val="EC008C"/>
                </a:solidFill>
                <a:latin typeface="Calibri" pitchFamily="34" charset="0"/>
                <a:ea typeface="Calibri" pitchFamily="34" charset="-122"/>
                <a:cs typeface="Calibri" pitchFamily="34" charset="-120"/>
              </a:rPr>
              <a:t>CIERRE</a:t>
            </a:r>
            <a:endParaRPr lang="en-US" sz="1100" dirty="0"/>
          </a:p>
        </p:txBody>
      </p:sp>
      <p:pic>
        <p:nvPicPr>
          <p:cNvPr id="3" name="Image 0" descr="/home/claude/sw_pres/sw_logo_transparent.png"/>
          <p:cNvPicPr>
            <a:picLocks noChangeAspect="1"/>
          </p:cNvPicPr>
          <p:nvPr/>
        </p:nvPicPr>
        <p:blipFill>
          <a:blip r:embed="rId3"/>
          <a:stretch>
            <a:fillRect/>
          </a:stretch>
        </p:blipFill>
        <p:spPr>
          <a:xfrm>
            <a:off x="11094415" y="228600"/>
            <a:ext cx="777240" cy="777240"/>
          </a:xfrm>
          <a:prstGeom prst="rect">
            <a:avLst/>
          </a:prstGeom>
        </p:spPr>
      </p:pic>
      <p:sp>
        <p:nvSpPr>
          <p:cNvPr id="4" name="Shape 1"/>
          <p:cNvSpPr/>
          <p:nvPr/>
        </p:nvSpPr>
        <p:spPr>
          <a:xfrm>
            <a:off x="548640" y="1005840"/>
            <a:ext cx="9997135" cy="0"/>
          </a:xfrm>
          <a:prstGeom prst="line">
            <a:avLst/>
          </a:prstGeom>
          <a:noFill/>
          <a:ln w="12700">
            <a:solidFill>
              <a:srgbClr val="EC008C"/>
            </a:solidFill>
            <a:prstDash val="solid"/>
          </a:ln>
        </p:spPr>
        <p:txBody>
          <a:bodyPr/>
          <a:lstStyle/>
          <a:p>
            <a:endParaRPr lang="es-MX"/>
          </a:p>
        </p:txBody>
      </p:sp>
      <p:sp>
        <p:nvSpPr>
          <p:cNvPr id="5" name="Shape 2"/>
          <p:cNvSpPr/>
          <p:nvPr/>
        </p:nvSpPr>
        <p:spPr>
          <a:xfrm>
            <a:off x="9905695" y="1417320"/>
            <a:ext cx="1554480" cy="365760"/>
          </a:xfrm>
          <a:prstGeom prst="roundRect">
            <a:avLst>
              <a:gd name="adj" fmla="val 12500"/>
            </a:avLst>
          </a:prstGeom>
          <a:solidFill>
            <a:srgbClr val="1A1A28"/>
          </a:solidFill>
          <a:ln w="12700">
            <a:solidFill>
              <a:srgbClr val="EC008C"/>
            </a:solidFill>
            <a:prstDash val="solid"/>
          </a:ln>
        </p:spPr>
        <p:txBody>
          <a:bodyPr/>
          <a:lstStyle/>
          <a:p>
            <a:endParaRPr lang="es-MX"/>
          </a:p>
        </p:txBody>
      </p:sp>
      <p:sp>
        <p:nvSpPr>
          <p:cNvPr id="6" name="Text 3"/>
          <p:cNvSpPr/>
          <p:nvPr/>
        </p:nvSpPr>
        <p:spPr>
          <a:xfrm>
            <a:off x="9905695" y="1417320"/>
            <a:ext cx="1554480" cy="365760"/>
          </a:xfrm>
          <a:prstGeom prst="rect">
            <a:avLst/>
          </a:prstGeom>
          <a:noFill/>
          <a:ln/>
        </p:spPr>
        <p:txBody>
          <a:bodyPr wrap="square" lIns="0" tIns="0" rIns="0" bIns="0" rtlCol="0" anchor="ctr"/>
          <a:lstStyle/>
          <a:p>
            <a:pPr marL="0" indent="0" algn="ctr">
              <a:buNone/>
            </a:pPr>
            <a:r>
              <a:rPr lang="en-US" sz="1100" b="1" kern="0" spc="200" dirty="0">
                <a:solidFill>
                  <a:srgbClr val="FFFFFF"/>
                </a:solidFill>
                <a:latin typeface="Calibri" pitchFamily="34" charset="0"/>
                <a:ea typeface="Calibri" pitchFamily="34" charset="-122"/>
                <a:cs typeface="Calibri" pitchFamily="34" charset="-120"/>
              </a:rPr>
              <a:t>MIN 57 — 60</a:t>
            </a:r>
            <a:endParaRPr lang="en-US" sz="1100" dirty="0"/>
          </a:p>
        </p:txBody>
      </p:sp>
      <p:sp>
        <p:nvSpPr>
          <p:cNvPr id="7" name="Shape 4"/>
          <p:cNvSpPr/>
          <p:nvPr/>
        </p:nvSpPr>
        <p:spPr>
          <a:xfrm>
            <a:off x="548640" y="1371600"/>
            <a:ext cx="1554480" cy="411480"/>
          </a:xfrm>
          <a:prstGeom prst="roundRect">
            <a:avLst>
              <a:gd name="adj" fmla="val 50000"/>
            </a:avLst>
          </a:prstGeom>
          <a:solidFill>
            <a:srgbClr val="EC008C"/>
          </a:solidFill>
          <a:ln w="12700">
            <a:solidFill>
              <a:srgbClr val="EC008C"/>
            </a:solidFill>
            <a:prstDash val="solid"/>
          </a:ln>
        </p:spPr>
        <p:txBody>
          <a:bodyPr/>
          <a:lstStyle/>
          <a:p>
            <a:endParaRPr lang="es-MX"/>
          </a:p>
        </p:txBody>
      </p:sp>
      <p:sp>
        <p:nvSpPr>
          <p:cNvPr id="8" name="Text 5"/>
          <p:cNvSpPr/>
          <p:nvPr/>
        </p:nvSpPr>
        <p:spPr>
          <a:xfrm>
            <a:off x="548640" y="1371600"/>
            <a:ext cx="1554480" cy="411480"/>
          </a:xfrm>
          <a:prstGeom prst="rect">
            <a:avLst/>
          </a:prstGeom>
          <a:noFill/>
          <a:ln/>
        </p:spPr>
        <p:txBody>
          <a:bodyPr wrap="square" lIns="0" tIns="0" rIns="0" bIns="0" rtlCol="0" anchor="ctr"/>
          <a:lstStyle/>
          <a:p>
            <a:pPr marL="0" indent="0" algn="ctr">
              <a:buNone/>
            </a:pPr>
            <a:r>
              <a:rPr lang="en-US" sz="1100" b="1" kern="0" spc="400" dirty="0">
                <a:solidFill>
                  <a:srgbClr val="FFFFFF"/>
                </a:solidFill>
                <a:latin typeface="Calibri" pitchFamily="34" charset="0"/>
                <a:ea typeface="Calibri" pitchFamily="34" charset="-122"/>
                <a:cs typeface="Calibri" pitchFamily="34" charset="-120"/>
              </a:rPr>
              <a:t>NEXT STEPS</a:t>
            </a:r>
            <a:endParaRPr lang="en-US" sz="1100" dirty="0"/>
          </a:p>
        </p:txBody>
      </p:sp>
      <p:sp>
        <p:nvSpPr>
          <p:cNvPr id="9" name="Text 6"/>
          <p:cNvSpPr/>
          <p:nvPr/>
        </p:nvSpPr>
        <p:spPr>
          <a:xfrm>
            <a:off x="548640" y="2011680"/>
            <a:ext cx="10972800" cy="1005840"/>
          </a:xfrm>
          <a:prstGeom prst="rect">
            <a:avLst/>
          </a:prstGeom>
          <a:noFill/>
          <a:ln/>
        </p:spPr>
        <p:txBody>
          <a:bodyPr wrap="square" lIns="0" tIns="0" rIns="0" bIns="0" rtlCol="0" anchor="ctr"/>
          <a:lstStyle/>
          <a:p>
            <a:pPr marL="0" indent="0">
              <a:buNone/>
            </a:pPr>
            <a:r>
              <a:rPr lang="en-US" sz="5600" b="1" dirty="0">
                <a:solidFill>
                  <a:srgbClr val="FFFFFF"/>
                </a:solidFill>
                <a:latin typeface="Calibri" pitchFamily="34" charset="0"/>
                <a:ea typeface="Calibri" pitchFamily="34" charset="-122"/>
                <a:cs typeface="Calibri" pitchFamily="34" charset="-120"/>
              </a:rPr>
              <a:t>Próximos pasos</a:t>
            </a:r>
            <a:endParaRPr lang="en-US" sz="5600" dirty="0"/>
          </a:p>
        </p:txBody>
      </p:sp>
      <p:sp>
        <p:nvSpPr>
          <p:cNvPr id="10" name="Shape 7"/>
          <p:cNvSpPr/>
          <p:nvPr/>
        </p:nvSpPr>
        <p:spPr>
          <a:xfrm>
            <a:off x="548640" y="3337560"/>
            <a:ext cx="5486400" cy="0"/>
          </a:xfrm>
          <a:prstGeom prst="line">
            <a:avLst/>
          </a:prstGeom>
          <a:noFill/>
          <a:ln w="12700">
            <a:solidFill>
              <a:srgbClr val="EC008C"/>
            </a:solidFill>
            <a:prstDash val="solid"/>
          </a:ln>
        </p:spPr>
        <p:txBody>
          <a:bodyPr/>
          <a:lstStyle/>
          <a:p>
            <a:endParaRPr lang="es-MX"/>
          </a:p>
        </p:txBody>
      </p:sp>
      <p:sp>
        <p:nvSpPr>
          <p:cNvPr id="11" name="Shape 8"/>
          <p:cNvSpPr/>
          <p:nvPr/>
        </p:nvSpPr>
        <p:spPr>
          <a:xfrm>
            <a:off x="548640" y="3749040"/>
            <a:ext cx="3611880" cy="2194560"/>
          </a:xfrm>
          <a:prstGeom prst="rect">
            <a:avLst/>
          </a:prstGeom>
          <a:solidFill>
            <a:srgbClr val="1A1A28"/>
          </a:solidFill>
          <a:ln w="6350">
            <a:solidFill>
              <a:srgbClr val="333344"/>
            </a:solidFill>
            <a:prstDash val="solid"/>
          </a:ln>
        </p:spPr>
        <p:txBody>
          <a:bodyPr/>
          <a:lstStyle/>
          <a:p>
            <a:endParaRPr lang="es-MX"/>
          </a:p>
        </p:txBody>
      </p:sp>
      <p:sp>
        <p:nvSpPr>
          <p:cNvPr id="12" name="Shape 9"/>
          <p:cNvSpPr/>
          <p:nvPr/>
        </p:nvSpPr>
        <p:spPr>
          <a:xfrm>
            <a:off x="548640" y="3749040"/>
            <a:ext cx="3611880" cy="73152"/>
          </a:xfrm>
          <a:prstGeom prst="rect">
            <a:avLst/>
          </a:prstGeom>
          <a:solidFill>
            <a:srgbClr val="EC008C"/>
          </a:solidFill>
          <a:ln w="12700">
            <a:solidFill>
              <a:srgbClr val="EC008C"/>
            </a:solidFill>
            <a:prstDash val="solid"/>
          </a:ln>
        </p:spPr>
        <p:txBody>
          <a:bodyPr/>
          <a:lstStyle/>
          <a:p>
            <a:endParaRPr lang="es-MX"/>
          </a:p>
        </p:txBody>
      </p:sp>
      <p:sp>
        <p:nvSpPr>
          <p:cNvPr id="13" name="Text 10"/>
          <p:cNvSpPr/>
          <p:nvPr/>
        </p:nvSpPr>
        <p:spPr>
          <a:xfrm>
            <a:off x="822960" y="3931920"/>
            <a:ext cx="3200400" cy="274320"/>
          </a:xfrm>
          <a:prstGeom prst="rect">
            <a:avLst/>
          </a:prstGeom>
          <a:noFill/>
          <a:ln/>
        </p:spPr>
        <p:txBody>
          <a:bodyPr wrap="square" lIns="0" tIns="0" rIns="0" bIns="0" rtlCol="0" anchor="ctr"/>
          <a:lstStyle/>
          <a:p>
            <a:pPr marL="0" indent="0">
              <a:buNone/>
            </a:pPr>
            <a:r>
              <a:rPr lang="en-US" sz="1000" b="1" kern="0" spc="400" dirty="0">
                <a:solidFill>
                  <a:srgbClr val="EC008C"/>
                </a:solidFill>
                <a:latin typeface="Calibri" pitchFamily="34" charset="0"/>
                <a:ea typeface="Calibri" pitchFamily="34" charset="-122"/>
                <a:cs typeface="Calibri" pitchFamily="34" charset="-120"/>
              </a:rPr>
              <a:t>ESTA SEMANA</a:t>
            </a:r>
            <a:endParaRPr lang="en-US" sz="1000" dirty="0"/>
          </a:p>
        </p:txBody>
      </p:sp>
      <p:sp>
        <p:nvSpPr>
          <p:cNvPr id="14" name="Text 11"/>
          <p:cNvSpPr/>
          <p:nvPr/>
        </p:nvSpPr>
        <p:spPr>
          <a:xfrm>
            <a:off x="822960" y="4251960"/>
            <a:ext cx="3200400" cy="457200"/>
          </a:xfrm>
          <a:prstGeom prst="rect">
            <a:avLst/>
          </a:prstGeom>
          <a:noFill/>
          <a:ln/>
        </p:spPr>
        <p:txBody>
          <a:bodyPr wrap="square" lIns="0" tIns="0" rIns="0" bIns="0" rtlCol="0" anchor="ctr"/>
          <a:lstStyle/>
          <a:p>
            <a:pPr marL="0" indent="0">
              <a:buNone/>
            </a:pPr>
            <a:r>
              <a:rPr lang="en-US" sz="2200" b="1" dirty="0" err="1">
                <a:solidFill>
                  <a:srgbClr val="FFFFFF"/>
                </a:solidFill>
                <a:latin typeface="Calibri" pitchFamily="34" charset="0"/>
                <a:ea typeface="Calibri" pitchFamily="34" charset="-122"/>
                <a:cs typeface="Calibri" pitchFamily="34" charset="-120"/>
              </a:rPr>
              <a:t>Entrevista</a:t>
            </a:r>
            <a:r>
              <a:rPr lang="en-US" sz="2200" b="1" dirty="0">
                <a:solidFill>
                  <a:srgbClr val="FFFFFF"/>
                </a:solidFill>
                <a:latin typeface="Calibri" pitchFamily="34" charset="0"/>
                <a:ea typeface="Calibri" pitchFamily="34" charset="-122"/>
                <a:cs typeface="Calibri" pitchFamily="34" charset="-120"/>
              </a:rPr>
              <a:t> con </a:t>
            </a:r>
            <a:r>
              <a:rPr lang="en-US" sz="2200" b="1" dirty="0" err="1">
                <a:solidFill>
                  <a:srgbClr val="FFFFFF"/>
                </a:solidFill>
                <a:latin typeface="Calibri" pitchFamily="34" charset="0"/>
                <a:ea typeface="Calibri" pitchFamily="34" charset="-122"/>
                <a:cs typeface="Calibri" pitchFamily="34" charset="-120"/>
              </a:rPr>
              <a:t>Asesores</a:t>
            </a:r>
            <a:endParaRPr lang="en-US" sz="2200" dirty="0"/>
          </a:p>
        </p:txBody>
      </p:sp>
      <p:sp>
        <p:nvSpPr>
          <p:cNvPr id="15" name="Text 12"/>
          <p:cNvSpPr/>
          <p:nvPr/>
        </p:nvSpPr>
        <p:spPr>
          <a:xfrm>
            <a:off x="822960" y="4800600"/>
            <a:ext cx="3200400" cy="1097280"/>
          </a:xfrm>
          <a:prstGeom prst="rect">
            <a:avLst/>
          </a:prstGeom>
          <a:noFill/>
          <a:ln/>
        </p:spPr>
        <p:txBody>
          <a:bodyPr wrap="square" lIns="0" tIns="0" rIns="0" bIns="0" rtlCol="0" anchor="t"/>
          <a:lstStyle/>
          <a:p>
            <a:pPr marL="0" indent="0">
              <a:buNone/>
            </a:pPr>
            <a:r>
              <a:rPr lang="en-US" sz="1300" dirty="0" err="1">
                <a:solidFill>
                  <a:srgbClr val="B8B8C5"/>
                </a:solidFill>
                <a:latin typeface="Calibri" pitchFamily="34" charset="0"/>
                <a:ea typeface="Calibri" pitchFamily="34" charset="-122"/>
                <a:cs typeface="Calibri" pitchFamily="34" charset="-120"/>
              </a:rPr>
              <a:t>Entrevistas</a:t>
            </a:r>
            <a:r>
              <a:rPr lang="en-US" sz="1300" dirty="0">
                <a:solidFill>
                  <a:srgbClr val="B8B8C5"/>
                </a:solidFill>
                <a:latin typeface="Calibri" pitchFamily="34" charset="0"/>
                <a:ea typeface="Calibri" pitchFamily="34" charset="-122"/>
                <a:cs typeface="Calibri" pitchFamily="34" charset="-120"/>
              </a:rPr>
              <a:t> 1 a 1 con 5 </a:t>
            </a:r>
            <a:r>
              <a:rPr lang="en-US" sz="1300" dirty="0" err="1">
                <a:solidFill>
                  <a:srgbClr val="B8B8C5"/>
                </a:solidFill>
                <a:latin typeface="Calibri" pitchFamily="34" charset="0"/>
                <a:ea typeface="Calibri" pitchFamily="34" charset="-122"/>
                <a:cs typeface="Calibri" pitchFamily="34" charset="-120"/>
              </a:rPr>
              <a:t>asesores</a:t>
            </a:r>
            <a:r>
              <a:rPr lang="en-US" sz="1300" dirty="0">
                <a:solidFill>
                  <a:srgbClr val="B8B8C5"/>
                </a:solidFill>
                <a:latin typeface="Calibri" pitchFamily="34" charset="0"/>
                <a:ea typeface="Calibri" pitchFamily="34" charset="-122"/>
                <a:cs typeface="Calibri" pitchFamily="34" charset="-120"/>
              </a:rPr>
              <a:t> de </a:t>
            </a:r>
            <a:r>
              <a:rPr lang="en-US" sz="1300" dirty="0" err="1">
                <a:solidFill>
                  <a:srgbClr val="B8B8C5"/>
                </a:solidFill>
                <a:latin typeface="Calibri" pitchFamily="34" charset="0"/>
                <a:ea typeface="Calibri" pitchFamily="34" charset="-122"/>
                <a:cs typeface="Calibri" pitchFamily="34" charset="-120"/>
              </a:rPr>
              <a:t>cada</a:t>
            </a:r>
            <a:r>
              <a:rPr lang="en-US" sz="1300" dirty="0">
                <a:solidFill>
                  <a:srgbClr val="B8B8C5"/>
                </a:solidFill>
                <a:latin typeface="Calibri" pitchFamily="34" charset="0"/>
                <a:ea typeface="Calibri" pitchFamily="34" charset="-122"/>
                <a:cs typeface="Calibri" pitchFamily="34" charset="-120"/>
              </a:rPr>
              <a:t> region </a:t>
            </a:r>
            <a:endParaRPr lang="en-US" sz="1300" dirty="0"/>
          </a:p>
        </p:txBody>
      </p:sp>
      <p:sp>
        <p:nvSpPr>
          <p:cNvPr id="16" name="Shape 13"/>
          <p:cNvSpPr/>
          <p:nvPr/>
        </p:nvSpPr>
        <p:spPr>
          <a:xfrm>
            <a:off x="4343400" y="3749040"/>
            <a:ext cx="3611880" cy="2194560"/>
          </a:xfrm>
          <a:prstGeom prst="rect">
            <a:avLst/>
          </a:prstGeom>
          <a:solidFill>
            <a:srgbClr val="1A1A28"/>
          </a:solidFill>
          <a:ln w="6350">
            <a:solidFill>
              <a:srgbClr val="333344"/>
            </a:solidFill>
            <a:prstDash val="solid"/>
          </a:ln>
        </p:spPr>
        <p:txBody>
          <a:bodyPr/>
          <a:lstStyle/>
          <a:p>
            <a:endParaRPr lang="es-MX"/>
          </a:p>
        </p:txBody>
      </p:sp>
      <p:sp>
        <p:nvSpPr>
          <p:cNvPr id="17" name="Shape 14"/>
          <p:cNvSpPr/>
          <p:nvPr/>
        </p:nvSpPr>
        <p:spPr>
          <a:xfrm>
            <a:off x="4343400" y="3749040"/>
            <a:ext cx="3611880" cy="73152"/>
          </a:xfrm>
          <a:prstGeom prst="rect">
            <a:avLst/>
          </a:prstGeom>
          <a:solidFill>
            <a:srgbClr val="EC008C"/>
          </a:solidFill>
          <a:ln w="12700">
            <a:solidFill>
              <a:srgbClr val="EC008C"/>
            </a:solidFill>
            <a:prstDash val="solid"/>
          </a:ln>
        </p:spPr>
        <p:txBody>
          <a:bodyPr/>
          <a:lstStyle/>
          <a:p>
            <a:endParaRPr lang="es-MX"/>
          </a:p>
        </p:txBody>
      </p:sp>
      <p:sp>
        <p:nvSpPr>
          <p:cNvPr id="18" name="Text 15"/>
          <p:cNvSpPr/>
          <p:nvPr/>
        </p:nvSpPr>
        <p:spPr>
          <a:xfrm>
            <a:off x="4617720" y="3931920"/>
            <a:ext cx="3200400" cy="274320"/>
          </a:xfrm>
          <a:prstGeom prst="rect">
            <a:avLst/>
          </a:prstGeom>
          <a:noFill/>
          <a:ln/>
        </p:spPr>
        <p:txBody>
          <a:bodyPr wrap="square" lIns="0" tIns="0" rIns="0" bIns="0" rtlCol="0" anchor="ctr"/>
          <a:lstStyle/>
          <a:p>
            <a:pPr marL="0" indent="0">
              <a:buNone/>
            </a:pPr>
            <a:r>
              <a:rPr lang="en-US" sz="1000" b="1" kern="0" spc="400" dirty="0">
                <a:solidFill>
                  <a:srgbClr val="EC008C"/>
                </a:solidFill>
                <a:latin typeface="Calibri" pitchFamily="34" charset="0"/>
                <a:ea typeface="Calibri" pitchFamily="34" charset="-122"/>
                <a:cs typeface="Calibri" pitchFamily="34" charset="-120"/>
              </a:rPr>
              <a:t>PRÓXIMA SEMANA</a:t>
            </a:r>
            <a:endParaRPr lang="en-US" sz="1000" dirty="0"/>
          </a:p>
        </p:txBody>
      </p:sp>
      <p:sp>
        <p:nvSpPr>
          <p:cNvPr id="19" name="Text 16"/>
          <p:cNvSpPr/>
          <p:nvPr/>
        </p:nvSpPr>
        <p:spPr>
          <a:xfrm>
            <a:off x="4617720" y="4251960"/>
            <a:ext cx="3200400" cy="45720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Diseño del programa</a:t>
            </a:r>
            <a:endParaRPr lang="en-US" sz="2200" dirty="0"/>
          </a:p>
        </p:txBody>
      </p:sp>
      <p:sp>
        <p:nvSpPr>
          <p:cNvPr id="20" name="Text 17"/>
          <p:cNvSpPr/>
          <p:nvPr/>
        </p:nvSpPr>
        <p:spPr>
          <a:xfrm>
            <a:off x="4617720" y="4800600"/>
            <a:ext cx="3200400" cy="1097280"/>
          </a:xfrm>
          <a:prstGeom prst="rect">
            <a:avLst/>
          </a:prstGeom>
          <a:noFill/>
          <a:ln/>
        </p:spPr>
        <p:txBody>
          <a:bodyPr wrap="square" lIns="0" tIns="0" rIns="0" bIns="0" rtlCol="0" anchor="t"/>
          <a:lstStyle/>
          <a:p>
            <a:pPr marL="0" indent="0">
              <a:buNone/>
            </a:pPr>
            <a:r>
              <a:rPr lang="en-US" sz="1300" dirty="0">
                <a:solidFill>
                  <a:srgbClr val="B8B8C5"/>
                </a:solidFill>
                <a:latin typeface="Calibri" pitchFamily="34" charset="0"/>
                <a:ea typeface="Calibri" pitchFamily="34" charset="-122"/>
                <a:cs typeface="Calibri" pitchFamily="34" charset="-120"/>
              </a:rPr>
              <a:t>Final Upgrade integra los hallazgos en la taxonomía maestra y el storyboard del curso.</a:t>
            </a:r>
            <a:endParaRPr lang="en-US" sz="1300" dirty="0"/>
          </a:p>
        </p:txBody>
      </p:sp>
      <p:sp>
        <p:nvSpPr>
          <p:cNvPr id="21" name="Shape 18"/>
          <p:cNvSpPr/>
          <p:nvPr/>
        </p:nvSpPr>
        <p:spPr>
          <a:xfrm>
            <a:off x="8138160" y="3749040"/>
            <a:ext cx="3611880" cy="2194560"/>
          </a:xfrm>
          <a:prstGeom prst="rect">
            <a:avLst/>
          </a:prstGeom>
          <a:solidFill>
            <a:srgbClr val="1A1A28"/>
          </a:solidFill>
          <a:ln w="6350">
            <a:solidFill>
              <a:srgbClr val="333344"/>
            </a:solidFill>
            <a:prstDash val="solid"/>
          </a:ln>
        </p:spPr>
        <p:txBody>
          <a:bodyPr/>
          <a:lstStyle/>
          <a:p>
            <a:endParaRPr lang="es-MX"/>
          </a:p>
        </p:txBody>
      </p:sp>
      <p:sp>
        <p:nvSpPr>
          <p:cNvPr id="22" name="Shape 19"/>
          <p:cNvSpPr/>
          <p:nvPr/>
        </p:nvSpPr>
        <p:spPr>
          <a:xfrm>
            <a:off x="8138160" y="3749040"/>
            <a:ext cx="3611880" cy="73152"/>
          </a:xfrm>
          <a:prstGeom prst="rect">
            <a:avLst/>
          </a:prstGeom>
          <a:solidFill>
            <a:srgbClr val="EC008C"/>
          </a:solidFill>
          <a:ln w="12700">
            <a:solidFill>
              <a:srgbClr val="EC008C"/>
            </a:solidFill>
            <a:prstDash val="solid"/>
          </a:ln>
        </p:spPr>
        <p:txBody>
          <a:bodyPr/>
          <a:lstStyle/>
          <a:p>
            <a:endParaRPr lang="es-MX"/>
          </a:p>
        </p:txBody>
      </p:sp>
      <p:sp>
        <p:nvSpPr>
          <p:cNvPr id="23" name="Text 20"/>
          <p:cNvSpPr/>
          <p:nvPr/>
        </p:nvSpPr>
        <p:spPr>
          <a:xfrm>
            <a:off x="8412480" y="3931920"/>
            <a:ext cx="3200400" cy="274320"/>
          </a:xfrm>
          <a:prstGeom prst="rect">
            <a:avLst/>
          </a:prstGeom>
          <a:noFill/>
          <a:ln/>
        </p:spPr>
        <p:txBody>
          <a:bodyPr wrap="square" lIns="0" tIns="0" rIns="0" bIns="0" rtlCol="0" anchor="ctr"/>
          <a:lstStyle/>
          <a:p>
            <a:pPr marL="0" indent="0">
              <a:buNone/>
            </a:pPr>
            <a:r>
              <a:rPr lang="en-US" sz="1000" b="1" kern="0" spc="400" dirty="0">
                <a:solidFill>
                  <a:srgbClr val="EC008C"/>
                </a:solidFill>
                <a:latin typeface="Calibri" pitchFamily="34" charset="0"/>
                <a:ea typeface="Calibri" pitchFamily="34" charset="-122"/>
                <a:cs typeface="Calibri" pitchFamily="34" charset="-120"/>
              </a:rPr>
              <a:t>PROXIMA SEMANA</a:t>
            </a:r>
            <a:endParaRPr lang="en-US" sz="1000" dirty="0"/>
          </a:p>
        </p:txBody>
      </p:sp>
      <p:sp>
        <p:nvSpPr>
          <p:cNvPr id="24" name="Text 21"/>
          <p:cNvSpPr/>
          <p:nvPr/>
        </p:nvSpPr>
        <p:spPr>
          <a:xfrm>
            <a:off x="8412480" y="4251960"/>
            <a:ext cx="3200400" cy="457200"/>
          </a:xfrm>
          <a:prstGeom prst="rect">
            <a:avLst/>
          </a:prstGeom>
          <a:noFill/>
          <a:ln/>
        </p:spPr>
        <p:txBody>
          <a:bodyPr wrap="square" lIns="0" tIns="0" rIns="0" bIns="0" rtlCol="0" anchor="ctr"/>
          <a:lstStyle/>
          <a:p>
            <a:pPr marL="0" indent="0">
              <a:buNone/>
            </a:pPr>
            <a:r>
              <a:rPr lang="en-US" sz="2200" b="1" dirty="0" err="1">
                <a:solidFill>
                  <a:srgbClr val="FFFFFF"/>
                </a:solidFill>
                <a:latin typeface="Calibri" pitchFamily="34" charset="0"/>
                <a:ea typeface="Calibri" pitchFamily="34" charset="-122"/>
                <a:cs typeface="Calibri" pitchFamily="34" charset="-120"/>
              </a:rPr>
              <a:t>Validación</a:t>
            </a:r>
            <a:endParaRPr lang="en-US" sz="2200" dirty="0"/>
          </a:p>
        </p:txBody>
      </p:sp>
      <p:sp>
        <p:nvSpPr>
          <p:cNvPr id="25" name="Text 22"/>
          <p:cNvSpPr/>
          <p:nvPr/>
        </p:nvSpPr>
        <p:spPr>
          <a:xfrm>
            <a:off x="8412480" y="4800600"/>
            <a:ext cx="3200400" cy="1097280"/>
          </a:xfrm>
          <a:prstGeom prst="rect">
            <a:avLst/>
          </a:prstGeom>
          <a:noFill/>
          <a:ln/>
        </p:spPr>
        <p:txBody>
          <a:bodyPr wrap="square" lIns="0" tIns="0" rIns="0" bIns="0" rtlCol="0" anchor="t"/>
          <a:lstStyle/>
          <a:p>
            <a:pPr marL="0" indent="0">
              <a:buNone/>
            </a:pPr>
            <a:r>
              <a:rPr lang="en-US" sz="1300" dirty="0">
                <a:solidFill>
                  <a:srgbClr val="B8B8C5"/>
                </a:solidFill>
                <a:latin typeface="Calibri" pitchFamily="34" charset="0"/>
                <a:ea typeface="Calibri" pitchFamily="34" charset="-122"/>
                <a:cs typeface="Calibri" pitchFamily="34" charset="-120"/>
              </a:rPr>
              <a:t>Sesión de </a:t>
            </a:r>
            <a:r>
              <a:rPr lang="en-US" sz="1300" dirty="0" err="1">
                <a:solidFill>
                  <a:srgbClr val="B8B8C5"/>
                </a:solidFill>
                <a:latin typeface="Calibri" pitchFamily="34" charset="0"/>
                <a:ea typeface="Calibri" pitchFamily="34" charset="-122"/>
                <a:cs typeface="Calibri" pitchFamily="34" charset="-120"/>
              </a:rPr>
              <a:t>revisión</a:t>
            </a:r>
            <a:r>
              <a:rPr lang="en-US" sz="1300" dirty="0">
                <a:solidFill>
                  <a:srgbClr val="B8B8C5"/>
                </a:solidFill>
                <a:latin typeface="Calibri" pitchFamily="34" charset="0"/>
                <a:ea typeface="Calibri" pitchFamily="34" charset="-122"/>
                <a:cs typeface="Calibri" pitchFamily="34" charset="-120"/>
              </a:rPr>
              <a:t> y </a:t>
            </a:r>
            <a:r>
              <a:rPr lang="en-US" sz="1300" dirty="0" err="1">
                <a:solidFill>
                  <a:srgbClr val="B8B8C5"/>
                </a:solidFill>
                <a:latin typeface="Calibri" pitchFamily="34" charset="0"/>
                <a:ea typeface="Calibri" pitchFamily="34" charset="-122"/>
                <a:cs typeface="Calibri" pitchFamily="34" charset="-120"/>
              </a:rPr>
              <a:t>aprobacion</a:t>
            </a:r>
            <a:r>
              <a:rPr lang="en-US" sz="1300" dirty="0">
                <a:solidFill>
                  <a:srgbClr val="B8B8C5"/>
                </a:solidFill>
                <a:latin typeface="Calibri" pitchFamily="34" charset="0"/>
                <a:ea typeface="Calibri" pitchFamily="34" charset="-122"/>
                <a:cs typeface="Calibri" pitchFamily="34" charset="-120"/>
              </a:rPr>
              <a:t> de </a:t>
            </a:r>
            <a:r>
              <a:rPr lang="en-US" sz="1300" dirty="0" err="1">
                <a:solidFill>
                  <a:srgbClr val="B8B8C5"/>
                </a:solidFill>
                <a:latin typeface="Calibri" pitchFamily="34" charset="0"/>
                <a:ea typeface="Calibri" pitchFamily="34" charset="-122"/>
                <a:cs typeface="Calibri" pitchFamily="34" charset="-120"/>
              </a:rPr>
              <a:t>diseno</a:t>
            </a:r>
            <a:r>
              <a:rPr lang="en-US" sz="1300" dirty="0">
                <a:solidFill>
                  <a:srgbClr val="B8B8C5"/>
                </a:solidFill>
                <a:latin typeface="Calibri" pitchFamily="34" charset="0"/>
                <a:ea typeface="Calibri" pitchFamily="34" charset="-122"/>
                <a:cs typeface="Calibri" pitchFamily="34" charset="-120"/>
              </a:rPr>
              <a:t> maestro</a:t>
            </a:r>
            <a:endParaRPr lang="en-US" sz="1300" dirty="0"/>
          </a:p>
        </p:txBody>
      </p:sp>
      <p:sp>
        <p:nvSpPr>
          <p:cNvPr id="26" name="Shape 23"/>
          <p:cNvSpPr/>
          <p:nvPr/>
        </p:nvSpPr>
        <p:spPr>
          <a:xfrm>
            <a:off x="548640" y="5852160"/>
            <a:ext cx="11064240" cy="457200"/>
          </a:xfrm>
          <a:prstGeom prst="rect">
            <a:avLst/>
          </a:prstGeom>
          <a:solidFill>
            <a:srgbClr val="EC008C"/>
          </a:solidFill>
          <a:ln w="12700">
            <a:solidFill>
              <a:srgbClr val="EC008C"/>
            </a:solidFill>
            <a:prstDash val="solid"/>
          </a:ln>
        </p:spPr>
        <p:txBody>
          <a:bodyPr/>
          <a:lstStyle/>
          <a:p>
            <a:endParaRPr lang="es-MX"/>
          </a:p>
        </p:txBody>
      </p:sp>
      <p:sp>
        <p:nvSpPr>
          <p:cNvPr id="27" name="Text 24"/>
          <p:cNvSpPr/>
          <p:nvPr/>
        </p:nvSpPr>
        <p:spPr>
          <a:xfrm>
            <a:off x="548640" y="5852160"/>
            <a:ext cx="11064240" cy="457200"/>
          </a:xfrm>
          <a:prstGeom prst="rect">
            <a:avLst/>
          </a:prstGeom>
          <a:noFill/>
          <a:ln/>
        </p:spPr>
        <p:txBody>
          <a:bodyPr wrap="square" lIns="0" tIns="0" rIns="0" bIns="0" rtlCol="0" anchor="ctr"/>
          <a:lstStyle/>
          <a:p>
            <a:pPr marL="0" indent="0" algn="ctr">
              <a:buNone/>
            </a:pPr>
            <a:r>
              <a:rPr lang="en-US" sz="1400" i="1" dirty="0">
                <a:solidFill>
                  <a:srgbClr val="FFFFFF"/>
                </a:solidFill>
                <a:latin typeface="Calibri" pitchFamily="34" charset="0"/>
                <a:ea typeface="Calibri" pitchFamily="34" charset="-122"/>
                <a:cs typeface="Calibri" pitchFamily="34" charset="-120"/>
              </a:rPr>
              <a:t>Antes de cerrar: en el chat, una palabra que describa cómo se sienten al final.</a:t>
            </a:r>
            <a:endParaRPr lang="en-US" sz="1400" dirty="0"/>
          </a:p>
        </p:txBody>
      </p:sp>
      <p:sp>
        <p:nvSpPr>
          <p:cNvPr id="28" name="Shape 25"/>
          <p:cNvSpPr/>
          <p:nvPr/>
        </p:nvSpPr>
        <p:spPr>
          <a:xfrm>
            <a:off x="548640" y="6400800"/>
            <a:ext cx="118872" cy="118872"/>
          </a:xfrm>
          <a:prstGeom prst="ellipse">
            <a:avLst/>
          </a:prstGeom>
          <a:solidFill>
            <a:srgbClr val="EC008C"/>
          </a:solidFill>
          <a:ln w="12700">
            <a:solidFill>
              <a:srgbClr val="EC008C"/>
            </a:solidFill>
            <a:prstDash val="solid"/>
          </a:ln>
        </p:spPr>
        <p:txBody>
          <a:bodyPr/>
          <a:lstStyle/>
          <a:p>
            <a:endParaRPr lang="es-MX"/>
          </a:p>
        </p:txBody>
      </p:sp>
      <p:sp>
        <p:nvSpPr>
          <p:cNvPr id="29" name="Text 26"/>
          <p:cNvSpPr/>
          <p:nvPr/>
        </p:nvSpPr>
        <p:spPr>
          <a:xfrm>
            <a:off x="777240" y="6355080"/>
            <a:ext cx="6400800" cy="228600"/>
          </a:xfrm>
          <a:prstGeom prst="rect">
            <a:avLst/>
          </a:prstGeom>
          <a:noFill/>
          <a:ln/>
        </p:spPr>
        <p:txBody>
          <a:bodyPr wrap="square" lIns="0" tIns="0" rIns="0" bIns="0" rtlCol="0" anchor="ctr"/>
          <a:lstStyle/>
          <a:p>
            <a:pPr marL="0" indent="0">
              <a:buNone/>
            </a:pPr>
            <a:r>
              <a:rPr lang="en-US" sz="900" b="1" kern="0" spc="400" dirty="0">
                <a:solidFill>
                  <a:srgbClr val="FFFFFF"/>
                </a:solidFill>
                <a:latin typeface="Calibri" pitchFamily="34" charset="0"/>
                <a:ea typeface="Calibri" pitchFamily="34" charset="-122"/>
                <a:cs typeface="Calibri" pitchFamily="34" charset="-120"/>
              </a:rPr>
              <a:t>FINAL UPGRADE AI  ·  WORKSHOP SPORTS WORLD</a:t>
            </a:r>
            <a:endParaRPr lang="en-US" sz="900" dirty="0"/>
          </a:p>
        </p:txBody>
      </p:sp>
      <p:sp>
        <p:nvSpPr>
          <p:cNvPr id="30" name="Text 27"/>
          <p:cNvSpPr/>
          <p:nvPr/>
        </p:nvSpPr>
        <p:spPr>
          <a:xfrm>
            <a:off x="11002975" y="6355080"/>
            <a:ext cx="640080" cy="228600"/>
          </a:xfrm>
          <a:prstGeom prst="rect">
            <a:avLst/>
          </a:prstGeom>
          <a:noFill/>
          <a:ln/>
        </p:spPr>
        <p:txBody>
          <a:bodyPr wrap="square" lIns="0" tIns="0" rIns="0" bIns="0" rtlCol="0" anchor="ctr"/>
          <a:lstStyle/>
          <a:p>
            <a:pPr marL="0" indent="0" algn="r">
              <a:buNone/>
            </a:pPr>
            <a:r>
              <a:rPr lang="en-US" sz="900" b="1" dirty="0">
                <a:solidFill>
                  <a:srgbClr val="B8B8C5"/>
                </a:solidFill>
                <a:latin typeface="Calibri" pitchFamily="34" charset="0"/>
                <a:ea typeface="Calibri" pitchFamily="34" charset="-122"/>
                <a:cs typeface="Calibri" pitchFamily="34" charset="-120"/>
              </a:rPr>
              <a:t>17 / 18</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18">
    <p:bg>
      <p:bgPr>
        <a:solidFill>
          <a:srgbClr val="0F0F1B"/>
        </a:solidFill>
        <a:effectLst/>
      </p:bgPr>
    </p:bg>
    <p:spTree>
      <p:nvGrpSpPr>
        <p:cNvPr id="1" name=""/>
        <p:cNvGrpSpPr/>
        <p:nvPr/>
      </p:nvGrpSpPr>
      <p:grpSpPr>
        <a:xfrm>
          <a:off x="0" y="0"/>
          <a:ext cx="0" cy="0"/>
          <a:chOff x="0" y="0"/>
          <a:chExt cx="0" cy="0"/>
        </a:xfrm>
      </p:grpSpPr>
      <p:sp>
        <p:nvSpPr>
          <p:cNvPr id="2" name="Text 0"/>
          <p:cNvSpPr/>
          <p:nvPr/>
        </p:nvSpPr>
        <p:spPr>
          <a:xfrm>
            <a:off x="548640" y="411480"/>
            <a:ext cx="5486400" cy="274320"/>
          </a:xfrm>
          <a:prstGeom prst="rect">
            <a:avLst/>
          </a:prstGeom>
          <a:noFill/>
          <a:ln/>
        </p:spPr>
        <p:txBody>
          <a:bodyPr wrap="square" lIns="0" tIns="0" rIns="0" bIns="0" rtlCol="0" anchor="ctr"/>
          <a:lstStyle/>
          <a:p>
            <a:pPr marL="0" indent="0">
              <a:buNone/>
            </a:pPr>
            <a:r>
              <a:rPr lang="en-US" sz="1100" b="1" kern="0" spc="600" dirty="0">
                <a:solidFill>
                  <a:srgbClr val="EC008C"/>
                </a:solidFill>
                <a:latin typeface="Calibri" pitchFamily="34" charset="0"/>
                <a:ea typeface="Calibri" pitchFamily="34" charset="-122"/>
                <a:cs typeface="Calibri" pitchFamily="34" charset="-120"/>
              </a:rPr>
              <a:t>FINAL UPGRADE AI</a:t>
            </a:r>
            <a:endParaRPr lang="en-US" sz="1100" dirty="0"/>
          </a:p>
        </p:txBody>
      </p:sp>
      <p:pic>
        <p:nvPicPr>
          <p:cNvPr id="3" name="Image 0" descr="/home/claude/sw_pres/sw_logo_transparent.png"/>
          <p:cNvPicPr>
            <a:picLocks noChangeAspect="1"/>
          </p:cNvPicPr>
          <p:nvPr/>
        </p:nvPicPr>
        <p:blipFill>
          <a:blip r:embed="rId3"/>
          <a:stretch>
            <a:fillRect/>
          </a:stretch>
        </p:blipFill>
        <p:spPr>
          <a:xfrm>
            <a:off x="11094415" y="228600"/>
            <a:ext cx="777240" cy="777240"/>
          </a:xfrm>
          <a:prstGeom prst="rect">
            <a:avLst/>
          </a:prstGeom>
        </p:spPr>
      </p:pic>
      <p:sp>
        <p:nvSpPr>
          <p:cNvPr id="4" name="Shape 1"/>
          <p:cNvSpPr/>
          <p:nvPr/>
        </p:nvSpPr>
        <p:spPr>
          <a:xfrm>
            <a:off x="548640" y="1005840"/>
            <a:ext cx="9997135" cy="0"/>
          </a:xfrm>
          <a:prstGeom prst="line">
            <a:avLst/>
          </a:prstGeom>
          <a:noFill/>
          <a:ln w="12700">
            <a:solidFill>
              <a:srgbClr val="EC008C"/>
            </a:solidFill>
            <a:prstDash val="solid"/>
          </a:ln>
        </p:spPr>
        <p:txBody>
          <a:bodyPr/>
          <a:lstStyle/>
          <a:p>
            <a:endParaRPr lang="es-MX"/>
          </a:p>
        </p:txBody>
      </p:sp>
      <p:sp>
        <p:nvSpPr>
          <p:cNvPr id="5" name="Shape 2"/>
          <p:cNvSpPr/>
          <p:nvPr/>
        </p:nvSpPr>
        <p:spPr>
          <a:xfrm>
            <a:off x="548640" y="1554480"/>
            <a:ext cx="1554480" cy="411480"/>
          </a:xfrm>
          <a:prstGeom prst="roundRect">
            <a:avLst>
              <a:gd name="adj" fmla="val 50000"/>
            </a:avLst>
          </a:prstGeom>
          <a:solidFill>
            <a:srgbClr val="EC008C"/>
          </a:solidFill>
          <a:ln w="12700">
            <a:solidFill>
              <a:srgbClr val="EC008C"/>
            </a:solidFill>
            <a:prstDash val="solid"/>
          </a:ln>
        </p:spPr>
        <p:txBody>
          <a:bodyPr/>
          <a:lstStyle/>
          <a:p>
            <a:endParaRPr lang="es-MX"/>
          </a:p>
        </p:txBody>
      </p:sp>
      <p:sp>
        <p:nvSpPr>
          <p:cNvPr id="6" name="Text 3"/>
          <p:cNvSpPr/>
          <p:nvPr/>
        </p:nvSpPr>
        <p:spPr>
          <a:xfrm>
            <a:off x="548640" y="1554480"/>
            <a:ext cx="1554480" cy="411480"/>
          </a:xfrm>
          <a:prstGeom prst="rect">
            <a:avLst/>
          </a:prstGeom>
          <a:noFill/>
          <a:ln/>
        </p:spPr>
        <p:txBody>
          <a:bodyPr wrap="square" lIns="0" tIns="0" rIns="0" bIns="0" rtlCol="0" anchor="ctr"/>
          <a:lstStyle/>
          <a:p>
            <a:pPr marL="0" indent="0" algn="ctr">
              <a:buNone/>
            </a:pPr>
            <a:r>
              <a:rPr lang="en-US" sz="1100" b="1" kern="0" spc="400" dirty="0">
                <a:solidFill>
                  <a:srgbClr val="FFFFFF"/>
                </a:solidFill>
                <a:latin typeface="Calibri" pitchFamily="34" charset="0"/>
                <a:ea typeface="Calibri" pitchFamily="34" charset="-122"/>
                <a:cs typeface="Calibri" pitchFamily="34" charset="-120"/>
              </a:rPr>
              <a:t>THANK YOU</a:t>
            </a:r>
            <a:endParaRPr lang="en-US" sz="1100" dirty="0"/>
          </a:p>
        </p:txBody>
      </p:sp>
      <p:sp>
        <p:nvSpPr>
          <p:cNvPr id="7" name="Text 4"/>
          <p:cNvSpPr/>
          <p:nvPr/>
        </p:nvSpPr>
        <p:spPr>
          <a:xfrm>
            <a:off x="548640" y="2286000"/>
            <a:ext cx="10972800" cy="2286000"/>
          </a:xfrm>
          <a:prstGeom prst="rect">
            <a:avLst/>
          </a:prstGeom>
          <a:noFill/>
          <a:ln/>
        </p:spPr>
        <p:txBody>
          <a:bodyPr wrap="square" lIns="0" tIns="0" rIns="0" bIns="0" rtlCol="0" anchor="ctr"/>
          <a:lstStyle/>
          <a:p>
            <a:pPr marL="0" indent="0">
              <a:buNone/>
            </a:pPr>
            <a:r>
              <a:rPr lang="en-US" sz="18000" b="1" dirty="0">
                <a:solidFill>
                  <a:srgbClr val="FFFFFF"/>
                </a:solidFill>
                <a:latin typeface="Calibri" pitchFamily="34" charset="0"/>
                <a:ea typeface="Calibri" pitchFamily="34" charset="-122"/>
                <a:cs typeface="Calibri" pitchFamily="34" charset="-120"/>
              </a:rPr>
              <a:t>Gracias</a:t>
            </a:r>
            <a:endParaRPr lang="en-US" sz="18000" dirty="0"/>
          </a:p>
        </p:txBody>
      </p:sp>
      <p:sp>
        <p:nvSpPr>
          <p:cNvPr id="8" name="Text 5"/>
          <p:cNvSpPr/>
          <p:nvPr/>
        </p:nvSpPr>
        <p:spPr>
          <a:xfrm>
            <a:off x="548640" y="4572000"/>
            <a:ext cx="10972800" cy="457200"/>
          </a:xfrm>
          <a:prstGeom prst="rect">
            <a:avLst/>
          </a:prstGeom>
          <a:noFill/>
          <a:ln/>
        </p:spPr>
        <p:txBody>
          <a:bodyPr wrap="square" lIns="0" tIns="0" rIns="0" bIns="0" rtlCol="0" anchor="ctr"/>
          <a:lstStyle/>
          <a:p>
            <a:pPr marL="0" indent="0">
              <a:buNone/>
            </a:pPr>
            <a:r>
              <a:rPr lang="en-US" sz="2000" i="1" dirty="0">
                <a:solidFill>
                  <a:srgbClr val="B8B8C5"/>
                </a:solidFill>
                <a:latin typeface="Calibri" pitchFamily="34" charset="0"/>
                <a:ea typeface="Calibri" pitchFamily="34" charset="-122"/>
                <a:cs typeface="Calibri" pitchFamily="34" charset="-120"/>
              </a:rPr>
              <a:t>Ustedes son la voz del campo. Lo que aportaron hoy define el programa.</a:t>
            </a:r>
            <a:endParaRPr lang="en-US" sz="2000" dirty="0"/>
          </a:p>
        </p:txBody>
      </p:sp>
      <p:sp>
        <p:nvSpPr>
          <p:cNvPr id="9" name="Shape 6"/>
          <p:cNvSpPr/>
          <p:nvPr/>
        </p:nvSpPr>
        <p:spPr>
          <a:xfrm>
            <a:off x="548640" y="5212080"/>
            <a:ext cx="5029200" cy="0"/>
          </a:xfrm>
          <a:prstGeom prst="line">
            <a:avLst/>
          </a:prstGeom>
          <a:noFill/>
          <a:ln w="12700">
            <a:solidFill>
              <a:srgbClr val="EC008C"/>
            </a:solidFill>
            <a:prstDash val="solid"/>
          </a:ln>
        </p:spPr>
        <p:txBody>
          <a:bodyPr/>
          <a:lstStyle/>
          <a:p>
            <a:endParaRPr lang="es-MX"/>
          </a:p>
        </p:txBody>
      </p:sp>
      <p:sp>
        <p:nvSpPr>
          <p:cNvPr id="10" name="Text 7"/>
          <p:cNvSpPr/>
          <p:nvPr/>
        </p:nvSpPr>
        <p:spPr>
          <a:xfrm>
            <a:off x="548640" y="5394960"/>
            <a:ext cx="5486400" cy="365760"/>
          </a:xfrm>
          <a:prstGeom prst="rect">
            <a:avLst/>
          </a:prstGeom>
          <a:noFill/>
          <a:ln/>
        </p:spPr>
        <p:txBody>
          <a:bodyPr wrap="square" lIns="0" tIns="0" rIns="0" bIns="0"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Eric Toledano</a:t>
            </a:r>
            <a:endParaRPr lang="en-US" sz="1800" dirty="0"/>
          </a:p>
        </p:txBody>
      </p:sp>
      <p:sp>
        <p:nvSpPr>
          <p:cNvPr id="11" name="Text 8"/>
          <p:cNvSpPr/>
          <p:nvPr/>
        </p:nvSpPr>
        <p:spPr>
          <a:xfrm>
            <a:off x="548640" y="5760720"/>
            <a:ext cx="5486400" cy="274320"/>
          </a:xfrm>
          <a:prstGeom prst="rect">
            <a:avLst/>
          </a:prstGeom>
          <a:noFill/>
          <a:ln/>
        </p:spPr>
        <p:txBody>
          <a:bodyPr wrap="square" lIns="0" tIns="0" rIns="0" bIns="0" rtlCol="0" anchor="ctr"/>
          <a:lstStyle/>
          <a:p>
            <a:pPr marL="0" indent="0">
              <a:buNone/>
            </a:pPr>
            <a:r>
              <a:rPr lang="en-US" sz="1300" dirty="0">
                <a:solidFill>
                  <a:srgbClr val="B8B8C5"/>
                </a:solidFill>
                <a:latin typeface="Calibri" pitchFamily="34" charset="0"/>
                <a:ea typeface="Calibri" pitchFamily="34" charset="-122"/>
                <a:cs typeface="Calibri" pitchFamily="34" charset="-120"/>
              </a:rPr>
              <a:t>Managing Partner LatAm  ·  Final Upgrade AI</a:t>
            </a:r>
            <a:endParaRPr lang="en-US" sz="1300" dirty="0"/>
          </a:p>
        </p:txBody>
      </p:sp>
      <p:sp>
        <p:nvSpPr>
          <p:cNvPr id="12" name="Text 9"/>
          <p:cNvSpPr/>
          <p:nvPr/>
        </p:nvSpPr>
        <p:spPr>
          <a:xfrm>
            <a:off x="548640" y="6035040"/>
            <a:ext cx="5486400" cy="274320"/>
          </a:xfrm>
          <a:prstGeom prst="rect">
            <a:avLst/>
          </a:prstGeom>
          <a:noFill/>
          <a:ln/>
        </p:spPr>
        <p:txBody>
          <a:bodyPr wrap="square" lIns="0" tIns="0" rIns="0" bIns="0" rtlCol="0" anchor="ctr"/>
          <a:lstStyle/>
          <a:p>
            <a:pPr marL="0" indent="0">
              <a:buNone/>
            </a:pPr>
            <a:r>
              <a:rPr lang="en-US" sz="1300" b="1" dirty="0">
                <a:solidFill>
                  <a:srgbClr val="EC008C"/>
                </a:solidFill>
                <a:latin typeface="Calibri" pitchFamily="34" charset="0"/>
                <a:ea typeface="Calibri" pitchFamily="34" charset="-122"/>
                <a:cs typeface="Calibri" pitchFamily="34" charset="-120"/>
              </a:rPr>
              <a:t>eric@finalupgrade.ai</a:t>
            </a:r>
            <a:endParaRPr lang="en-US" sz="1300" dirty="0"/>
          </a:p>
        </p:txBody>
      </p:sp>
      <p:sp>
        <p:nvSpPr>
          <p:cNvPr id="13" name="Shape 10"/>
          <p:cNvSpPr/>
          <p:nvPr/>
        </p:nvSpPr>
        <p:spPr>
          <a:xfrm>
            <a:off x="548640" y="6400800"/>
            <a:ext cx="118872" cy="118872"/>
          </a:xfrm>
          <a:prstGeom prst="ellipse">
            <a:avLst/>
          </a:prstGeom>
          <a:solidFill>
            <a:srgbClr val="EC008C"/>
          </a:solidFill>
          <a:ln w="12700">
            <a:solidFill>
              <a:srgbClr val="EC008C"/>
            </a:solidFill>
            <a:prstDash val="solid"/>
          </a:ln>
        </p:spPr>
        <p:txBody>
          <a:bodyPr/>
          <a:lstStyle/>
          <a:p>
            <a:endParaRPr lang="es-MX"/>
          </a:p>
        </p:txBody>
      </p:sp>
      <p:sp>
        <p:nvSpPr>
          <p:cNvPr id="14" name="Text 11"/>
          <p:cNvSpPr/>
          <p:nvPr/>
        </p:nvSpPr>
        <p:spPr>
          <a:xfrm>
            <a:off x="777240" y="6355080"/>
            <a:ext cx="6400800" cy="228600"/>
          </a:xfrm>
          <a:prstGeom prst="rect">
            <a:avLst/>
          </a:prstGeom>
          <a:noFill/>
          <a:ln/>
        </p:spPr>
        <p:txBody>
          <a:bodyPr wrap="square" lIns="0" tIns="0" rIns="0" bIns="0" rtlCol="0" anchor="ctr"/>
          <a:lstStyle/>
          <a:p>
            <a:pPr marL="0" indent="0">
              <a:buNone/>
            </a:pPr>
            <a:r>
              <a:rPr lang="en-US" sz="900" b="1" kern="0" spc="400" dirty="0">
                <a:solidFill>
                  <a:srgbClr val="FFFFFF"/>
                </a:solidFill>
                <a:latin typeface="Calibri" pitchFamily="34" charset="0"/>
                <a:ea typeface="Calibri" pitchFamily="34" charset="-122"/>
                <a:cs typeface="Calibri" pitchFamily="34" charset="-120"/>
              </a:rPr>
              <a:t>FINAL UPGRADE AI  ·  WORKSHOP SPORTS WORLD</a:t>
            </a:r>
            <a:endParaRPr lang="en-US" sz="900" dirty="0"/>
          </a:p>
        </p:txBody>
      </p:sp>
      <p:sp>
        <p:nvSpPr>
          <p:cNvPr id="15" name="Text 12"/>
          <p:cNvSpPr/>
          <p:nvPr/>
        </p:nvSpPr>
        <p:spPr>
          <a:xfrm>
            <a:off x="11002975" y="6355080"/>
            <a:ext cx="640080" cy="228600"/>
          </a:xfrm>
          <a:prstGeom prst="rect">
            <a:avLst/>
          </a:prstGeom>
          <a:noFill/>
          <a:ln/>
        </p:spPr>
        <p:txBody>
          <a:bodyPr wrap="square" lIns="0" tIns="0" rIns="0" bIns="0" rtlCol="0" anchor="ctr"/>
          <a:lstStyle/>
          <a:p>
            <a:pPr marL="0" indent="0" algn="r">
              <a:buNone/>
            </a:pPr>
            <a:r>
              <a:rPr lang="en-US" sz="900" b="1" dirty="0">
                <a:solidFill>
                  <a:srgbClr val="B8B8C5"/>
                </a:solidFill>
                <a:latin typeface="Calibri" pitchFamily="34" charset="0"/>
                <a:ea typeface="Calibri" pitchFamily="34" charset="-122"/>
                <a:cs typeface="Calibri" pitchFamily="34" charset="-120"/>
              </a:rPr>
              <a:t>18 / 18</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330</TotalTime>
  <Words>2467</Words>
  <Application>Microsoft Office PowerPoint</Application>
  <PresentationFormat>Widescreen</PresentationFormat>
  <Paragraphs>402</Paragraphs>
  <Slides>24</Slides>
  <Notes>24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24</vt:i4>
      </vt:variant>
    </vt:vector>
  </HeadingPairs>
  <TitlesOfParts>
    <vt:vector size="28" baseType="lpstr">
      <vt:lpstr>Aptos</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Workshop SW × Final Upgrade AI</dc:title>
  <dc:subject>PptxGenJS Presentation</dc:subject>
  <dc:creator>Eric Toledano · Final Upgrade AI</dc:creator>
  <cp:lastModifiedBy>Eric Toledano</cp:lastModifiedBy>
  <cp:revision>3</cp:revision>
  <dcterms:created xsi:type="dcterms:W3CDTF">2026-05-07T06:28:31Z</dcterms:created>
  <dcterms:modified xsi:type="dcterms:W3CDTF">2026-05-13T01:37:25Z</dcterms:modified>
</cp:coreProperties>
</file>