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0039355d-054f-4420-7e84-0f76abf9b99b}">
          <p14:sldIdLst>
            <p14:sldId id="256"/>
            <p14:sldId id="257"/>
          </p14:sldIdLst>
        </p14:section>
        <p14:section name="Hechos" id="{aaaaec3d-0b0e-33bd-cc40-b399cbd352e9}">
          <p14:sldIdLst>
            <p14:sldId id="258"/>
            <p14:sldId id="259"/>
          </p14:sldIdLst>
        </p14:section>
        <p14:section name="Razones" id="{9e1d1b25-5313-4f8c-9e2a-355c1243f5fe}">
          <p14:sldIdLst>
            <p14:sldId id="260"/>
            <p14:sldId id="261"/>
            <p14:sldId id="262"/>
            <p14:sldId id="263"/>
          </p14:sldIdLst>
        </p14:section>
        <p14:section name="Lo entregado" id="{808d1d30-317c-086c-9c36-10c148ea475c}">
          <p14:sldIdLst>
            <p14:sldId id="264"/>
            <p14:sldId id="265"/>
            <p14:sldId id="266"/>
          </p14:sldIdLst>
        </p14:section>
        <p14:section name="Cierre" id="{39d143bc-84bd-7104-a245-20bf374602b3}">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por el tiempo. Vengo a dos cosas: entender con precisión la decisión y sus razones, y acordar cómo cerramos de forma justa lo que ya está entregado.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sigue sustenta estas tres afirmaciones con fechas y documentos. Las cifras de la propuesta se presentan al final, en la lámina 13, después del valor de lo entregado.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propuesta original era por fases y con periodos de prueba. Fue la Dirección de Sports World quien pidió todo el proyecto junto y en menos tiempo. Final Upgrade ofreció igualar a la baja la cotización del proveedor web; esa cotización nunca se compartió.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Siete meses desde el diagnóstico. Cinco meses desde que el precio fue conocido y autorizado internamente. Cuatro reducciones de alcance a petición de Sports World. La objeción de precio aparece al final, después de que el contrato final ya estaba en manos de Legal.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es una cotización de SEO. Es el rediseño integral de sportsworld.com.mx con todo lo que Sports World pidió incluir. Pedir por escrito el alcance y precio de las otras opciones.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precio estuvo cinco meses en la mesa, pasó por Dirección, Sistemas, Legal y Consejo. Bajó 27 por ciento retirando exactamente lo que Sports World pidió retirar.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objeción de privacidad no aplica al contrato que está en la mesa desde el 29 de septiembre. Pedir hoy la objeción específica de Legal y Sistemas, cláusula por cláusula. Ofrecer una sesión técnica de 45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de tres componentes se explicó el 5 de mayo. El 22 de septiembre Final Upgrade ofreció pagar las plataformas directamente. En el contrato final el gasto variable va de 28 a 228 dólares al 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Veinte peticiones expresas en seis meses, todas por escrito y todas atendidas. Esto es lo que hace un cliente que va a contratar.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esto existe, está fechado y fue entregado a Sports World. Es la base material de la compensación.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entregable está valuado a la tarifa horaria que el propio contrato fija: 75 dólares, 1,335 pesos. Las horas son conservadoras. El valor del trabajo es de 614 mil pesos, más 35 mil pesos de honorarios legales por la revisión y redacción de cuatro versiones del contrato, dos addenda y los contratos separados. Nada de esto se ha facturado.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trabajo se hizo a petición expresa, con autorización interna comunicada y con el contrato final en manos de Legal. Los entregables son propiedad de Final Upgrade. Buscamos un cierre justo y rápido; lo documentado permite sostenerlo donde sea necesario.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Opción 1: 350 mil pesos de compensación, pago inmediato, acreditables al 100 por ciento si el proyecto se retoma. Opción 2: 650 mil pesos por todo el trabajo de todas las etapas, con cesión de uso. La Opción 2 paga el valor de lo entregado a la tarifa del contrato, sin margen adicional; la Opción 1 es 54 por ciento de ese valor.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pedimos hoy es poco y concreto: decisión por escrito, el alcance de la comparación, la objeción específica, y una fecha de pago. No aceptamos «lo vemos en 2027» sin fecha ni sin resolver la compensación.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Resumo lo que me llevo: la decisión y sus razones por escrito, el alcance de las opciones con las que se nos comparó, y una fecha para cerrar la compensación de lo entregado.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11091672" cy="2011680"/>
          </a:xfrm>
          <a:prstGeom prst="rect">
            <a:avLst/>
          </a:prstGeom>
          <a:noFill/>
          <a:ln/>
        </p:spPr>
        <p:txBody>
          <a:bodyPr wrap="square" rtlCol="0"/>
          <a:lstStyle>
            <a:lvl1pPr algn="l" indent="0" marL="0">
              <a:buNone/>
              <a:defRPr lang="en-US" sz="4000"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657600"/>
            <a:ext cx="9262872" cy="146304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
        <p:nvSpPr>
          <p:cNvPr id="4" name="Text 0"/>
          <p:cNvSpPr/>
          <p:nvPr/>
        </p:nvSpPr>
        <p:spPr>
          <a:xfrm>
            <a:off x="548640" y="6309360"/>
            <a:ext cx="8229600" cy="274320"/>
          </a:xfrm>
          <a:prstGeom prst="rect">
            <a:avLst/>
          </a:prstGeom>
          <a:noFill/>
          <a:ln/>
        </p:spPr>
        <p:txBody>
          <a:bodyPr wrap="square" lIns="0" tIns="0" rIns="0" bIns="0" rtlCol="0" anchor="ctr"/>
          <a:lstStyle/>
          <a:p>
            <a:pPr indent="0" marL="0">
              <a:buNone/>
            </a:pPr>
            <a:r>
              <a:rPr lang="en-US" sz="1000" dirty="0">
                <a:solidFill>
                  <a:schemeClr val="accent3"/>
                </a:solidFill>
              </a:rPr>
              <a:t>Final Upgrade AI · Sports World México · 9 de octubre de 2026</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1672" cy="274320"/>
          </a:xfrm>
          <a:prstGeom prst="rect">
            <a:avLst/>
          </a:prstGeom>
          <a:noFill/>
          <a:ln/>
        </p:spPr>
        <p:txBody>
          <a:bodyPr wrap="square" rtlCol="0"/>
          <a:lstStyle>
            <a:lvl1pPr indent="0" marL="0">
              <a:buNone/>
              <a:defRPr lang="en-US" sz="1100" spc="3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713232"/>
            <a:ext cx="11091672" cy="731520"/>
          </a:xfrm>
          <a:prstGeom prst="rect">
            <a:avLst/>
          </a:prstGeom>
          <a:noFill/>
          <a:ln/>
        </p:spPr>
        <p:txBody>
          <a:bodyPr wrap="square" rtlCol="0"/>
          <a:lstStyle>
            <a:lvl1pPr algn="l" indent="0" marL="0">
              <a:buNone/>
              <a:defRPr lang="en-US" sz="3000" dirty="0">
                <a:solidFill>
                  <a:schemeClr val="tx1"/>
                </a:solidFill>
              </a:defRPr>
            </a:lvl1pPr>
          </a:lstStyle>
          <a:p>
            <a:pPr algn="l" indent="0" marL="0">
              <a:buNone/>
            </a:pPr>
            <a:endParaRPr lang="en-US" sz="3000" dirty="0"/>
          </a:p>
        </p:txBody>
      </p:sp>
      <p:sp>
        <p:nvSpPr>
          <p:cNvPr id="4"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tx2"/>
                </a:solidFill>
              </a:rPr>
              <a:t>Final Upgrade AI · Sports World México · 9 de octubre de 2026</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731520"/>
            <a:ext cx="11091672" cy="274320"/>
          </a:xfrm>
          <a:prstGeom prst="rect">
            <a:avLst/>
          </a:prstGeom>
          <a:noFill/>
          <a:ln/>
        </p:spPr>
        <p:txBody>
          <a:bodyPr wrap="square" lIns="0" tIns="0" rIns="0" bIns="0" rtlCol="0" anchor="ctr"/>
          <a:lstStyle/>
          <a:p>
            <a:pPr indent="0" marL="0">
              <a:buNone/>
            </a:pPr>
            <a:r>
              <a:rPr lang="en-US" sz="1100" spc="300" kern="0" dirty="0">
                <a:solidFill>
                  <a:schemeClr val="accent3"/>
                </a:solidFill>
              </a:rPr>
              <a:t>FINAL UPGRADE AI · SPORTS WORLD MÉXICO</a:t>
            </a:r>
            <a:endParaRPr lang="en-US" sz="1100" dirty="0"/>
          </a:p>
        </p:txBody>
      </p:sp>
      <p:sp>
        <p:nvSpPr>
          <p:cNvPr id="3" name="Text 0"/>
          <p:cNvSpPr/>
          <p:nvPr>
            <p:ph idx="100" type="title" hasCustomPrompt="1"/>
          </p:nvPr>
        </p:nvSpPr>
        <p:spPr>
          <a:xfrm>
            <a:off x="548640" y="1463040"/>
            <a:ext cx="11091672" cy="2011680"/>
          </a:xfrm>
          <a:prstGeom prst="rect">
            <a:avLst/>
          </a:prstGeom>
          <a:noFill/>
          <a:ln/>
        </p:spPr>
        <p:txBody>
          <a:bodyPr wrap="square" lIns="0" tIns="0" rIns="0" bIns="0" rtlCol="0" anchor="t"/>
          <a:lstStyle/>
          <a:p>
            <a:pPr algn="l" indent="0" marL="0">
              <a:buNone/>
            </a:pPr>
            <a:r>
              <a:rPr lang="en-US" sz="4000" dirty="0">
                <a:solidFill>
                  <a:schemeClr val="bg1"/>
                </a:solidFill>
              </a:rPr>
              <a:t>Cierre justo del proyecto de captación y conversión digital</a:t>
            </a:r>
            <a:endParaRPr lang="en-US" sz="4000" dirty="0"/>
          </a:p>
        </p:txBody>
      </p:sp>
      <p:sp>
        <p:nvSpPr>
          <p:cNvPr id="4" name="Text 0"/>
          <p:cNvSpPr/>
          <p:nvPr>
            <p:ph idx="101" type="body" hasCustomPrompt="1"/>
          </p:nvPr>
        </p:nvSpPr>
        <p:spPr>
          <a:xfrm>
            <a:off x="548640" y="3657600"/>
            <a:ext cx="9262872" cy="1463040"/>
          </a:xfrm>
          <a:prstGeom prst="rect">
            <a:avLst/>
          </a:prstGeom>
          <a:noFill/>
          <a:ln/>
        </p:spPr>
        <p:txBody>
          <a:bodyPr wrap="square" lIns="0" tIns="0" rIns="0" bIns="0" rtlCol="0" anchor="t"/>
          <a:lstStyle/>
          <a:p>
            <a:pPr indent="0" marL="0">
              <a:buNone/>
            </a:pPr>
            <a:r>
              <a:rPr lang="en-US" sz="1800" dirty="0">
                <a:solidFill>
                  <a:schemeClr val="accent3"/>
                </a:solidFill>
              </a:rPr>
              <a:t>Cronología, respuesta a las razones comunicadas el 7 de octubre, inventario de lo entregado y propuesta de compensación.</a:t>
            </a:r>
            <a:endParaRPr lang="en-US" sz="1800" dirty="0"/>
          </a:p>
        </p:txBody>
      </p:sp>
      <p:sp>
        <p:nvSpPr>
          <p:cNvPr id="5" name="pie"/>
          <p:cNvSpPr txBox="1"/>
          <p:nvPr/>
        </p:nvSpPr>
        <p:spPr>
          <a:xfrm>
            <a:off x="548640" y="5760720"/>
            <a:ext cx="11091672" cy="274320"/>
          </a:xfrm>
          <a:prstGeom prst="rect">
            <a:avLst/>
          </a:prstGeom>
          <a:noFill/>
          <a:ln/>
        </p:spPr>
        <p:txBody>
          <a:bodyPr wrap="square" lIns="0" tIns="0" rIns="0" bIns="0" rtlCol="0" anchor="ctr"/>
          <a:lstStyle/>
          <a:p>
            <a:pPr indent="0" marL="0">
              <a:buNone/>
            </a:pPr>
            <a:r>
              <a:rPr lang="en-US" sz="1100" dirty="0">
                <a:solidFill>
                  <a:schemeClr val="accent3"/>
                </a:solidFill>
              </a:rPr>
              <a:t>Reunión con Productos Digitales y Sistemas · 9 de octubre de 2026 · Documento de trabajo · Confidencial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1672" cy="274320"/>
          </a:xfrm>
          <a:prstGeom prst="rect">
            <a:avLst/>
          </a:prstGeom>
          <a:noFill/>
          <a:ln/>
        </p:spPr>
        <p:txBody>
          <a:bodyPr wrap="square" lIns="0" tIns="0" rIns="0" bIns="0" rtlCol="0"/>
          <a:lstStyle/>
          <a:p>
            <a:pPr indent="0" marL="0">
              <a:buNone/>
            </a:pPr>
            <a:r>
              <a:rPr lang="en-US" sz="1100" spc="300" kern="0" dirty="0">
                <a:solidFill>
                  <a:schemeClr val="accent1"/>
                </a:solidFill>
              </a:rPr>
              <a:t>RESUMEN EJECUTIVO</a:t>
            </a:r>
            <a:endParaRPr lang="en-US" sz="11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000" dirty="0">
                <a:solidFill>
                  <a:schemeClr val="tx1"/>
                </a:solidFill>
              </a:rPr>
              <a:t>Tres hechos y una propuesta</a:t>
            </a:r>
            <a:endParaRPr lang="en-US" sz="3000" dirty="0"/>
          </a:p>
        </p:txBody>
      </p:sp>
      <p:sp>
        <p:nvSpPr>
          <p:cNvPr id="5" name="tarjeta1"/>
          <p:cNvSpPr/>
          <p:nvPr/>
        </p:nvSpPr>
        <p:spPr>
          <a:xfrm>
            <a:off x="548640" y="1691640"/>
            <a:ext cx="3514344" cy="2331720"/>
          </a:xfrm>
          <a:prstGeom prst="roundRect">
            <a:avLst>
              <a:gd name="adj" fmla="val 3137"/>
            </a:avLst>
          </a:prstGeom>
          <a:solidFill>
            <a:schemeClr val="accent6"/>
          </a:solidFill>
          <a:ln w="9525">
            <a:solidFill>
              <a:schemeClr val="accent5"/>
            </a:solidFill>
            <a:prstDash val="solid"/>
          </a:ln>
        </p:spPr>
      </p:sp>
      <p:sp>
        <p:nvSpPr>
          <p:cNvPr id="6" name="t0"/>
          <p:cNvSpPr txBox="1"/>
          <p:nvPr/>
        </p:nvSpPr>
        <p:spPr>
          <a:xfrm>
            <a:off x="777240" y="1828800"/>
            <a:ext cx="3057144" cy="822960"/>
          </a:xfrm>
          <a:prstGeom prst="rect">
            <a:avLst/>
          </a:prstGeom>
          <a:noFill/>
          <a:ln/>
        </p:spPr>
        <p:txBody>
          <a:bodyPr wrap="square" lIns="0" tIns="0" rIns="0" bIns="0" rtlCol="0" anchor="t"/>
          <a:lstStyle/>
          <a:p>
            <a:pPr indent="0" marL="0">
              <a:buNone/>
            </a:pPr>
            <a:r>
              <a:rPr lang="en-US" sz="1600" b="1" dirty="0">
                <a:solidFill>
                  <a:schemeClr val="tx1"/>
                </a:solidFill>
              </a:rPr>
              <a:t>El proyecto lo trajo Final Upgrade</a:t>
            </a:r>
            <a:endParaRPr lang="en-US" sz="1600" dirty="0"/>
          </a:p>
        </p:txBody>
      </p:sp>
      <p:sp>
        <p:nvSpPr>
          <p:cNvPr id="7" name="p0"/>
          <p:cNvSpPr txBox="1"/>
          <p:nvPr/>
        </p:nvSpPr>
        <p:spPr>
          <a:xfrm>
            <a:off x="777240" y="2697480"/>
            <a:ext cx="3057144" cy="1234440"/>
          </a:xfrm>
          <a:prstGeom prst="rect">
            <a:avLst/>
          </a:prstGeom>
          <a:noFill/>
          <a:ln/>
        </p:spPr>
        <p:txBody>
          <a:bodyPr wrap="square" lIns="0" tIns="0" rIns="0" bIns="0" rtlCol="0" anchor="t"/>
          <a:lstStyle/>
          <a:p>
            <a:pPr indent="0" marL="0">
              <a:buNone/>
            </a:pPr>
            <a:r>
              <a:rPr lang="en-US" sz="1250" dirty="0">
                <a:solidFill>
                  <a:schemeClr val="tx2"/>
                </a:solidFill>
              </a:rPr>
              <a:t>Detectado el 28 de febrero por iniciativa propia. Siete meses de trabajo a petición de Sports World. Cuatro reducciones de alcance solicitadas por Sports World.</a:t>
            </a:r>
            <a:endParaRPr lang="en-US" sz="1250" dirty="0"/>
          </a:p>
        </p:txBody>
      </p:sp>
      <p:sp>
        <p:nvSpPr>
          <p:cNvPr id="8" name="tarjeta2"/>
          <p:cNvSpPr/>
          <p:nvPr/>
        </p:nvSpPr>
        <p:spPr>
          <a:xfrm>
            <a:off x="4337304" y="1691640"/>
            <a:ext cx="3514344" cy="2331720"/>
          </a:xfrm>
          <a:prstGeom prst="roundRect">
            <a:avLst>
              <a:gd name="adj" fmla="val 3137"/>
            </a:avLst>
          </a:prstGeom>
          <a:solidFill>
            <a:schemeClr val="accent6"/>
          </a:solidFill>
          <a:ln w="9525">
            <a:solidFill>
              <a:schemeClr val="accent5"/>
            </a:solidFill>
            <a:prstDash val="solid"/>
          </a:ln>
        </p:spPr>
      </p:sp>
      <p:sp>
        <p:nvSpPr>
          <p:cNvPr id="9" name="t1"/>
          <p:cNvSpPr txBox="1"/>
          <p:nvPr/>
        </p:nvSpPr>
        <p:spPr>
          <a:xfrm>
            <a:off x="4565904" y="1828800"/>
            <a:ext cx="3057144" cy="822960"/>
          </a:xfrm>
          <a:prstGeom prst="rect">
            <a:avLst/>
          </a:prstGeom>
          <a:noFill/>
          <a:ln/>
        </p:spPr>
        <p:txBody>
          <a:bodyPr wrap="square" lIns="0" tIns="0" rIns="0" bIns="0" rtlCol="0" anchor="t"/>
          <a:lstStyle/>
          <a:p>
            <a:pPr indent="0" marL="0">
              <a:buNone/>
            </a:pPr>
            <a:r>
              <a:rPr lang="en-US" sz="1600" b="1" dirty="0">
                <a:solidFill>
                  <a:schemeClr val="tx1"/>
                </a:solidFill>
              </a:rPr>
              <a:t>Las razones del 7 de octubre no corresponden al contrato en la mesa</a:t>
            </a:r>
            <a:endParaRPr lang="en-US" sz="1600" dirty="0"/>
          </a:p>
        </p:txBody>
      </p:sp>
      <p:sp>
        <p:nvSpPr>
          <p:cNvPr id="10" name="p1"/>
          <p:cNvSpPr txBox="1"/>
          <p:nvPr/>
        </p:nvSpPr>
        <p:spPr>
          <a:xfrm>
            <a:off x="4565904" y="2697480"/>
            <a:ext cx="3057144" cy="1234440"/>
          </a:xfrm>
          <a:prstGeom prst="rect">
            <a:avLst/>
          </a:prstGeom>
          <a:noFill/>
          <a:ln/>
        </p:spPr>
        <p:txBody>
          <a:bodyPr wrap="square" lIns="0" tIns="0" rIns="0" bIns="0" rtlCol="0" anchor="t"/>
          <a:lstStyle/>
          <a:p>
            <a:pPr indent="0" marL="0">
              <a:buNone/>
            </a:pPr>
            <a:r>
              <a:rPr lang="en-US" sz="1250" dirty="0">
                <a:solidFill>
                  <a:schemeClr val="tx2"/>
                </a:solidFill>
              </a:rPr>
              <a:t>Se comparó un rediseño integral con cotizaciones de SEO. El contrato final no contiene IA conversacional. Los pagos a terceros quedaron resueltos el 22 de septiembre.</a:t>
            </a:r>
            <a:endParaRPr lang="en-US" sz="1250" dirty="0"/>
          </a:p>
        </p:txBody>
      </p:sp>
      <p:sp>
        <p:nvSpPr>
          <p:cNvPr id="11" name="tarjeta3"/>
          <p:cNvSpPr/>
          <p:nvPr/>
        </p:nvSpPr>
        <p:spPr>
          <a:xfrm>
            <a:off x="8125968" y="1691640"/>
            <a:ext cx="3514344" cy="2331720"/>
          </a:xfrm>
          <a:prstGeom prst="roundRect">
            <a:avLst>
              <a:gd name="adj" fmla="val 3137"/>
            </a:avLst>
          </a:prstGeom>
          <a:solidFill>
            <a:schemeClr val="accent6"/>
          </a:solidFill>
          <a:ln w="9525">
            <a:solidFill>
              <a:schemeClr val="accent5"/>
            </a:solidFill>
            <a:prstDash val="solid"/>
          </a:ln>
        </p:spPr>
      </p:sp>
      <p:sp>
        <p:nvSpPr>
          <p:cNvPr id="12" name="t2"/>
          <p:cNvSpPr txBox="1"/>
          <p:nvPr/>
        </p:nvSpPr>
        <p:spPr>
          <a:xfrm>
            <a:off x="8354568" y="1828800"/>
            <a:ext cx="3057144" cy="822960"/>
          </a:xfrm>
          <a:prstGeom prst="rect">
            <a:avLst/>
          </a:prstGeom>
          <a:noFill/>
          <a:ln/>
        </p:spPr>
        <p:txBody>
          <a:bodyPr wrap="square" lIns="0" tIns="0" rIns="0" bIns="0" rtlCol="0" anchor="t"/>
          <a:lstStyle/>
          <a:p>
            <a:pPr indent="0" marL="0">
              <a:buNone/>
            </a:pPr>
            <a:r>
              <a:rPr lang="en-US" sz="1600" b="1" dirty="0">
                <a:solidFill>
                  <a:schemeClr val="tx1"/>
                </a:solidFill>
              </a:rPr>
              <a:t>Todo se produjo a petición expresa de Sports World</a:t>
            </a:r>
            <a:endParaRPr lang="en-US" sz="1600" dirty="0"/>
          </a:p>
        </p:txBody>
      </p:sp>
      <p:sp>
        <p:nvSpPr>
          <p:cNvPr id="13" name="p2"/>
          <p:cNvSpPr txBox="1"/>
          <p:nvPr/>
        </p:nvSpPr>
        <p:spPr>
          <a:xfrm>
            <a:off x="8354568" y="2697480"/>
            <a:ext cx="3057144" cy="1234440"/>
          </a:xfrm>
          <a:prstGeom prst="rect">
            <a:avLst/>
          </a:prstGeom>
          <a:noFill/>
          <a:ln/>
        </p:spPr>
        <p:txBody>
          <a:bodyPr wrap="square" lIns="0" tIns="0" rIns="0" bIns="0" rtlCol="0" anchor="t"/>
          <a:lstStyle/>
          <a:p>
            <a:pPr indent="0" marL="0">
              <a:buNone/>
            </a:pPr>
            <a:r>
              <a:rPr lang="en-US" sz="1250" dirty="0">
                <a:solidFill>
                  <a:schemeClr val="tx2"/>
                </a:solidFill>
              </a:rPr>
              <a:t>Veinte solicitudes por escrito entre marzo y septiembre, todas atendidas, con el precio en la mesa desde el 29 de abril y el contrato final entregado el 29 de septiembre.</a:t>
            </a:r>
            <a:endParaRPr lang="en-US" sz="1250" dirty="0"/>
          </a:p>
        </p:txBody>
      </p:sp>
      <p:sp>
        <p:nvSpPr>
          <p:cNvPr id="14" name="banda"/>
          <p:cNvSpPr/>
          <p:nvPr/>
        </p:nvSpPr>
        <p:spPr>
          <a:xfrm>
            <a:off x="548640" y="4297680"/>
            <a:ext cx="11091672" cy="1463040"/>
          </a:xfrm>
          <a:prstGeom prst="roundRect">
            <a:avLst>
              <a:gd name="adj" fmla="val 5000"/>
            </a:avLst>
          </a:prstGeom>
          <a:solidFill>
            <a:schemeClr val="tx1"/>
          </a:solidFill>
          <a:ln w="9525">
            <a:solidFill>
              <a:schemeClr val="tx1"/>
            </a:solidFill>
            <a:prstDash val="solid"/>
          </a:ln>
        </p:spPr>
      </p:sp>
      <p:sp>
        <p:nvSpPr>
          <p:cNvPr id="15" name="bandaTxt"/>
          <p:cNvSpPr txBox="1"/>
          <p:nvPr/>
        </p:nvSpPr>
        <p:spPr>
          <a:xfrm>
            <a:off x="914400" y="4434840"/>
            <a:ext cx="10360152" cy="1188720"/>
          </a:xfrm>
          <a:prstGeom prst="rect">
            <a:avLst/>
          </a:prstGeom>
          <a:noFill/>
          <a:ln/>
        </p:spPr>
        <p:txBody>
          <a:bodyPr wrap="square" lIns="0" tIns="0" rIns="0" bIns="0" rtlCol="0" anchor="ctr"/>
          <a:lstStyle/>
          <a:p>
            <a:pPr indent="0" marL="0">
              <a:buNone/>
            </a:pPr>
            <a:r>
              <a:rPr lang="en-US" sz="2000" dirty="0">
                <a:solidFill>
                  <a:schemeClr val="bg1"/>
                </a:solidFill>
                <a:latin typeface="Cambria" pitchFamily="34" charset="0"/>
                <a:ea typeface="Cambria" pitchFamily="34" charset="-122"/>
                <a:cs typeface="Cambria" pitchFamily="34" charset="-120"/>
              </a:rPr>
              <a:t>Propuesta: un cierre justo por lo entregado, acreditable en su totalidad si el proyecto se retoma, o la adquisición de todas las etapas.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1672" cy="274320"/>
          </a:xfrm>
          <a:prstGeom prst="rect">
            <a:avLst/>
          </a:prstGeom>
          <a:noFill/>
          <a:ln/>
        </p:spPr>
        <p:txBody>
          <a:bodyPr wrap="square" lIns="0" tIns="0" rIns="0" bIns="0" rtlCol="0"/>
          <a:lstStyle/>
          <a:p>
            <a:pPr indent="0" marL="0">
              <a:buNone/>
            </a:pPr>
            <a:r>
              <a:rPr lang="en-US" sz="1100" spc="300" kern="0" dirty="0">
                <a:solidFill>
                  <a:schemeClr val="accent1"/>
                </a:solidFill>
              </a:rPr>
              <a:t>CRONOLOGÍA · FEBRERO A MAYO DE 2026</a:t>
            </a:r>
            <a:endParaRPr lang="en-US" sz="11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000" dirty="0">
                <a:solidFill>
                  <a:schemeClr val="tx1"/>
                </a:solidFill>
              </a:rPr>
              <a:t>El origen del proyecto y quién fijó su alcance</a:t>
            </a:r>
            <a:endParaRPr lang="en-US" sz="3000" dirty="0"/>
          </a:p>
        </p:txBody>
      </p:sp>
      <p:graphicFrame>
        <p:nvGraphicFramePr>
          <p:cNvPr id="4" name="tabla"/>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188720"/>
                <a:gridCol w="7223760"/>
                <a:gridCol w="2679192"/>
              </a:tblGrid>
              <a:tr h="0">
                <a:tc>
                  <a:txBody>
                    <a:bodyPr/>
                    <a:lstStyle/>
                    <a:p>
                      <a:pPr indent="0" marL="0">
                        <a:buNone/>
                      </a:pPr>
                      <a:r>
                        <a:rPr lang="en-US" sz="1200" b="1" dirty="0">
                          <a:solidFill>
                            <a:schemeClr val="bg1"/>
                          </a:solidFill>
                        </a:rPr>
                        <a:t>Fecha</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Hecho</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Origen de la decisión</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r>
              <a:tr h="0">
                <a:tc>
                  <a:txBody>
                    <a:bodyPr/>
                    <a:lstStyle/>
                    <a:p>
                      <a:pPr indent="0" marL="0">
                        <a:buNone/>
                      </a:pPr>
                      <a:r>
                        <a:rPr lang="en-US" sz="1200" dirty="0">
                          <a:solidFill>
                            <a:schemeClr val="tx1"/>
                          </a:solidFill>
                        </a:rPr>
                        <a:t>28 feb</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Final Upgrade detecta y presenta la oportunidad SEO; nadie la había identificado</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Iniciativa de Final Upgrade</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200" dirty="0">
                          <a:solidFill>
                            <a:schemeClr val="tx1"/>
                          </a:solidFill>
                        </a:rPr>
                        <a:t>9 mar</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Análisis «El Gigante Invisible» y propuesta por fases, con periodos de prueba</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Final Upgrade</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1"/>
                          </a:solidFill>
                        </a:rPr>
                        <a:t>24 mar</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Dirección descarta las fases: «todo el proyecto junto» y en menos tiempo</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Sports World</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200" dirty="0">
                          <a:solidFill>
                            <a:schemeClr val="tx1"/>
                          </a:solidFill>
                        </a:rPr>
                        <a:t>31 mar</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Se solicita la presentación «sin precios» para compartirla con el proveedor web actual</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Sports World</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1"/>
                          </a:solidFill>
                        </a:rPr>
                        <a:t>10 abr</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Oferta de igualar a la baja cualquier cotización de ese proveedor; nunca se compartió</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Final Upgrade</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200" dirty="0">
                          <a:solidFill>
                            <a:schemeClr val="tx1"/>
                          </a:solidFill>
                        </a:rPr>
                        <a:t>21 abr</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Se pide la lista completa de funcionalidades y agregar la capacitación (Academia)</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Sports World</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1"/>
                          </a:solidFill>
                        </a:rPr>
                        <a:t>29 abr</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Cotización formal: USD 81,000 (rediseño, SEO, contenido, agente de voz) más Academia</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Final Upgrade</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200" dirty="0">
                          <a:solidFill>
                            <a:schemeClr val="tx1"/>
                          </a:solidFill>
                        </a:rPr>
                        <a:t>5 may</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Presupuesto autorizado internamente; se pide acelerar el arranque</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Sports World</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bl>
          </a:graphicData>
        </a:graphic>
      </p:graphicFrame>
      <p:sp>
        <p:nvSpPr>
          <p:cNvPr id="6" name="cierre"/>
          <p:cNvSpPr txBox="1"/>
          <p:nvPr/>
        </p:nvSpPr>
        <p:spPr>
          <a:xfrm>
            <a:off x="548640" y="5577840"/>
            <a:ext cx="11091672" cy="548640"/>
          </a:xfrm>
          <a:prstGeom prst="rect">
            <a:avLst/>
          </a:prstGeom>
          <a:noFill/>
          <a:ln/>
        </p:spPr>
        <p:txBody>
          <a:bodyPr wrap="square" lIns="0" tIns="0" rIns="0" bIns="0" rtlCol="0" anchor="ctr"/>
          <a:lstStyle/>
          <a:p>
            <a:pPr indent="0" marL="0">
              <a:buNone/>
            </a:pPr>
            <a:r>
              <a:rPr lang="en-US" sz="1300" dirty="0">
                <a:solidFill>
                  <a:schemeClr val="tx2"/>
                </a:solidFill>
              </a:rPr>
              <a:t>Un programa escalonado de bajo riesgo se convirtió, a petición de Sports World, en un programa integral de seis a diez semanas.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1672" cy="274320"/>
          </a:xfrm>
          <a:prstGeom prst="rect">
            <a:avLst/>
          </a:prstGeom>
          <a:noFill/>
          <a:ln/>
        </p:spPr>
        <p:txBody>
          <a:bodyPr wrap="square" lIns="0" tIns="0" rIns="0" bIns="0" rtlCol="0"/>
          <a:lstStyle/>
          <a:p>
            <a:pPr indent="0" marL="0">
              <a:buNone/>
            </a:pPr>
            <a:r>
              <a:rPr lang="en-US" sz="1100" spc="300" kern="0" dirty="0">
                <a:solidFill>
                  <a:schemeClr val="accent1"/>
                </a:solidFill>
              </a:rPr>
              <a:t>CRONOLOGÍA · MAYO A OCTUBRE DE 2026</a:t>
            </a:r>
            <a:endParaRPr lang="en-US" sz="11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000" dirty="0">
                <a:solidFill>
                  <a:schemeClr val="tx1"/>
                </a:solidFill>
              </a:rPr>
              <a:t>Cinco meses de validación con precio conocido</a:t>
            </a:r>
            <a:endParaRPr lang="en-US" sz="3000" dirty="0"/>
          </a:p>
        </p:txBody>
      </p:sp>
      <p:graphicFrame>
        <p:nvGraphicFramePr>
          <p:cNvPr id="5" name="tabla"/>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188720"/>
                <a:gridCol w="7223760"/>
                <a:gridCol w="2679192"/>
              </a:tblGrid>
              <a:tr h="0">
                <a:tc>
                  <a:txBody>
                    <a:bodyPr/>
                    <a:lstStyle/>
                    <a:p>
                      <a:pPr indent="0" marL="0">
                        <a:buNone/>
                      </a:pPr>
                      <a:r>
                        <a:rPr lang="en-US" sz="1150" b="1" dirty="0">
                          <a:solidFill>
                            <a:schemeClr val="bg1"/>
                          </a:solidFill>
                        </a:rPr>
                        <a:t>Fecha</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Hecho</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Origen de la decisión</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r>
              <a:tr h="0">
                <a:tc>
                  <a:txBody>
                    <a:bodyPr/>
                    <a:lstStyle/>
                    <a:p>
                      <a:pPr indent="0" marL="0">
                        <a:buNone/>
                      </a:pPr>
                      <a:r>
                        <a:rPr lang="en-US" sz="1150" dirty="0">
                          <a:solidFill>
                            <a:schemeClr val="tx1"/>
                          </a:solidFill>
                        </a:rPr>
                        <a:t>12 a 15 may</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Presentación a Dirección; workshop regional (157 de 200 asesores); 15 entrevistas en 13 clubes</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Sports World convoca</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29 may</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Única observación de precio en cinco meses; se responde con el desglose por componente</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Sistemas · Final Upgrade</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150" dirty="0">
                          <a:solidFill>
                            <a:schemeClr val="tx1"/>
                          </a:solidFill>
                        </a:rPr>
                        <a:t>22 jun</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Reunión con Sistemas: todos los puntos quedan resueltos y documentados</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Ambas partes</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6 y 7 ago</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Segunda reunión con Sistemas; 10 observaciones respondidas; contrato y addenda a Legal</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Ambas partes</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150" dirty="0">
                          <a:solidFill>
                            <a:schemeClr val="tx1"/>
                          </a:solidFill>
                        </a:rPr>
                        <a:t>10 a 12 ago</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El Consejo revisa el proyecto; total consolidado entregado: 2,378,130 MXN sin IVA</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Sports World</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25 ago</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Legal pregunta por retención cero de datos (ZDR); la estrategia se entrega el mismo día</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Final Upgrade</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150" dirty="0">
                          <a:solidFill>
                            <a:schemeClr val="tx1"/>
                          </a:solidFill>
                        </a:rPr>
                        <a:t>14 sep</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Contrato v4.4 entregado; arranque propuesto para el 20 de septiembre</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Final Upgrade</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24 a 29 sep</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Se retiran voz, WhatsApp y consola a petición de Sports World; total 1,742,600 MXN sin IVA</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Sports World</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150" dirty="0">
                          <a:solidFill>
                            <a:schemeClr val="tx1"/>
                          </a:solidFill>
                        </a:rPr>
                        <a:t>29 sep</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Legal recibe el contrato final para firma</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Sports World</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7 oct</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Se comunica la cancelación o posposición indefinida del proyecto</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Sports World</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1672" cy="274320"/>
          </a:xfrm>
          <a:prstGeom prst="rect">
            <a:avLst/>
          </a:prstGeom>
          <a:noFill/>
          <a:ln/>
        </p:spPr>
        <p:txBody>
          <a:bodyPr wrap="square" lIns="0" tIns="0" rIns="0" bIns="0" rtlCol="0"/>
          <a:lstStyle/>
          <a:p>
            <a:pPr indent="0" marL="0">
              <a:buNone/>
            </a:pPr>
            <a:r>
              <a:rPr lang="en-US" sz="1100" spc="300" kern="0" dirty="0">
                <a:solidFill>
                  <a:schemeClr val="accent1"/>
                </a:solidFill>
              </a:rPr>
              <a:t>RAZÓN 1 · «LA COTIZACIÓN DE SEO ESTÁ MUY ALTA»</a:t>
            </a:r>
            <a:endParaRPr lang="en-US" sz="11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000" dirty="0">
                <a:solidFill>
                  <a:schemeClr val="tx1"/>
                </a:solidFill>
              </a:rPr>
              <a:t>Lo que se comparó no es lo que se cotizó</a:t>
            </a:r>
            <a:endParaRPr lang="en-US" sz="3000" dirty="0"/>
          </a:p>
        </p:txBody>
      </p:sp>
      <p:sp>
        <p:nvSpPr>
          <p:cNvPr id="5" name="seo"/>
          <p:cNvSpPr/>
          <p:nvPr/>
        </p:nvSpPr>
        <p:spPr>
          <a:xfrm>
            <a:off x="548640" y="1691640"/>
            <a:ext cx="3566160" cy="2743200"/>
          </a:xfrm>
          <a:prstGeom prst="roundRect">
            <a:avLst>
              <a:gd name="adj" fmla="val 2667"/>
            </a:avLst>
          </a:prstGeom>
          <a:solidFill>
            <a:schemeClr val="accent4"/>
          </a:solidFill>
          <a:ln w="9525">
            <a:solidFill>
              <a:schemeClr val="accent5"/>
            </a:solidFill>
            <a:prstDash val="solid"/>
          </a:ln>
        </p:spPr>
      </p:sp>
      <p:sp>
        <p:nvSpPr>
          <p:cNvPr id="6" name="h1"/>
          <p:cNvSpPr txBox="1"/>
          <p:nvPr/>
        </p:nvSpPr>
        <p:spPr>
          <a:xfrm>
            <a:off x="777240" y="1828800"/>
            <a:ext cx="3108960" cy="365760"/>
          </a:xfrm>
          <a:prstGeom prst="rect">
            <a:avLst/>
          </a:prstGeom>
          <a:noFill/>
          <a:ln/>
        </p:spPr>
        <p:txBody>
          <a:bodyPr wrap="square" lIns="0" tIns="0" rIns="0" bIns="0" rtlCol="0" anchor="ctr"/>
          <a:lstStyle/>
          <a:p>
            <a:pPr indent="0" marL="0">
              <a:buNone/>
            </a:pPr>
            <a:r>
              <a:rPr lang="en-US" sz="1500" b="1" dirty="0">
                <a:solidFill>
                  <a:schemeClr val="tx1"/>
                </a:solidFill>
              </a:rPr>
              <a:t>Una cotización de SEO cubre</a:t>
            </a:r>
            <a:endParaRPr lang="en-US" sz="1500" dirty="0"/>
          </a:p>
        </p:txBody>
      </p:sp>
      <p:sp>
        <p:nvSpPr>
          <p:cNvPr id="7" name="lista"/>
          <p:cNvSpPr txBox="1"/>
          <p:nvPr/>
        </p:nvSpPr>
        <p:spPr>
          <a:xfrm>
            <a:off x="777240" y="2286000"/>
            <a:ext cx="310896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Optimización técnica del sitio actual</a:t>
            </a:r>
            <a:endParaRPr lang="en-US" sz="1300" dirty="0"/>
          </a:p>
          <a:p>
            <a:pPr marL="342900" indent="-342900">
              <a:spcAft>
                <a:spcPts val="600"/>
              </a:spcAft>
              <a:buSzPct val="100000"/>
              <a:buChar char="•"/>
            </a:pPr>
            <a:r>
              <a:rPr lang="en-US" sz="1300" dirty="0">
                <a:solidFill>
                  <a:schemeClr val="tx2"/>
                </a:solidFill>
              </a:rPr>
              <a:t>Investigación de palabras clave</a:t>
            </a:r>
            <a:endParaRPr lang="en-US" sz="1300" dirty="0"/>
          </a:p>
          <a:p>
            <a:pPr marL="342900" indent="-342900">
              <a:spcAft>
                <a:spcPts val="600"/>
              </a:spcAft>
              <a:buSzPct val="100000"/>
              <a:buChar char="•"/>
            </a:pPr>
            <a:r>
              <a:rPr lang="en-US" sz="1300" dirty="0">
                <a:solidFill>
                  <a:schemeClr val="tx2"/>
                </a:solidFill>
              </a:rPr>
              <a:t>Metadatos y enlazado interno</a:t>
            </a:r>
            <a:endParaRPr lang="en-US" sz="1300" dirty="0"/>
          </a:p>
          <a:p>
            <a:pPr marL="342900" indent="-342900">
              <a:spcAft>
                <a:spcPts val="600"/>
              </a:spcAft>
              <a:buSzPct val="100000"/>
              <a:buChar char="•"/>
            </a:pPr>
            <a:r>
              <a:rPr lang="en-US" sz="1300" dirty="0">
                <a:solidFill>
                  <a:schemeClr val="tx2"/>
                </a:solidFill>
              </a:rPr>
              <a:t>Algunos textos nuevos</a:t>
            </a:r>
            <a:endParaRPr lang="en-US" sz="1300" dirty="0"/>
          </a:p>
          <a:p>
            <a:pPr marL="342900" indent="-342900">
              <a:spcAft>
                <a:spcPts val="600"/>
              </a:spcAft>
              <a:buSzPct val="100000"/>
              <a:buChar char="•"/>
            </a:pPr>
            <a:r>
              <a:rPr lang="en-US" sz="1300" dirty="0">
                <a:solidFill>
                  <a:schemeClr val="tx2"/>
                </a:solidFill>
              </a:rPr>
              <a:t>Sin diseño, sin desarrollo, sin CRM</a:t>
            </a:r>
            <a:endParaRPr lang="en-US" sz="1300" dirty="0"/>
          </a:p>
        </p:txBody>
      </p:sp>
      <p:sp>
        <p:nvSpPr>
          <p:cNvPr id="8" name="contrato"/>
          <p:cNvSpPr/>
          <p:nvPr/>
        </p:nvSpPr>
        <p:spPr>
          <a:xfrm>
            <a:off x="4389120" y="1691640"/>
            <a:ext cx="7251192" cy="2743200"/>
          </a:xfrm>
          <a:prstGeom prst="roundRect">
            <a:avLst>
              <a:gd name="adj" fmla="val 2667"/>
            </a:avLst>
          </a:prstGeom>
          <a:solidFill>
            <a:schemeClr val="accent6"/>
          </a:solidFill>
          <a:ln w="9525">
            <a:solidFill>
              <a:schemeClr val="accent5"/>
            </a:solidFill>
            <a:prstDash val="solid"/>
          </a:ln>
        </p:spPr>
      </p:sp>
      <p:sp>
        <p:nvSpPr>
          <p:cNvPr id="9" name="h2"/>
          <p:cNvSpPr txBox="1"/>
          <p:nvPr/>
        </p:nvSpPr>
        <p:spPr>
          <a:xfrm>
            <a:off x="4617720" y="1828800"/>
            <a:ext cx="6793992" cy="365760"/>
          </a:xfrm>
          <a:prstGeom prst="rect">
            <a:avLst/>
          </a:prstGeom>
          <a:noFill/>
          <a:ln/>
        </p:spPr>
        <p:txBody>
          <a:bodyPr wrap="square" lIns="0" tIns="0" rIns="0" bIns="0" rtlCol="0" anchor="ctr"/>
          <a:lstStyle/>
          <a:p>
            <a:pPr indent="0" marL="0">
              <a:buNone/>
            </a:pPr>
            <a:r>
              <a:rPr lang="en-US" sz="1500" b="1" dirty="0">
                <a:solidFill>
                  <a:schemeClr val="tx1"/>
                </a:solidFill>
              </a:rPr>
              <a:t>El contrato del 29 de septiembre cubre</a:t>
            </a:r>
            <a:endParaRPr lang="en-US" sz="1500" dirty="0"/>
          </a:p>
        </p:txBody>
      </p:sp>
      <p:sp>
        <p:nvSpPr>
          <p:cNvPr id="10" name="lista"/>
          <p:cNvSpPr txBox="1"/>
          <p:nvPr/>
        </p:nvSpPr>
        <p:spPr>
          <a:xfrm>
            <a:off x="4617720" y="2286000"/>
            <a:ext cx="3282696"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148 páginas rediseñadas con contenido único</a:t>
            </a:r>
            <a:endParaRPr lang="en-US" sz="1300" dirty="0"/>
          </a:p>
          <a:p>
            <a:pPr marL="342900" indent="-342900">
              <a:spcAft>
                <a:spcPts val="600"/>
              </a:spcAft>
              <a:buSzPct val="100000"/>
              <a:buChar char="•"/>
            </a:pPr>
            <a:r>
              <a:rPr lang="en-US" sz="1300" dirty="0">
                <a:solidFill>
                  <a:schemeClr val="tx2"/>
                </a:solidFill>
              </a:rPr>
              <a:t>Arquitectura SEO, schema y migración con redirecciones</a:t>
            </a:r>
            <a:endParaRPr lang="en-US" sz="1300" dirty="0"/>
          </a:p>
          <a:p>
            <a:pPr marL="342900" indent="-342900">
              <a:spcAft>
                <a:spcPts val="600"/>
              </a:spcAft>
              <a:buSzPct val="100000"/>
              <a:buChar char="•"/>
            </a:pPr>
            <a:r>
              <a:rPr lang="en-US" sz="1300" dirty="0">
                <a:solidFill>
                  <a:schemeClr val="tx2"/>
                </a:solidFill>
              </a:rPr>
              <a:t>650 fotografías tratadas, 150 imágenes nuevas, 12 animaciones y 1 video</a:t>
            </a:r>
            <a:endParaRPr lang="en-US" sz="1300" dirty="0"/>
          </a:p>
          <a:p>
            <a:pPr marL="342900" indent="-342900">
              <a:spcAft>
                <a:spcPts val="600"/>
              </a:spcAft>
              <a:buSzPct val="100000"/>
              <a:buChar char="•"/>
            </a:pPr>
            <a:r>
              <a:rPr lang="en-US" sz="1300" dirty="0">
                <a:solidFill>
                  <a:schemeClr val="tx2"/>
                </a:solidFill>
              </a:rPr>
              <a:t>Gestor de contenidos sin código para Marketing</a:t>
            </a:r>
            <a:endParaRPr lang="en-US" sz="1300" dirty="0"/>
          </a:p>
        </p:txBody>
      </p:sp>
      <p:sp>
        <p:nvSpPr>
          <p:cNvPr id="11" name="lista"/>
          <p:cNvSpPr txBox="1"/>
          <p:nvPr/>
        </p:nvSpPr>
        <p:spPr>
          <a:xfrm>
            <a:off x="8129016" y="2286000"/>
            <a:ext cx="3282696"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Integración con el CRM y motor de precios</a:t>
            </a:r>
            <a:endParaRPr lang="en-US" sz="1300" dirty="0"/>
          </a:p>
          <a:p>
            <a:pPr marL="342900" indent="-342900">
              <a:spcAft>
                <a:spcPts val="600"/>
              </a:spcAft>
              <a:buSzPct val="100000"/>
              <a:buChar char="•"/>
            </a:pPr>
            <a:r>
              <a:rPr lang="en-US" sz="1300" dirty="0">
                <a:solidFill>
                  <a:schemeClr val="tx2"/>
                </a:solidFill>
              </a:rPr>
              <a:t>Cuestionario y plan de entrenamiento personalizado</a:t>
            </a:r>
            <a:endParaRPr lang="en-US" sz="1300" dirty="0"/>
          </a:p>
          <a:p>
            <a:pPr marL="342900" indent="-342900">
              <a:spcAft>
                <a:spcPts val="600"/>
              </a:spcAft>
              <a:buSzPct val="100000"/>
              <a:buChar char="•"/>
            </a:pPr>
            <a:r>
              <a:rPr lang="en-US" sz="1300" dirty="0">
                <a:solidFill>
                  <a:schemeClr val="tx2"/>
                </a:solidFill>
              </a:rPr>
              <a:t>Funnel medido de punta a punta y tablero ejecutivo</a:t>
            </a:r>
            <a:endParaRPr lang="en-US" sz="1300" dirty="0"/>
          </a:p>
          <a:p>
            <a:pPr marL="342900" indent="-342900">
              <a:spcAft>
                <a:spcPts val="600"/>
              </a:spcAft>
              <a:buSzPct val="100000"/>
              <a:buChar char="•"/>
            </a:pPr>
            <a:r>
              <a:rPr lang="en-US" sz="1300" dirty="0">
                <a:solidFill>
                  <a:schemeClr val="tx2"/>
                </a:solidFill>
              </a:rPr>
              <a:t>10 semanas de ejecución, 6 de estabilización y KPIs con devolución</a:t>
            </a:r>
            <a:endParaRPr lang="en-US" sz="1300" dirty="0"/>
          </a:p>
        </p:txBody>
      </p:sp>
      <p:sp>
        <p:nvSpPr>
          <p:cNvPr id="12" name="n"/>
          <p:cNvSpPr txBox="1"/>
          <p:nvPr/>
        </p:nvSpPr>
        <p:spPr>
          <a:xfrm>
            <a:off x="548640" y="4663440"/>
            <a:ext cx="3566160" cy="640080"/>
          </a:xfrm>
          <a:prstGeom prst="rect">
            <a:avLst/>
          </a:prstGeom>
          <a:noFill/>
          <a:ln/>
        </p:spPr>
        <p:txBody>
          <a:bodyPr wrap="square" lIns="0" tIns="0" rIns="0" bIns="0" rtlCol="0" anchor="ctr"/>
          <a:lstStyle/>
          <a:p>
            <a:pPr indent="0" marL="0">
              <a:buNone/>
            </a:pPr>
            <a:r>
              <a:rPr lang="en-US" sz="3200" dirty="0">
                <a:solidFill>
                  <a:schemeClr val="tx1"/>
                </a:solidFill>
                <a:latin typeface="Cambria" pitchFamily="34" charset="0"/>
                <a:ea typeface="Cambria" pitchFamily="34" charset="-122"/>
                <a:cs typeface="Cambria" pitchFamily="34" charset="-120"/>
              </a:rPr>
              <a:t>8,058 MXN</a:t>
            </a:r>
            <a:endParaRPr lang="en-US" sz="3200" dirty="0"/>
          </a:p>
        </p:txBody>
      </p:sp>
      <p:sp>
        <p:nvSpPr>
          <p:cNvPr id="13" name="np"/>
          <p:cNvSpPr txBox="1"/>
          <p:nvPr/>
        </p:nvSpPr>
        <p:spPr>
          <a:xfrm>
            <a:off x="548640" y="5303520"/>
            <a:ext cx="3566160" cy="548640"/>
          </a:xfrm>
          <a:prstGeom prst="rect">
            <a:avLst/>
          </a:prstGeom>
          <a:noFill/>
          <a:ln/>
        </p:spPr>
        <p:txBody>
          <a:bodyPr wrap="square" lIns="0" tIns="0" rIns="0" bIns="0" rtlCol="0" anchor="ctr"/>
          <a:lstStyle/>
          <a:p>
            <a:pPr indent="0" marL="0">
              <a:buNone/>
            </a:pPr>
            <a:r>
              <a:rPr lang="en-US" sz="1100" dirty="0">
                <a:solidFill>
                  <a:schemeClr val="tx2"/>
                </a:solidFill>
              </a:rPr>
              <a:t>por página, todo incluido (1,192,600 MXN entre 148 páginas)</a:t>
            </a:r>
            <a:endParaRPr lang="en-US" sz="1100" dirty="0"/>
          </a:p>
        </p:txBody>
      </p:sp>
      <p:sp>
        <p:nvSpPr>
          <p:cNvPr id="14" name="txt"/>
          <p:cNvSpPr txBox="1"/>
          <p:nvPr/>
        </p:nvSpPr>
        <p:spPr>
          <a:xfrm>
            <a:off x="4389120" y="4663440"/>
            <a:ext cx="7251192" cy="1188720"/>
          </a:xfrm>
          <a:prstGeom prst="rect">
            <a:avLst/>
          </a:prstGeom>
          <a:noFill/>
          <a:ln/>
        </p:spPr>
        <p:txBody>
          <a:bodyPr wrap="square" lIns="0" tIns="0" rIns="0" bIns="0" rtlCol="0" anchor="t"/>
          <a:lstStyle/>
          <a:p>
            <a:pPr indent="0" marL="0">
              <a:buNone/>
            </a:pPr>
            <a:r>
              <a:rPr lang="en-US" sz="1300" dirty="0">
                <a:solidFill>
                  <a:schemeClr val="tx2"/>
                </a:solidFill>
              </a:rPr>
              <a:t>En marzo, el proveedor web actual de Sports World cotizó cerca de medio millón de pesos únicamente por cambios al sitio existente. Antes de aceptar la comparación, pedimos conocer por escrito el alcance exacto de las «otras opciones».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1672" cy="274320"/>
          </a:xfrm>
          <a:prstGeom prst="rect">
            <a:avLst/>
          </a:prstGeom>
          <a:noFill/>
          <a:ln/>
        </p:spPr>
        <p:txBody>
          <a:bodyPr wrap="square" lIns="0" tIns="0" rIns="0" bIns="0" rtlCol="0"/>
          <a:lstStyle/>
          <a:p>
            <a:pPr indent="0" marL="0">
              <a:buNone/>
            </a:pPr>
            <a:r>
              <a:rPr lang="en-US" sz="1100" spc="300" kern="0" dirty="0">
                <a:solidFill>
                  <a:schemeClr val="accent1"/>
                </a:solidFill>
              </a:rPr>
              <a:t>RAZÓN 1 · EL PRECIO</a:t>
            </a:r>
            <a:endParaRPr lang="en-US" sz="11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000" dirty="0">
                <a:solidFill>
                  <a:schemeClr val="tx1"/>
                </a:solidFill>
              </a:rPr>
              <a:t>El precio fue conocido, autorizado y reducido antes de la decisión</a:t>
            </a:r>
            <a:endParaRPr lang="en-US" sz="3000" dirty="0"/>
          </a:p>
        </p:txBody>
      </p:sp>
      <p:sp>
        <p:nvSpPr>
          <p:cNvPr id="5" name="stat0"/>
          <p:cNvSpPr/>
          <p:nvPr/>
        </p:nvSpPr>
        <p:spPr>
          <a:xfrm>
            <a:off x="548640" y="1691640"/>
            <a:ext cx="2567178" cy="1737360"/>
          </a:xfrm>
          <a:prstGeom prst="roundRect">
            <a:avLst>
              <a:gd name="adj" fmla="val 4211"/>
            </a:avLst>
          </a:prstGeom>
          <a:solidFill>
            <a:schemeClr val="accent6"/>
          </a:solidFill>
          <a:ln w="9525">
            <a:solidFill>
              <a:schemeClr val="accent5"/>
            </a:solidFill>
            <a:prstDash val="solid"/>
          </a:ln>
        </p:spPr>
      </p:sp>
      <p:sp>
        <p:nvSpPr>
          <p:cNvPr id="6" name="k0"/>
          <p:cNvSpPr txBox="1"/>
          <p:nvPr/>
        </p:nvSpPr>
        <p:spPr>
          <a:xfrm>
            <a:off x="731520" y="1783080"/>
            <a:ext cx="2201418" cy="640080"/>
          </a:xfrm>
          <a:prstGeom prst="rect">
            <a:avLst/>
          </a:prstGeom>
          <a:noFill/>
          <a:ln/>
        </p:spPr>
        <p:txBody>
          <a:bodyPr wrap="square" lIns="0" tIns="0" rIns="0" bIns="0" rtlCol="0" anchor="ctr"/>
          <a:lstStyle/>
          <a:p>
            <a:pPr indent="0" marL="0">
              <a:buNone/>
            </a:pPr>
            <a:r>
              <a:rPr lang="en-US" sz="3000" dirty="0">
                <a:solidFill>
                  <a:schemeClr val="accent1"/>
                </a:solidFill>
                <a:latin typeface="Cambria" pitchFamily="34" charset="0"/>
                <a:ea typeface="Cambria" pitchFamily="34" charset="-122"/>
                <a:cs typeface="Cambria" pitchFamily="34" charset="-120"/>
              </a:rPr>
              <a:t>29 abr</a:t>
            </a:r>
            <a:endParaRPr lang="en-US" sz="3000" dirty="0"/>
          </a:p>
        </p:txBody>
      </p:sp>
      <p:sp>
        <p:nvSpPr>
          <p:cNvPr id="7" name="sp0"/>
          <p:cNvSpPr txBox="1"/>
          <p:nvPr/>
        </p:nvSpPr>
        <p:spPr>
          <a:xfrm>
            <a:off x="731520" y="2468880"/>
            <a:ext cx="2201418" cy="914400"/>
          </a:xfrm>
          <a:prstGeom prst="rect">
            <a:avLst/>
          </a:prstGeom>
          <a:noFill/>
          <a:ln/>
        </p:spPr>
        <p:txBody>
          <a:bodyPr wrap="square" lIns="0" tIns="0" rIns="0" bIns="0" rtlCol="0" anchor="t"/>
          <a:lstStyle/>
          <a:p>
            <a:pPr indent="0" marL="0">
              <a:buNone/>
            </a:pPr>
            <a:r>
              <a:rPr lang="en-US" sz="1200" dirty="0">
                <a:solidFill>
                  <a:schemeClr val="tx2"/>
                </a:solidFill>
              </a:rPr>
              <a:t>Cotización formal entregada: USD 81,000 más Academia.</a:t>
            </a:r>
            <a:endParaRPr lang="en-US" sz="1200" dirty="0"/>
          </a:p>
        </p:txBody>
      </p:sp>
      <p:sp>
        <p:nvSpPr>
          <p:cNvPr id="8" name="stat1"/>
          <p:cNvSpPr/>
          <p:nvPr/>
        </p:nvSpPr>
        <p:spPr>
          <a:xfrm>
            <a:off x="3390138" y="1691640"/>
            <a:ext cx="2567178" cy="1737360"/>
          </a:xfrm>
          <a:prstGeom prst="roundRect">
            <a:avLst>
              <a:gd name="adj" fmla="val 4211"/>
            </a:avLst>
          </a:prstGeom>
          <a:solidFill>
            <a:schemeClr val="accent6"/>
          </a:solidFill>
          <a:ln w="9525">
            <a:solidFill>
              <a:schemeClr val="accent5"/>
            </a:solidFill>
            <a:prstDash val="solid"/>
          </a:ln>
        </p:spPr>
      </p:sp>
      <p:sp>
        <p:nvSpPr>
          <p:cNvPr id="9" name="k1"/>
          <p:cNvSpPr txBox="1"/>
          <p:nvPr/>
        </p:nvSpPr>
        <p:spPr>
          <a:xfrm>
            <a:off x="3573018" y="1783080"/>
            <a:ext cx="2201418" cy="640080"/>
          </a:xfrm>
          <a:prstGeom prst="rect">
            <a:avLst/>
          </a:prstGeom>
          <a:noFill/>
          <a:ln/>
        </p:spPr>
        <p:txBody>
          <a:bodyPr wrap="square" lIns="0" tIns="0" rIns="0" bIns="0" rtlCol="0" anchor="ctr"/>
          <a:lstStyle/>
          <a:p>
            <a:pPr indent="0" marL="0">
              <a:buNone/>
            </a:pPr>
            <a:r>
              <a:rPr lang="en-US" sz="3000" dirty="0">
                <a:solidFill>
                  <a:schemeClr val="accent1"/>
                </a:solidFill>
                <a:latin typeface="Cambria" pitchFamily="34" charset="0"/>
                <a:ea typeface="Cambria" pitchFamily="34" charset="-122"/>
                <a:cs typeface="Cambria" pitchFamily="34" charset="-120"/>
              </a:rPr>
              <a:t>5 may</a:t>
            </a:r>
            <a:endParaRPr lang="en-US" sz="3000" dirty="0"/>
          </a:p>
        </p:txBody>
      </p:sp>
      <p:sp>
        <p:nvSpPr>
          <p:cNvPr id="10" name="sp1"/>
          <p:cNvSpPr txBox="1"/>
          <p:nvPr/>
        </p:nvSpPr>
        <p:spPr>
          <a:xfrm>
            <a:off x="3573018" y="2468880"/>
            <a:ext cx="2201418" cy="914400"/>
          </a:xfrm>
          <a:prstGeom prst="rect">
            <a:avLst/>
          </a:prstGeom>
          <a:noFill/>
          <a:ln/>
        </p:spPr>
        <p:txBody>
          <a:bodyPr wrap="square" lIns="0" tIns="0" rIns="0" bIns="0" rtlCol="0" anchor="t"/>
          <a:lstStyle/>
          <a:p>
            <a:pPr indent="0" marL="0">
              <a:buNone/>
            </a:pPr>
            <a:r>
              <a:rPr lang="en-US" sz="1200" dirty="0">
                <a:solidFill>
                  <a:schemeClr val="tx2"/>
                </a:solidFill>
              </a:rPr>
              <a:t>Sports World confirma la autorización interna del presupuesto.</a:t>
            </a:r>
            <a:endParaRPr lang="en-US" sz="1200" dirty="0"/>
          </a:p>
        </p:txBody>
      </p:sp>
      <p:sp>
        <p:nvSpPr>
          <p:cNvPr id="11" name="stat2"/>
          <p:cNvSpPr/>
          <p:nvPr/>
        </p:nvSpPr>
        <p:spPr>
          <a:xfrm>
            <a:off x="6231636" y="1691640"/>
            <a:ext cx="2567178" cy="1737360"/>
          </a:xfrm>
          <a:prstGeom prst="roundRect">
            <a:avLst>
              <a:gd name="adj" fmla="val 4211"/>
            </a:avLst>
          </a:prstGeom>
          <a:solidFill>
            <a:schemeClr val="accent6"/>
          </a:solidFill>
          <a:ln w="9525">
            <a:solidFill>
              <a:schemeClr val="accent5"/>
            </a:solidFill>
            <a:prstDash val="solid"/>
          </a:ln>
        </p:spPr>
      </p:sp>
      <p:sp>
        <p:nvSpPr>
          <p:cNvPr id="12" name="k2"/>
          <p:cNvSpPr txBox="1"/>
          <p:nvPr/>
        </p:nvSpPr>
        <p:spPr>
          <a:xfrm>
            <a:off x="6414516" y="1783080"/>
            <a:ext cx="2201418" cy="640080"/>
          </a:xfrm>
          <a:prstGeom prst="rect">
            <a:avLst/>
          </a:prstGeom>
          <a:noFill/>
          <a:ln/>
        </p:spPr>
        <p:txBody>
          <a:bodyPr wrap="square" lIns="0" tIns="0" rIns="0" bIns="0" rtlCol="0" anchor="ctr"/>
          <a:lstStyle/>
          <a:p>
            <a:pPr indent="0" marL="0">
              <a:buNone/>
            </a:pPr>
            <a:r>
              <a:rPr lang="en-US" sz="3000" dirty="0">
                <a:solidFill>
                  <a:schemeClr val="accent1"/>
                </a:solidFill>
                <a:latin typeface="Cambria" pitchFamily="34" charset="0"/>
                <a:ea typeface="Cambria" pitchFamily="34" charset="-122"/>
                <a:cs typeface="Cambria" pitchFamily="34" charset="-120"/>
              </a:rPr>
              <a:t>1</a:t>
            </a:r>
            <a:endParaRPr lang="en-US" sz="3000" dirty="0"/>
          </a:p>
        </p:txBody>
      </p:sp>
      <p:sp>
        <p:nvSpPr>
          <p:cNvPr id="13" name="sp2"/>
          <p:cNvSpPr txBox="1"/>
          <p:nvPr/>
        </p:nvSpPr>
        <p:spPr>
          <a:xfrm>
            <a:off x="6414516" y="2468880"/>
            <a:ext cx="2201418" cy="914400"/>
          </a:xfrm>
          <a:prstGeom prst="rect">
            <a:avLst/>
          </a:prstGeom>
          <a:noFill/>
          <a:ln/>
        </p:spPr>
        <p:txBody>
          <a:bodyPr wrap="square" lIns="0" tIns="0" rIns="0" bIns="0" rtlCol="0" anchor="t"/>
          <a:lstStyle/>
          <a:p>
            <a:pPr indent="0" marL="0">
              <a:buNone/>
            </a:pPr>
            <a:r>
              <a:rPr lang="en-US" sz="1200" dirty="0">
                <a:solidFill>
                  <a:schemeClr val="tx2"/>
                </a:solidFill>
              </a:rPr>
              <a:t>Observación de precio en cinco meses (29 de mayo), respondida con desglose.</a:t>
            </a:r>
            <a:endParaRPr lang="en-US" sz="1200" dirty="0"/>
          </a:p>
        </p:txBody>
      </p:sp>
      <p:sp>
        <p:nvSpPr>
          <p:cNvPr id="14" name="stat3"/>
          <p:cNvSpPr/>
          <p:nvPr/>
        </p:nvSpPr>
        <p:spPr>
          <a:xfrm>
            <a:off x="9073134" y="1691640"/>
            <a:ext cx="2567178" cy="1737360"/>
          </a:xfrm>
          <a:prstGeom prst="roundRect">
            <a:avLst>
              <a:gd name="adj" fmla="val 4211"/>
            </a:avLst>
          </a:prstGeom>
          <a:solidFill>
            <a:schemeClr val="accent6"/>
          </a:solidFill>
          <a:ln w="9525">
            <a:solidFill>
              <a:schemeClr val="accent5"/>
            </a:solidFill>
            <a:prstDash val="solid"/>
          </a:ln>
        </p:spPr>
      </p:sp>
      <p:sp>
        <p:nvSpPr>
          <p:cNvPr id="15" name="k3"/>
          <p:cNvSpPr txBox="1"/>
          <p:nvPr/>
        </p:nvSpPr>
        <p:spPr>
          <a:xfrm>
            <a:off x="9256014" y="1783080"/>
            <a:ext cx="2201418" cy="640080"/>
          </a:xfrm>
          <a:prstGeom prst="rect">
            <a:avLst/>
          </a:prstGeom>
          <a:noFill/>
          <a:ln/>
        </p:spPr>
        <p:txBody>
          <a:bodyPr wrap="square" lIns="0" tIns="0" rIns="0" bIns="0" rtlCol="0" anchor="ctr"/>
          <a:lstStyle/>
          <a:p>
            <a:pPr indent="0" marL="0">
              <a:buNone/>
            </a:pPr>
            <a:r>
              <a:rPr lang="en-US" sz="3000" dirty="0">
                <a:solidFill>
                  <a:schemeClr val="accent1"/>
                </a:solidFill>
                <a:latin typeface="Cambria" pitchFamily="34" charset="0"/>
                <a:ea typeface="Cambria" pitchFamily="34" charset="-122"/>
                <a:cs typeface="Cambria" pitchFamily="34" charset="-120"/>
              </a:rPr>
              <a:t>−27 %</a:t>
            </a:r>
            <a:endParaRPr lang="en-US" sz="3000" dirty="0"/>
          </a:p>
        </p:txBody>
      </p:sp>
      <p:sp>
        <p:nvSpPr>
          <p:cNvPr id="16" name="sp3"/>
          <p:cNvSpPr txBox="1"/>
          <p:nvPr/>
        </p:nvSpPr>
        <p:spPr>
          <a:xfrm>
            <a:off x="9256014" y="2468880"/>
            <a:ext cx="2201418" cy="914400"/>
          </a:xfrm>
          <a:prstGeom prst="rect">
            <a:avLst/>
          </a:prstGeom>
          <a:noFill/>
          <a:ln/>
        </p:spPr>
        <p:txBody>
          <a:bodyPr wrap="square" lIns="0" tIns="0" rIns="0" bIns="0" rtlCol="0" anchor="t"/>
          <a:lstStyle/>
          <a:p>
            <a:pPr indent="0" marL="0">
              <a:buNone/>
            </a:pPr>
            <a:r>
              <a:rPr lang="en-US" sz="1200" dirty="0">
                <a:solidFill>
                  <a:schemeClr val="tx2"/>
                </a:solidFill>
              </a:rPr>
              <a:t>De 2,378,130 a 1,742,600 MXN, retirando lo que Sports World pidió retirar.</a:t>
            </a:r>
            <a:endParaRPr lang="en-US" sz="1200" dirty="0"/>
          </a:p>
        </p:txBody>
      </p:sp>
      <p:graphicFrame>
        <p:nvGraphicFramePr>
          <p:cNvPr id="7" name="tabla"/>
          <p:cNvGraphicFramePr>
            <a:graphicFrameLocks noGrp="1"/>
          </p:cNvGraphicFramePr>
          <p:nvPr>
            <p:extLst>
              <p:ext uri="{D42A27DB-BD31-4B8C-83A1-F6EECF244321}">
                <p14:modId xmlns:p14="http://schemas.microsoft.com/office/powerpoint/2010/main" val="1579011935"/>
              </p:ext>
            </p:extLst>
          </p:nvPr>
        </p:nvGraphicFramePr>
        <p:xfrm>
          <a:off x="548640" y="3749040"/>
          <a:ext cx="11091672" cy="914400"/>
        </p:xfrm>
        <a:graphic>
          <a:graphicData uri="http://schemas.openxmlformats.org/drawingml/2006/table">
            <a:tbl>
              <a:tblPr/>
              <a:tblGrid>
                <a:gridCol w="4572000"/>
                <a:gridCol w="1463040"/>
                <a:gridCol w="5056632"/>
              </a:tblGrid>
              <a:tr h="0">
                <a:tc>
                  <a:txBody>
                    <a:bodyPr/>
                    <a:lstStyle/>
                    <a:p>
                      <a:pPr indent="0" marL="0">
                        <a:buNone/>
                      </a:pPr>
                      <a:r>
                        <a:rPr lang="en-US" sz="1200" b="1" dirty="0">
                          <a:solidFill>
                            <a:schemeClr val="bg1"/>
                          </a:solidFill>
                        </a:rPr>
                        <a:t>Componente retirado a petición de Sports World</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Fecha</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Efecto</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r>
              <a:tr h="0">
                <a:tc>
                  <a:txBody>
                    <a:bodyPr/>
                    <a:lstStyle/>
                    <a:p>
                      <a:pPr indent="0" marL="0">
                        <a:buNone/>
                      </a:pPr>
                      <a:r>
                        <a:rPr lang="en-US" sz="1200" dirty="0">
                          <a:solidFill>
                            <a:schemeClr val="tx1"/>
                          </a:solidFill>
                        </a:rPr>
                        <a:t>Agente de voz</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24 sep</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Sin IA conversacional en el contrato</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200" dirty="0">
                          <a:solidFill>
                            <a:schemeClr val="tx1"/>
                          </a:solidFill>
                        </a:rPr>
                        <a:t>Atención por WhatsApp (BES)</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29 sep</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Sin mensajería automatizada</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1"/>
                          </a:solidFill>
                        </a:rPr>
                        <a:t>Consola interna de captación</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29 sep</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Sin acceso de terceros a datos del CRM</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200" dirty="0">
                          <a:solidFill>
                            <a:schemeClr val="tx1"/>
                          </a:solidFill>
                        </a:rPr>
                        <a:t>Role-play de la Academia</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29 sep</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Academia reducida a 550,000 MXN</a:t>
                      </a:r>
                      <a:endParaRPr lang="en-US" sz="120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1672" cy="274320"/>
          </a:xfrm>
          <a:prstGeom prst="rect">
            <a:avLst/>
          </a:prstGeom>
          <a:noFill/>
          <a:ln/>
        </p:spPr>
        <p:txBody>
          <a:bodyPr wrap="square" lIns="0" tIns="0" rIns="0" bIns="0" rtlCol="0"/>
          <a:lstStyle/>
          <a:p>
            <a:pPr indent="0" marL="0">
              <a:buNone/>
            </a:pPr>
            <a:r>
              <a:rPr lang="en-US" sz="1100" spc="300" kern="0" dirty="0">
                <a:solidFill>
                  <a:schemeClr val="accent1"/>
                </a:solidFill>
              </a:rPr>
              <a:t>RAZÓN 2 · «DE LO DE IA NO HAY FORMA POR PRIVACIDAD DE DATOS»</a:t>
            </a:r>
            <a:endParaRPr lang="en-US" sz="11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000" dirty="0">
                <a:solidFill>
                  <a:schemeClr val="tx1"/>
                </a:solidFill>
              </a:rPr>
              <a:t>El contrato final no contiene IA conversacional</a:t>
            </a:r>
            <a:endParaRPr lang="en-US" sz="3000" dirty="0"/>
          </a:p>
        </p:txBody>
      </p:sp>
      <p:sp>
        <p:nvSpPr>
          <p:cNvPr id="5" name="contrato"/>
          <p:cNvSpPr/>
          <p:nvPr/>
        </p:nvSpPr>
        <p:spPr>
          <a:xfrm>
            <a:off x="548640" y="1691640"/>
            <a:ext cx="4846320" cy="3017520"/>
          </a:xfrm>
          <a:prstGeom prst="roundRect">
            <a:avLst>
              <a:gd name="adj" fmla="val 2424"/>
            </a:avLst>
          </a:prstGeom>
          <a:solidFill>
            <a:schemeClr val="tx1"/>
          </a:solidFill>
          <a:ln w="9525">
            <a:solidFill>
              <a:schemeClr val="tx1"/>
            </a:solidFill>
            <a:prstDash val="solid"/>
          </a:ln>
        </p:spPr>
      </p:sp>
      <p:sp>
        <p:nvSpPr>
          <p:cNvPr id="6" name="h1"/>
          <p:cNvSpPr txBox="1"/>
          <p:nvPr/>
        </p:nvSpPr>
        <p:spPr>
          <a:xfrm>
            <a:off x="777240" y="1828800"/>
            <a:ext cx="4389120" cy="365760"/>
          </a:xfrm>
          <a:prstGeom prst="rect">
            <a:avLst/>
          </a:prstGeom>
          <a:noFill/>
          <a:ln/>
        </p:spPr>
        <p:txBody>
          <a:bodyPr wrap="square" lIns="0" tIns="0" rIns="0" bIns="0" rtlCol="0" anchor="ctr"/>
          <a:lstStyle/>
          <a:p>
            <a:pPr indent="0" marL="0">
              <a:buNone/>
            </a:pPr>
            <a:r>
              <a:rPr lang="en-US" sz="1500" b="1" dirty="0">
                <a:solidFill>
                  <a:schemeClr val="bg1"/>
                </a:solidFill>
              </a:rPr>
              <a:t>Lo que dice el contrato del 29 de septiembre</a:t>
            </a:r>
            <a:endParaRPr lang="en-US" sz="1500" dirty="0"/>
          </a:p>
        </p:txBody>
      </p:sp>
      <p:sp>
        <p:nvSpPr>
          <p:cNvPr id="7" name="p1"/>
          <p:cNvSpPr txBox="1"/>
          <p:nvPr/>
        </p:nvSpPr>
        <p:spPr>
          <a:xfrm>
            <a:off x="777240" y="2240280"/>
            <a:ext cx="4389120" cy="640080"/>
          </a:xfrm>
          <a:prstGeom prst="rect">
            <a:avLst/>
          </a:prstGeom>
          <a:noFill/>
          <a:ln/>
        </p:spPr>
        <p:txBody>
          <a:bodyPr wrap="square" lIns="0" tIns="0" rIns="0" bIns="0" rtlCol="0" anchor="t"/>
          <a:lstStyle/>
          <a:p>
            <a:pPr indent="0" marL="0">
              <a:buNone/>
            </a:pPr>
            <a:r>
              <a:rPr lang="en-US" sz="1200" dirty="0">
                <a:solidFill>
                  <a:schemeClr val="accent3"/>
                </a:solidFill>
              </a:rPr>
              <a:t>Sin agente de voz, sin WhatsApp, sin consola. El único uso de IA es la redacción del plan de entrenamiento.</a:t>
            </a:r>
            <a:endParaRPr lang="en-US" sz="1200" dirty="0"/>
          </a:p>
        </p:txBody>
      </p:sp>
      <p:sp>
        <p:nvSpPr>
          <p:cNvPr id="8" name="q"/>
          <p:cNvSpPr txBox="1"/>
          <p:nvPr/>
        </p:nvSpPr>
        <p:spPr>
          <a:xfrm>
            <a:off x="777240" y="2926080"/>
            <a:ext cx="4389120" cy="914400"/>
          </a:xfrm>
          <a:prstGeom prst="rect">
            <a:avLst/>
          </a:prstGeom>
          <a:noFill/>
          <a:ln/>
        </p:spPr>
        <p:txBody>
          <a:bodyPr wrap="square" lIns="0" tIns="0" rIns="0" bIns="0" rtlCol="0" anchor="t"/>
          <a:lstStyle/>
          <a:p>
            <a:pPr indent="0" marL="0">
              <a:buNone/>
            </a:pPr>
            <a:r>
              <a:rPr lang="en-US" sz="1200" i="1" dirty="0">
                <a:solidFill>
                  <a:schemeClr val="accent3"/>
                </a:solidFill>
              </a:rPr>
              <a:t>«En ningún caso se enviarán a los Modelos de Lenguaje Autorizados datos personales o privados… sólo datos funcionales anonimizados, sin identificador reversible.»</a:t>
            </a:r>
            <a:endParaRPr lang="en-US" sz="1200" dirty="0"/>
          </a:p>
        </p:txBody>
      </p:sp>
      <p:sp>
        <p:nvSpPr>
          <p:cNvPr id="9" name="p2"/>
          <p:cNvSpPr txBox="1"/>
          <p:nvPr/>
        </p:nvSpPr>
        <p:spPr>
          <a:xfrm>
            <a:off x="777240" y="3886200"/>
            <a:ext cx="4389120" cy="731520"/>
          </a:xfrm>
          <a:prstGeom prst="rect">
            <a:avLst/>
          </a:prstGeom>
          <a:noFill/>
          <a:ln/>
        </p:spPr>
        <p:txBody>
          <a:bodyPr wrap="square" lIns="0" tIns="0" rIns="0" bIns="0" rtlCol="0" anchor="t"/>
          <a:lstStyle/>
          <a:p>
            <a:pPr indent="0" marL="0">
              <a:buNone/>
            </a:pPr>
            <a:r>
              <a:rPr lang="en-US" sz="1100" dirty="0">
                <a:solidFill>
                  <a:schemeClr val="accent3"/>
                </a:solidFill>
              </a:rPr>
              <a:t>Cláusula Décima Séptima, II Ter. La II Bis prohíbe solicitar condiciones médicas, tratamientos, embarazo, peso o medidas corporales.</a:t>
            </a:r>
            <a:endParaRPr lang="en-US" sz="1100" dirty="0"/>
          </a:p>
        </p:txBody>
      </p:sp>
      <p:sp>
        <p:nvSpPr>
          <p:cNvPr id="10" name="medidas"/>
          <p:cNvSpPr/>
          <p:nvPr/>
        </p:nvSpPr>
        <p:spPr>
          <a:xfrm>
            <a:off x="5669280" y="1691640"/>
            <a:ext cx="5971032" cy="3017520"/>
          </a:xfrm>
          <a:prstGeom prst="roundRect">
            <a:avLst>
              <a:gd name="adj" fmla="val 2424"/>
            </a:avLst>
          </a:prstGeom>
          <a:solidFill>
            <a:schemeClr val="accent6"/>
          </a:solidFill>
          <a:ln w="9525">
            <a:solidFill>
              <a:schemeClr val="accent5"/>
            </a:solidFill>
            <a:prstDash val="solid"/>
          </a:ln>
        </p:spPr>
      </p:sp>
      <p:sp>
        <p:nvSpPr>
          <p:cNvPr id="11" name="h2"/>
          <p:cNvSpPr txBox="1"/>
          <p:nvPr/>
        </p:nvSpPr>
        <p:spPr>
          <a:xfrm>
            <a:off x="5897880" y="1828800"/>
            <a:ext cx="5513832" cy="365760"/>
          </a:xfrm>
          <a:prstGeom prst="rect">
            <a:avLst/>
          </a:prstGeom>
          <a:noFill/>
          <a:ln/>
        </p:spPr>
        <p:txBody>
          <a:bodyPr wrap="square" lIns="0" tIns="0" rIns="0" bIns="0" rtlCol="0" anchor="ctr"/>
          <a:lstStyle/>
          <a:p>
            <a:pPr indent="0" marL="0">
              <a:buNone/>
            </a:pPr>
            <a:r>
              <a:rPr lang="en-US" sz="1500" b="1" dirty="0">
                <a:solidFill>
                  <a:schemeClr val="tx1"/>
                </a:solidFill>
              </a:rPr>
              <a:t>Medidas ofrecidas, incluso en la versión con agente conversacional</a:t>
            </a:r>
            <a:endParaRPr lang="en-US" sz="1500" dirty="0"/>
          </a:p>
        </p:txBody>
      </p:sp>
      <p:sp>
        <p:nvSpPr>
          <p:cNvPr id="12" name="lista"/>
          <p:cNvSpPr txBox="1"/>
          <p:nvPr/>
        </p:nvSpPr>
        <p:spPr>
          <a:xfrm>
            <a:off x="5897880" y="2286000"/>
            <a:ext cx="5513832"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rPr>
              <a:t>Sports World responsable y Final Upgrade encargado conforme a la LFPDPPP de 2025</a:t>
            </a:r>
            <a:endParaRPr lang="en-US" sz="1200" dirty="0"/>
          </a:p>
          <a:p>
            <a:pPr marL="342900" indent="-342900">
              <a:spcAft>
                <a:spcPts val="600"/>
              </a:spcAft>
              <a:buSzPct val="100000"/>
              <a:buChar char="•"/>
            </a:pPr>
            <a:r>
              <a:rPr lang="en-US" sz="1200" dirty="0">
                <a:solidFill>
                  <a:schemeClr val="tx2"/>
                </a:solidFill>
              </a:rPr>
              <a:t>Datos en el CRM y en el servidor de Sports World; retención cero (ZDR) en las plataformas</a:t>
            </a:r>
            <a:endParaRPr lang="en-US" sz="1200" dirty="0"/>
          </a:p>
          <a:p>
            <a:pPr marL="342900" indent="-342900">
              <a:spcAft>
                <a:spcPts val="600"/>
              </a:spcAft>
              <a:buSzPct val="100000"/>
              <a:buChar char="•"/>
            </a:pPr>
            <a:r>
              <a:rPr lang="en-US" sz="1200" dirty="0">
                <a:solidFill>
                  <a:schemeClr val="tx2"/>
                </a:solidFill>
              </a:rPr>
              <a:t>Cifrado en tránsito y en reposo; mínimo privilegio; bitácora de accesos; MFA</a:t>
            </a:r>
            <a:endParaRPr lang="en-US" sz="1200" dirty="0"/>
          </a:p>
          <a:p>
            <a:pPr marL="342900" indent="-342900">
              <a:spcAft>
                <a:spcPts val="600"/>
              </a:spcAft>
              <a:buSzPct val="100000"/>
              <a:buChar char="•"/>
            </a:pPr>
            <a:r>
              <a:rPr lang="en-US" sz="1200" dirty="0">
                <a:solidFill>
                  <a:schemeClr val="tx2"/>
                </a:solidFill>
              </a:rPr>
              <a:t>Notificación de vulneraciones en 72 horas; apoyo ARCO en 3 días hábiles</a:t>
            </a:r>
            <a:endParaRPr lang="en-US" sz="1200" dirty="0"/>
          </a:p>
          <a:p>
            <a:pPr marL="342900" indent="-342900">
              <a:spcAft>
                <a:spcPts val="600"/>
              </a:spcAft>
              <a:buSzPct val="100000"/>
              <a:buChar char="•"/>
            </a:pPr>
            <a:r>
              <a:rPr lang="en-US" sz="1200" dirty="0">
                <a:solidFill>
                  <a:schemeClr val="tx2"/>
                </a:solidFill>
              </a:rPr>
              <a:t>Supresión certificada; evaluación previa de toda plataforma de terceros con autorización de Sports World</a:t>
            </a:r>
            <a:endParaRPr lang="en-US" sz="1200" dirty="0"/>
          </a:p>
        </p:txBody>
      </p:sp>
      <p:sp>
        <p:nvSpPr>
          <p:cNvPr id="13" name="n1"/>
          <p:cNvSpPr/>
          <p:nvPr/>
        </p:nvSpPr>
        <p:spPr>
          <a:xfrm>
            <a:off x="548640" y="4937760"/>
            <a:ext cx="5408676" cy="1188720"/>
          </a:xfrm>
          <a:prstGeom prst="roundRect">
            <a:avLst>
              <a:gd name="adj" fmla="val 6154"/>
            </a:avLst>
          </a:prstGeom>
          <a:solidFill>
            <a:schemeClr val="accent4"/>
          </a:solidFill>
          <a:ln w="9525">
            <a:solidFill>
              <a:schemeClr val="accent5"/>
            </a:solidFill>
            <a:prstDash val="solid"/>
          </a:ln>
        </p:spPr>
      </p:sp>
      <p:sp>
        <p:nvSpPr>
          <p:cNvPr id="14" name="n1t"/>
          <p:cNvSpPr txBox="1"/>
          <p:nvPr/>
        </p:nvSpPr>
        <p:spPr>
          <a:xfrm>
            <a:off x="731520" y="5029200"/>
            <a:ext cx="5042916" cy="1005840"/>
          </a:xfrm>
          <a:prstGeom prst="rect">
            <a:avLst/>
          </a:prstGeom>
          <a:noFill/>
          <a:ln/>
        </p:spPr>
        <p:txBody>
          <a:bodyPr wrap="square" lIns="0" tIns="0" rIns="0" bIns="0" rtlCol="0" anchor="t"/>
          <a:lstStyle/>
          <a:p>
            <a:pPr indent="0" marL="0">
              <a:buNone/>
            </a:pPr>
            <a:r>
              <a:rPr lang="en-US" sz="1200" dirty="0">
                <a:solidFill>
                  <a:schemeClr val="tx2"/>
                </a:solidFill>
              </a:rPr>
              <a:t>La estrategia de retención cero se entregó el 25 de agosto, el mismo día en que Legal la solicitó. Nunca se recibió una objeción escrita, cláusula por cláusula.</a:t>
            </a:r>
            <a:endParaRPr lang="en-US" sz="1200" dirty="0"/>
          </a:p>
        </p:txBody>
      </p:sp>
      <p:sp>
        <p:nvSpPr>
          <p:cNvPr id="15" name="n2"/>
          <p:cNvSpPr/>
          <p:nvPr/>
        </p:nvSpPr>
        <p:spPr>
          <a:xfrm>
            <a:off x="6231636" y="4937760"/>
            <a:ext cx="5408676" cy="1188720"/>
          </a:xfrm>
          <a:prstGeom prst="roundRect">
            <a:avLst>
              <a:gd name="adj" fmla="val 6154"/>
            </a:avLst>
          </a:prstGeom>
          <a:solidFill>
            <a:schemeClr val="accent4"/>
          </a:solidFill>
          <a:ln w="9525">
            <a:solidFill>
              <a:schemeClr val="accent5"/>
            </a:solidFill>
            <a:prstDash val="solid"/>
          </a:ln>
        </p:spPr>
      </p:sp>
      <p:sp>
        <p:nvSpPr>
          <p:cNvPr id="16" name="n2t"/>
          <p:cNvSpPr txBox="1"/>
          <p:nvPr/>
        </p:nvSpPr>
        <p:spPr>
          <a:xfrm>
            <a:off x="6414516" y="5029200"/>
            <a:ext cx="5042916" cy="1005840"/>
          </a:xfrm>
          <a:prstGeom prst="rect">
            <a:avLst/>
          </a:prstGeom>
          <a:noFill/>
          <a:ln/>
        </p:spPr>
        <p:txBody>
          <a:bodyPr wrap="square" lIns="0" tIns="0" rIns="0" bIns="0" rtlCol="0" anchor="t"/>
          <a:lstStyle/>
          <a:p>
            <a:pPr indent="0" marL="0">
              <a:buNone/>
            </a:pPr>
            <a:r>
              <a:rPr lang="en-US" sz="1200" dirty="0">
                <a:solidFill>
                  <a:schemeClr val="tx2"/>
                </a:solidFill>
              </a:rPr>
              <a:t>Nunca se utilizó información de consumidores de Sports World. Las demostraciones operan con datos sintéticos y el catálogo público de clubes.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1672" cy="274320"/>
          </a:xfrm>
          <a:prstGeom prst="rect">
            <a:avLst/>
          </a:prstGeom>
          <a:noFill/>
          <a:ln/>
        </p:spPr>
        <p:txBody>
          <a:bodyPr wrap="square" lIns="0" tIns="0" rIns="0" bIns="0" rtlCol="0"/>
          <a:lstStyle/>
          <a:p>
            <a:pPr indent="0" marL="0">
              <a:buNone/>
            </a:pPr>
            <a:r>
              <a:rPr lang="en-US" sz="1100" spc="300" kern="0" dirty="0">
                <a:solidFill>
                  <a:schemeClr val="accent1"/>
                </a:solidFill>
              </a:rPr>
              <a:t>RAZÓN 3 · «LOS PAGOS A TERCEROS»</a:t>
            </a:r>
            <a:endParaRPr lang="en-US" sz="11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000" dirty="0">
                <a:solidFill>
                  <a:schemeClr val="tx1"/>
                </a:solidFill>
              </a:rPr>
              <a:t>Los pagos a terceros quedaron resueltos el 22 de septiembre</a:t>
            </a:r>
            <a:endParaRPr lang="en-US" sz="3000" dirty="0"/>
          </a:p>
        </p:txBody>
      </p:sp>
      <p:sp>
        <p:nvSpPr>
          <p:cNvPr id="5" name="c0"/>
          <p:cNvSpPr/>
          <p:nvPr/>
        </p:nvSpPr>
        <p:spPr>
          <a:xfrm>
            <a:off x="548640" y="1691640"/>
            <a:ext cx="3514344" cy="3383280"/>
          </a:xfrm>
          <a:prstGeom prst="roundRect">
            <a:avLst>
              <a:gd name="adj" fmla="val 2162"/>
            </a:avLst>
          </a:prstGeom>
          <a:solidFill>
            <a:schemeClr val="accent6"/>
          </a:solidFill>
          <a:ln w="9525">
            <a:solidFill>
              <a:schemeClr val="accent5"/>
            </a:solidFill>
            <a:prstDash val="solid"/>
          </a:ln>
        </p:spPr>
      </p:sp>
      <p:sp>
        <p:nvSpPr>
          <p:cNvPr id="6" name="e0"/>
          <p:cNvSpPr txBox="1"/>
          <p:nvPr/>
        </p:nvSpPr>
        <p:spPr>
          <a:xfrm>
            <a:off x="777240" y="1828800"/>
            <a:ext cx="3057144" cy="274320"/>
          </a:xfrm>
          <a:prstGeom prst="rect">
            <a:avLst/>
          </a:prstGeom>
          <a:noFill/>
          <a:ln/>
        </p:spPr>
        <p:txBody>
          <a:bodyPr wrap="square" lIns="0" tIns="0" rIns="0" bIns="0" rtlCol="0" anchor="ctr"/>
          <a:lstStyle/>
          <a:p>
            <a:pPr indent="0" marL="0">
              <a:buNone/>
            </a:pPr>
            <a:r>
              <a:rPr lang="en-US" sz="1050" spc="200" kern="0" dirty="0">
                <a:solidFill>
                  <a:schemeClr val="accent1"/>
                </a:solidFill>
              </a:rPr>
              <a:t>5 DE MAYO</a:t>
            </a:r>
            <a:endParaRPr lang="en-US" sz="1050" dirty="0"/>
          </a:p>
        </p:txBody>
      </p:sp>
      <p:sp>
        <p:nvSpPr>
          <p:cNvPr id="7" name="h0"/>
          <p:cNvSpPr txBox="1"/>
          <p:nvPr/>
        </p:nvSpPr>
        <p:spPr>
          <a:xfrm>
            <a:off x="777240" y="2148840"/>
            <a:ext cx="3057144" cy="731520"/>
          </a:xfrm>
          <a:prstGeom prst="rect">
            <a:avLst/>
          </a:prstGeom>
          <a:noFill/>
          <a:ln/>
        </p:spPr>
        <p:txBody>
          <a:bodyPr wrap="square" lIns="0" tIns="0" rIns="0" bIns="0" rtlCol="0" anchor="t"/>
          <a:lstStyle/>
          <a:p>
            <a:pPr indent="0" marL="0">
              <a:buNone/>
            </a:pPr>
            <a:r>
              <a:rPr lang="en-US" sz="1600" b="1" dirty="0">
                <a:solidFill>
                  <a:schemeClr val="tx1"/>
                </a:solidFill>
              </a:rPr>
              <a:t>Modelo transparente desde el inicio</a:t>
            </a:r>
            <a:endParaRPr lang="en-US" sz="1600" dirty="0"/>
          </a:p>
        </p:txBody>
      </p:sp>
      <p:sp>
        <p:nvSpPr>
          <p:cNvPr id="8" name="p0"/>
          <p:cNvSpPr txBox="1"/>
          <p:nvPr/>
        </p:nvSpPr>
        <p:spPr>
          <a:xfrm>
            <a:off x="777240" y="2926080"/>
            <a:ext cx="3057144" cy="2011680"/>
          </a:xfrm>
          <a:prstGeom prst="rect">
            <a:avLst/>
          </a:prstGeom>
          <a:noFill/>
          <a:ln/>
        </p:spPr>
        <p:txBody>
          <a:bodyPr wrap="square" lIns="0" tIns="0" rIns="0" bIns="0" rtlCol="0" anchor="t"/>
          <a:lstStyle/>
          <a:p>
            <a:pPr indent="0" marL="0">
              <a:buNone/>
            </a:pPr>
            <a:r>
              <a:rPr lang="en-US" sz="1250" dirty="0">
                <a:solidFill>
                  <a:schemeClr val="tx2"/>
                </a:solidFill>
              </a:rPr>
              <a:t>Tres componentes explicados por escrito: diseño y desarrollo, costos operativos de plataformas a nombre de Sports World, e iguala mensual. Es el modelo estándar: la licencia se contrata a nombre del cliente para que el dato y la cuenta sean suyos.</a:t>
            </a:r>
            <a:endParaRPr lang="en-US" sz="1250" dirty="0"/>
          </a:p>
        </p:txBody>
      </p:sp>
      <p:sp>
        <p:nvSpPr>
          <p:cNvPr id="9" name="c1"/>
          <p:cNvSpPr/>
          <p:nvPr/>
        </p:nvSpPr>
        <p:spPr>
          <a:xfrm>
            <a:off x="4337304" y="1691640"/>
            <a:ext cx="3514344" cy="3383280"/>
          </a:xfrm>
          <a:prstGeom prst="roundRect">
            <a:avLst>
              <a:gd name="adj" fmla="val 2162"/>
            </a:avLst>
          </a:prstGeom>
          <a:solidFill>
            <a:schemeClr val="accent6"/>
          </a:solidFill>
          <a:ln w="9525">
            <a:solidFill>
              <a:schemeClr val="accent5"/>
            </a:solidFill>
            <a:prstDash val="solid"/>
          </a:ln>
        </p:spPr>
      </p:sp>
      <p:sp>
        <p:nvSpPr>
          <p:cNvPr id="10" name="e1"/>
          <p:cNvSpPr txBox="1"/>
          <p:nvPr/>
        </p:nvSpPr>
        <p:spPr>
          <a:xfrm>
            <a:off x="4565904" y="1828800"/>
            <a:ext cx="3057144" cy="274320"/>
          </a:xfrm>
          <a:prstGeom prst="rect">
            <a:avLst/>
          </a:prstGeom>
          <a:noFill/>
          <a:ln/>
        </p:spPr>
        <p:txBody>
          <a:bodyPr wrap="square" lIns="0" tIns="0" rIns="0" bIns="0" rtlCol="0" anchor="ctr"/>
          <a:lstStyle/>
          <a:p>
            <a:pPr indent="0" marL="0">
              <a:buNone/>
            </a:pPr>
            <a:r>
              <a:rPr lang="en-US" sz="1050" spc="200" kern="0" dirty="0">
                <a:solidFill>
                  <a:schemeClr val="accent1"/>
                </a:solidFill>
              </a:rPr>
              <a:t>22 DE SEPTIEMBRE</a:t>
            </a:r>
            <a:endParaRPr lang="en-US" sz="1050" dirty="0"/>
          </a:p>
        </p:txBody>
      </p:sp>
      <p:sp>
        <p:nvSpPr>
          <p:cNvPr id="11" name="h1"/>
          <p:cNvSpPr txBox="1"/>
          <p:nvPr/>
        </p:nvSpPr>
        <p:spPr>
          <a:xfrm>
            <a:off x="4565904" y="2148840"/>
            <a:ext cx="3057144" cy="731520"/>
          </a:xfrm>
          <a:prstGeom prst="rect">
            <a:avLst/>
          </a:prstGeom>
          <a:noFill/>
          <a:ln/>
        </p:spPr>
        <p:txBody>
          <a:bodyPr wrap="square" lIns="0" tIns="0" rIns="0" bIns="0" rtlCol="0" anchor="t"/>
          <a:lstStyle/>
          <a:p>
            <a:pPr indent="0" marL="0">
              <a:buNone/>
            </a:pPr>
            <a:r>
              <a:rPr lang="en-US" sz="1600" b="1" dirty="0">
                <a:solidFill>
                  <a:schemeClr val="tx1"/>
                </a:solidFill>
              </a:rPr>
              <a:t>Final Upgrade ofreció pagar las plataformas</a:t>
            </a:r>
            <a:endParaRPr lang="en-US" sz="1600" dirty="0"/>
          </a:p>
        </p:txBody>
      </p:sp>
      <p:sp>
        <p:nvSpPr>
          <p:cNvPr id="12" name="p1"/>
          <p:cNvSpPr txBox="1"/>
          <p:nvPr/>
        </p:nvSpPr>
        <p:spPr>
          <a:xfrm>
            <a:off x="4565904" y="2926080"/>
            <a:ext cx="3057144" cy="2011680"/>
          </a:xfrm>
          <a:prstGeom prst="rect">
            <a:avLst/>
          </a:prstGeom>
          <a:noFill/>
          <a:ln/>
        </p:spPr>
        <p:txBody>
          <a:bodyPr wrap="square" lIns="0" tIns="0" rIns="0" bIns="0" rtlCol="0" anchor="t"/>
          <a:lstStyle/>
          <a:p>
            <a:pPr indent="0" marL="0">
              <a:buNone/>
            </a:pPr>
            <a:r>
              <a:rPr lang="en-US" sz="1250" dirty="0">
                <a:solidFill>
                  <a:schemeClr val="tx2"/>
                </a:solidFill>
              </a:rPr>
              <a:t>Cuando Sports World indicó que no quería pagos directos a proveedores, Final Upgrade ofreció contratarlas y facturarlas, con dos condiciones razonables: no responder por caídas simultáneas de los proveedores y suspensión ante impago. No hubo respuesta de Legal.</a:t>
            </a:r>
            <a:endParaRPr lang="en-US" sz="1250" dirty="0"/>
          </a:p>
        </p:txBody>
      </p:sp>
      <p:sp>
        <p:nvSpPr>
          <p:cNvPr id="13" name="c2"/>
          <p:cNvSpPr/>
          <p:nvPr/>
        </p:nvSpPr>
        <p:spPr>
          <a:xfrm>
            <a:off x="8125968" y="1691640"/>
            <a:ext cx="3514344" cy="3383280"/>
          </a:xfrm>
          <a:prstGeom prst="roundRect">
            <a:avLst>
              <a:gd name="adj" fmla="val 2162"/>
            </a:avLst>
          </a:prstGeom>
          <a:solidFill>
            <a:schemeClr val="tx1"/>
          </a:solidFill>
          <a:ln w="9525">
            <a:solidFill>
              <a:schemeClr val="tx1"/>
            </a:solidFill>
            <a:prstDash val="solid"/>
          </a:ln>
        </p:spPr>
      </p:sp>
      <p:sp>
        <p:nvSpPr>
          <p:cNvPr id="14" name="e2"/>
          <p:cNvSpPr txBox="1"/>
          <p:nvPr/>
        </p:nvSpPr>
        <p:spPr>
          <a:xfrm>
            <a:off x="8354568" y="1828800"/>
            <a:ext cx="3057144" cy="274320"/>
          </a:xfrm>
          <a:prstGeom prst="rect">
            <a:avLst/>
          </a:prstGeom>
          <a:noFill/>
          <a:ln/>
        </p:spPr>
        <p:txBody>
          <a:bodyPr wrap="square" lIns="0" tIns="0" rIns="0" bIns="0" rtlCol="0" anchor="ctr"/>
          <a:lstStyle/>
          <a:p>
            <a:pPr indent="0" marL="0">
              <a:buNone/>
            </a:pPr>
            <a:r>
              <a:rPr lang="en-US" sz="1050" spc="200" kern="0" dirty="0">
                <a:solidFill>
                  <a:schemeClr val="accent3"/>
                </a:solidFill>
              </a:rPr>
              <a:t>CONTRATO FINAL</a:t>
            </a:r>
            <a:endParaRPr lang="en-US" sz="1050" dirty="0"/>
          </a:p>
        </p:txBody>
      </p:sp>
      <p:sp>
        <p:nvSpPr>
          <p:cNvPr id="15" name="h2"/>
          <p:cNvSpPr txBox="1"/>
          <p:nvPr/>
        </p:nvSpPr>
        <p:spPr>
          <a:xfrm>
            <a:off x="8354568" y="2148840"/>
            <a:ext cx="3057144" cy="731520"/>
          </a:xfrm>
          <a:prstGeom prst="rect">
            <a:avLst/>
          </a:prstGeom>
          <a:noFill/>
          <a:ln/>
        </p:spPr>
        <p:txBody>
          <a:bodyPr wrap="square" lIns="0" tIns="0" rIns="0" bIns="0" rtlCol="0" anchor="t"/>
          <a:lstStyle/>
          <a:p>
            <a:pPr indent="0" marL="0">
              <a:buNone/>
            </a:pPr>
            <a:r>
              <a:rPr lang="en-US" sz="1600" b="1" dirty="0">
                <a:solidFill>
                  <a:schemeClr val="bg1"/>
                </a:solidFill>
              </a:rPr>
              <a:t>El gasto variable es marginal</a:t>
            </a:r>
            <a:endParaRPr lang="en-US" sz="1600" dirty="0"/>
          </a:p>
        </p:txBody>
      </p:sp>
      <p:sp>
        <p:nvSpPr>
          <p:cNvPr id="16" name="p2"/>
          <p:cNvSpPr txBox="1"/>
          <p:nvPr/>
        </p:nvSpPr>
        <p:spPr>
          <a:xfrm>
            <a:off x="8354568" y="2926080"/>
            <a:ext cx="3057144" cy="2011680"/>
          </a:xfrm>
          <a:prstGeom prst="rect">
            <a:avLst/>
          </a:prstGeom>
          <a:noFill/>
          <a:ln/>
        </p:spPr>
        <p:txBody>
          <a:bodyPr wrap="square" lIns="0" tIns="0" rIns="0" bIns="0" rtlCol="0" anchor="t"/>
          <a:lstStyle/>
          <a:p>
            <a:pPr indent="0" marL="0">
              <a:buNone/>
            </a:pPr>
            <a:r>
              <a:rPr lang="en-US" sz="1250" dirty="0">
                <a:solidFill>
                  <a:schemeClr val="accent3"/>
                </a:solidFill>
              </a:rPr>
              <a:t>USD 28 a 228 al mes en modelos de lenguaje para redactar el plan de entrenamiento. Es el único costo de terceros que queda en el contrato del 29 de septiembre, y puede facturarlo Final Upgrade con el consumo real.</a:t>
            </a:r>
            <a:endParaRPr lang="en-US" sz="1250" dirty="0"/>
          </a:p>
        </p:txBody>
      </p:sp>
      <p:sp>
        <p:nvSpPr>
          <p:cNvPr id="17" name="cierre"/>
          <p:cNvSpPr txBox="1"/>
          <p:nvPr/>
        </p:nvSpPr>
        <p:spPr>
          <a:xfrm>
            <a:off x="548640" y="5303520"/>
            <a:ext cx="11091672" cy="731520"/>
          </a:xfrm>
          <a:prstGeom prst="rect">
            <a:avLst/>
          </a:prstGeom>
          <a:noFill/>
          <a:ln/>
        </p:spPr>
        <p:txBody>
          <a:bodyPr wrap="square" lIns="0" tIns="0" rIns="0" bIns="0" rtlCol="0" anchor="t"/>
          <a:lstStyle/>
          <a:p>
            <a:pPr indent="0" marL="0">
              <a:buNone/>
            </a:pPr>
            <a:r>
              <a:rPr lang="en-US" sz="1300" dirty="0">
                <a:solidFill>
                  <a:schemeClr val="tx2"/>
                </a:solidFill>
              </a:rPr>
              <a:t>La razón 3 ya no existía cuando se tomó la decisión: el único costo de terceros restante es marginal y Final Upgrade había ofrecido absorberlo en su facturación.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1672" cy="274320"/>
          </a:xfrm>
          <a:prstGeom prst="rect">
            <a:avLst/>
          </a:prstGeom>
          <a:noFill/>
          <a:ln/>
        </p:spPr>
        <p:txBody>
          <a:bodyPr wrap="square" lIns="0" tIns="0" rIns="0" bIns="0" rtlCol="0"/>
          <a:lstStyle/>
          <a:p>
            <a:pPr indent="0" marL="0">
              <a:buNone/>
            </a:pPr>
            <a:r>
              <a:rPr lang="en-US" sz="1100" spc="300" kern="0" dirty="0">
                <a:solidFill>
                  <a:schemeClr val="accent1"/>
                </a:solidFill>
              </a:rPr>
              <a:t>LO ENTREGADO · PETICIONES DE SPORTS WORLD</a:t>
            </a:r>
            <a:endParaRPr lang="en-US" sz="11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000" dirty="0">
                <a:solidFill>
                  <a:schemeClr val="tx1"/>
                </a:solidFill>
              </a:rPr>
              <a:t>Veinte peticiones expresas de Sports World, todas atendidas</a:t>
            </a:r>
            <a:endParaRPr lang="en-US" sz="3000" dirty="0"/>
          </a:p>
        </p:txBody>
      </p:sp>
      <p:graphicFrame>
        <p:nvGraphicFramePr>
          <p:cNvPr id="10" name="tL"/>
          <p:cNvGraphicFramePr>
            <a:graphicFrameLocks noGrp="1"/>
          </p:cNvGraphicFramePr>
          <p:nvPr>
            <p:extLst>
              <p:ext uri="{D42A27DB-BD31-4B8C-83A1-F6EECF244321}">
                <p14:modId xmlns:p14="http://schemas.microsoft.com/office/powerpoint/2010/main" val="1579011935"/>
              </p:ext>
            </p:extLst>
          </p:nvPr>
        </p:nvGraphicFramePr>
        <p:xfrm>
          <a:off x="548640" y="1691640"/>
          <a:ext cx="5362956" cy="914400"/>
        </p:xfrm>
        <a:graphic>
          <a:graphicData uri="http://schemas.openxmlformats.org/drawingml/2006/table">
            <a:tbl>
              <a:tblPr/>
              <a:tblGrid>
                <a:gridCol w="1097280"/>
                <a:gridCol w="4265676"/>
              </a:tblGrid>
              <a:tr h="0">
                <a:tc>
                  <a:txBody>
                    <a:bodyPr/>
                    <a:lstStyle/>
                    <a:p>
                      <a:pPr indent="0" marL="0">
                        <a:buNone/>
                      </a:pPr>
                      <a:r>
                        <a:rPr lang="en-US" sz="1150" b="1" dirty="0">
                          <a:solidFill>
                            <a:schemeClr val="bg1"/>
                          </a:solidFill>
                        </a:rPr>
                        <a:t>Fecha</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Petición</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r>
              <a:tr h="0">
                <a:tc>
                  <a:txBody>
                    <a:bodyPr/>
                    <a:lstStyle/>
                    <a:p>
                      <a:pPr indent="0" marL="0">
                        <a:buNone/>
                      </a:pPr>
                      <a:r>
                        <a:rPr lang="en-US" sz="1150" dirty="0">
                          <a:solidFill>
                            <a:schemeClr val="tx1"/>
                          </a:solidFill>
                        </a:rPr>
                        <a:t>31 mar</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Presentación a Dirección sin precios</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21 y 28 abr</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Lista de funcionalidades y cotización</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150" dirty="0">
                          <a:solidFill>
                            <a:schemeClr val="tx1"/>
                          </a:solidFill>
                        </a:rPr>
                        <a:t>5 may</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Resumen de precios para solicitar presupuesto</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6 may</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Lista de necesidades de IA para regionales</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150" dirty="0">
                          <a:solidFill>
                            <a:schemeClr val="tx1"/>
                          </a:solidFill>
                        </a:rPr>
                        <a:t>12 may</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Temas adicionales de Dirección en el cuestionario</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25 may</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Explicación del uso de UTMs</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150" dirty="0">
                          <a:solidFill>
                            <a:schemeClr val="tx1"/>
                          </a:solidFill>
                        </a:rPr>
                        <a:t>29 may</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Descriptivo de la propuesta para Sistemas</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30 jun</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Liga del cuestionario para la Dirección</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150" dirty="0">
                          <a:solidFill>
                            <a:schemeClr val="tx1"/>
                          </a:solidFill>
                        </a:rPr>
                        <a:t>22 jul</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Speech para el Consejo</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7 ago</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Video del cuestionario y agente activo</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bl>
          </a:graphicData>
        </a:graphic>
      </p:graphicFrame>
      <p:graphicFrame>
        <p:nvGraphicFramePr>
          <p:cNvPr id="19" name="tR"/>
          <p:cNvGraphicFramePr>
            <a:graphicFrameLocks noGrp="1"/>
          </p:cNvGraphicFramePr>
          <p:nvPr>
            <p:extLst>
              <p:ext uri="{D42A27DB-BD31-4B8C-83A1-F6EECF244321}">
                <p14:modId xmlns:p14="http://schemas.microsoft.com/office/powerpoint/2010/main" val="1579011935"/>
              </p:ext>
            </p:extLst>
          </p:nvPr>
        </p:nvGraphicFramePr>
        <p:xfrm>
          <a:off x="6277356" y="1691640"/>
          <a:ext cx="5362956" cy="914400"/>
        </p:xfrm>
        <a:graphic>
          <a:graphicData uri="http://schemas.openxmlformats.org/drawingml/2006/table">
            <a:tbl>
              <a:tblPr/>
              <a:tblGrid>
                <a:gridCol w="1097280"/>
                <a:gridCol w="4265676"/>
              </a:tblGrid>
              <a:tr h="0">
                <a:tc>
                  <a:txBody>
                    <a:bodyPr/>
                    <a:lstStyle/>
                    <a:p>
                      <a:pPr indent="0" marL="0">
                        <a:buNone/>
                      </a:pPr>
                      <a:r>
                        <a:rPr lang="en-US" sz="1150" b="1" dirty="0">
                          <a:solidFill>
                            <a:schemeClr val="bg1"/>
                          </a:solidFill>
                        </a:rPr>
                        <a:t>Fecha</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Petición</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r>
              <a:tr h="0">
                <a:tc>
                  <a:txBody>
                    <a:bodyPr/>
                    <a:lstStyle/>
                    <a:p>
                      <a:pPr indent="0" marL="0">
                        <a:buNone/>
                      </a:pPr>
                      <a:r>
                        <a:rPr lang="en-US" sz="1150" dirty="0">
                          <a:solidFill>
                            <a:schemeClr val="tx1"/>
                          </a:solidFill>
                        </a:rPr>
                        <a:t>11 ago</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Total consolidado de todos los proyectos</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19 ago</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Información para la capacitación</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150" dirty="0">
                          <a:solidFill>
                            <a:schemeClr val="tx1"/>
                          </a:solidFill>
                        </a:rPr>
                        <a:t>20 ago</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Entregables por página, incluidas secciones no cotizadas</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25 ago</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Estrategia de retención cero de datos (ZDR)</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150" dirty="0">
                          <a:solidFill>
                            <a:schemeClr val="tx1"/>
                          </a:solidFill>
                        </a:rPr>
                        <a:t>31 ago</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Desglose de inversión, costos variables y bloques</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17 sep</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Requisitos y costos para el proveedor actual</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150" dirty="0">
                          <a:solidFill>
                            <a:schemeClr val="tx1"/>
                          </a:solidFill>
                        </a:rPr>
                        <a:t>21 sep</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Monto mensual de plataformas</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22 sep</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Contratos separados y cláusula de privacidad de IA</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150" dirty="0">
                          <a:solidFill>
                            <a:schemeClr val="tx1"/>
                          </a:solidFill>
                        </a:rPr>
                        <a:t>29 sep</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Monto de sólo SEO</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30 sep</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Comparativo frente a otra herramienta de IA</a:t>
                      </a:r>
                      <a:endParaRPr lang="en-US" sz="1150" dirty="0"/>
                    </a:p>
                  </a:txBody>
                  <a:tcPr marL="45720" marR="45720" marT="45720" marB="45720">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bl>
          </a:graphicData>
        </a:graphic>
      </p:graphicFrame>
      <p:sp>
        <p:nvSpPr>
          <p:cNvPr id="7" name="cierre"/>
          <p:cNvSpPr txBox="1"/>
          <p:nvPr/>
        </p:nvSpPr>
        <p:spPr>
          <a:xfrm>
            <a:off x="548640" y="5669280"/>
            <a:ext cx="11091672" cy="457200"/>
          </a:xfrm>
          <a:prstGeom prst="rect">
            <a:avLst/>
          </a:prstGeom>
          <a:noFill/>
          <a:ln/>
        </p:spPr>
        <p:txBody>
          <a:bodyPr wrap="square" lIns="0" tIns="0" rIns="0" bIns="0" rtlCol="0" anchor="ctr"/>
          <a:lstStyle/>
          <a:p>
            <a:pPr indent="0" marL="0">
              <a:buNone/>
            </a:pPr>
            <a:r>
              <a:rPr lang="en-US" sz="1300" dirty="0">
                <a:solidFill>
                  <a:schemeClr val="tx2"/>
                </a:solidFill>
              </a:rPr>
              <a:t>Ninguna de estas peticiones corresponde a un cliente que no piensa contratar. Cada una se atendió en el día o al siguiente.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1672" cy="274320"/>
          </a:xfrm>
          <a:prstGeom prst="rect">
            <a:avLst/>
          </a:prstGeom>
          <a:noFill/>
          <a:ln/>
        </p:spPr>
        <p:txBody>
          <a:bodyPr wrap="square" lIns="0" tIns="0" rIns="0" bIns="0" rtlCol="0"/>
          <a:lstStyle/>
          <a:p>
            <a:pPr indent="0" marL="0">
              <a:buNone/>
            </a:pPr>
            <a:r>
              <a:rPr lang="en-US" sz="1100" spc="300" kern="0" dirty="0">
                <a:solidFill>
                  <a:schemeClr val="accent1"/>
                </a:solidFill>
              </a:rPr>
              <a:t>LO ENTREGADO · INVENTARIO</a:t>
            </a:r>
            <a:endParaRPr lang="en-US" sz="11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000" dirty="0">
                <a:solidFill>
                  <a:schemeClr val="tx1"/>
                </a:solidFill>
              </a:rPr>
              <a:t>Lo que Final Upgrade produjo sin contrato firmado</a:t>
            </a:r>
            <a:endParaRPr lang="en-US" sz="3000" dirty="0"/>
          </a:p>
        </p:txBody>
      </p:sp>
      <p:graphicFrame>
        <p:nvGraphicFramePr>
          <p:cNvPr id="11" name="tabla"/>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377440"/>
                <a:gridCol w="5760720"/>
                <a:gridCol w="2953512"/>
              </a:tblGrid>
              <a:tr h="0">
                <a:tc>
                  <a:txBody>
                    <a:bodyPr/>
                    <a:lstStyle/>
                    <a:p>
                      <a:pPr indent="0" marL="0">
                        <a:buNone/>
                      </a:pPr>
                      <a:r>
                        <a:rPr lang="en-US" sz="1150" b="1" dirty="0">
                          <a:solidFill>
                            <a:schemeClr val="bg1"/>
                          </a:solidFill>
                        </a:rPr>
                        <a:t>Bloque</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Entregable</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Magnitud</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r>
              <a:tr h="0">
                <a:tc>
                  <a:txBody>
                    <a:bodyPr/>
                    <a:lstStyle/>
                    <a:p>
                      <a:pPr indent="0" marL="0">
                        <a:buNone/>
                      </a:pPr>
                      <a:r>
                        <a:rPr lang="en-US" sz="1150" dirty="0">
                          <a:solidFill>
                            <a:schemeClr val="tx1"/>
                          </a:solidFill>
                        </a:rPr>
                        <a:t>Diagnóstico</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Auditoría SEO «El Gigante Invisible», más de 20,000 palabras clave</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Base de los KPIs del contrato</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Investigación de campo</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Workshop con líderes regionales y 15 entrevistas en 13 clubes</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157 de 200 asesores</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150" dirty="0">
                          <a:solidFill>
                            <a:schemeClr val="tx1"/>
                          </a:solidFill>
                        </a:rPr>
                        <a:t>Documentación del sistema</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31 documentos: contrato, anexos, arquitectura, seguridad, plan de ejecución</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80,482 palabras · 243 páginas PDF</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Especificación UX</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Especificación UX v4.2 con trazabilidad de 1,567 afirmaciones</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22,727 palabras</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150" dirty="0">
                          <a:solidFill>
                            <a:schemeClr val="tx1"/>
                          </a:solidFill>
                        </a:rPr>
                        <a:t>Proceso comercial</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Manual del proceso, 5 procedimientos y Manual de Ventas v5.1</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7 documentos · 57,444 palabras</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Propuestas comerciales</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Reestructura del proceso de ventas, contenidos y checklists</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6 documentos · 24,171 palabras</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150" dirty="0">
                          <a:solidFill>
                            <a:schemeClr val="tx1"/>
                          </a:solidFill>
                        </a:rPr>
                        <a:t>Software demostrable</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Cuestionario inteligente, Entrenador de Ventas, calculadora de ROI</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24,329 líneas de código</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Agente conversacional</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Tres demostraciones de voz y texto, base de conocimiento y prompts</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Probado por Marketing, Dirección y TI</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150" dirty="0">
                          <a:solidFill>
                            <a:schemeClr val="tx1"/>
                          </a:solidFill>
                        </a:rPr>
                        <a:t>Presentaciones</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Deck para Sistemas, speech para Consejo, dos presentaciones a Dirección</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4 piezas</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150" dirty="0">
                          <a:solidFill>
                            <a:schemeClr val="tx1"/>
                          </a:solidFill>
                        </a:rPr>
                        <a:t>Documentos a petición</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Contratos en Word, alta de proveedor, ZDR, desgloses, contratos separados</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8 entregas, agosto a septiembre</a:t>
                      </a:r>
                      <a:endParaRPr lang="en-US" sz="11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1672" cy="274320"/>
          </a:xfrm>
          <a:prstGeom prst="rect">
            <a:avLst/>
          </a:prstGeom>
          <a:noFill/>
          <a:ln/>
        </p:spPr>
        <p:txBody>
          <a:bodyPr wrap="square" lIns="0" tIns="0" rIns="0" bIns="0" rtlCol="0"/>
          <a:lstStyle/>
          <a:p>
            <a:pPr indent="0" marL="0">
              <a:buNone/>
            </a:pPr>
            <a:r>
              <a:rPr lang="en-US" sz="1100" spc="300" kern="0" dirty="0">
                <a:solidFill>
                  <a:schemeClr val="accent1"/>
                </a:solidFill>
              </a:rPr>
              <a:t>LO ENTREGADO · VALUACIÓN</a:t>
            </a:r>
            <a:endParaRPr lang="en-US" sz="11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000" dirty="0">
                <a:solidFill>
                  <a:schemeClr val="tx1"/>
                </a:solidFill>
              </a:rPr>
              <a:t>Valor de lo entregado, a la tarifa del contrato</a:t>
            </a:r>
            <a:endParaRPr lang="en-US" sz="3000" dirty="0"/>
          </a:p>
        </p:txBody>
      </p:sp>
      <p:graphicFrame>
        <p:nvGraphicFramePr>
          <p:cNvPr id="12" name="valuacion"/>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4754880"/>
                <a:gridCol w="3840480"/>
                <a:gridCol w="914400"/>
                <a:gridCol w="1581912"/>
              </a:tblGrid>
              <a:tr h="0">
                <a:tc>
                  <a:txBody>
                    <a:bodyPr/>
                    <a:lstStyle/>
                    <a:p>
                      <a:pPr algn="l" indent="0" marL="0">
                        <a:buNone/>
                      </a:pPr>
                      <a:r>
                        <a:rPr lang="en-US" sz="1150" b="1" dirty="0">
                          <a:solidFill>
                            <a:schemeClr val="bg1"/>
                          </a:solidFill>
                        </a:rPr>
                        <a:t>Entregable</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c>
                  <a:txBody>
                    <a:bodyPr/>
                    <a:lstStyle/>
                    <a:p>
                      <a:pPr algn="l" indent="0" marL="0">
                        <a:buNone/>
                      </a:pPr>
                      <a:r>
                        <a:rPr lang="en-US" sz="1150" b="1" dirty="0">
                          <a:solidFill>
                            <a:schemeClr val="bg1"/>
                          </a:solidFill>
                        </a:rPr>
                        <a:t>Magnitud</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c>
                  <a:txBody>
                    <a:bodyPr/>
                    <a:lstStyle/>
                    <a:p>
                      <a:pPr algn="r" indent="0" marL="0">
                        <a:buNone/>
                      </a:pPr>
                      <a:r>
                        <a:rPr lang="en-US" sz="1150" b="1" dirty="0">
                          <a:solidFill>
                            <a:schemeClr val="bg1"/>
                          </a:solidFill>
                        </a:rPr>
                        <a:t>Horas</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c>
                  <a:txBody>
                    <a:bodyPr/>
                    <a:lstStyle/>
                    <a:p>
                      <a:pPr algn="r" indent="0" marL="0">
                        <a:buNone/>
                      </a:pPr>
                      <a:r>
                        <a:rPr lang="en-US" sz="1150" b="1" dirty="0">
                          <a:solidFill>
                            <a:schemeClr val="bg1"/>
                          </a:solidFill>
                        </a:rPr>
                        <a:t>Valor MXN</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r>
              <a:tr h="0">
                <a:tc>
                  <a:txBody>
                    <a:bodyPr/>
                    <a:lstStyle/>
                    <a:p>
                      <a:pPr algn="l" indent="0" marL="0">
                        <a:buNone/>
                      </a:pPr>
                      <a:r>
                        <a:rPr lang="en-US" sz="1150" dirty="0">
                          <a:solidFill>
                            <a:schemeClr val="tx1"/>
                          </a:solidFill>
                        </a:rPr>
                        <a:t>Auditoría SEO «El Gigante Invisible»</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algn="l" indent="0" marL="0">
                        <a:buNone/>
                      </a:pPr>
                      <a:r>
                        <a:rPr lang="en-US" sz="1150" dirty="0">
                          <a:solidFill>
                            <a:schemeClr val="tx1"/>
                          </a:solidFill>
                        </a:rPr>
                        <a:t>20,000+ keywords, base de los KPIs</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algn="r" indent="0" marL="0">
                        <a:buNone/>
                      </a:pPr>
                      <a:r>
                        <a:rPr lang="en-US" sz="1150" dirty="0">
                          <a:solidFill>
                            <a:schemeClr val="tx1"/>
                          </a:solidFill>
                        </a:rPr>
                        <a:t>24</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algn="r" indent="0" marL="0">
                        <a:buNone/>
                      </a:pPr>
                      <a:r>
                        <a:rPr lang="en-US" sz="1150" dirty="0">
                          <a:solidFill>
                            <a:schemeClr val="tx1"/>
                          </a:solidFill>
                        </a:rPr>
                        <a:t>32,040</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algn="l" indent="0" marL="0">
                        <a:buNone/>
                      </a:pPr>
                      <a:r>
                        <a:rPr lang="en-US" sz="1150" dirty="0">
                          <a:solidFill>
                            <a:schemeClr val="tx1"/>
                          </a:solidFill>
                        </a:rPr>
                        <a:t>Presentaciones a Dirección, Consejo y Sistemas</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algn="l" indent="0" marL="0">
                        <a:buNone/>
                      </a:pPr>
                      <a:r>
                        <a:rPr lang="en-US" sz="1150" dirty="0">
                          <a:solidFill>
                            <a:schemeClr val="tx1"/>
                          </a:solidFill>
                        </a:rPr>
                        <a:t>4 piezas, 24 láminas, speech</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algn="r" indent="0" marL="0">
                        <a:buNone/>
                      </a:pPr>
                      <a:r>
                        <a:rPr lang="en-US" sz="1150" dirty="0">
                          <a:solidFill>
                            <a:schemeClr val="tx1"/>
                          </a:solidFill>
                        </a:rPr>
                        <a:t>28</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algn="r" indent="0" marL="0">
                        <a:buNone/>
                      </a:pPr>
                      <a:r>
                        <a:rPr lang="en-US" sz="1150" dirty="0">
                          <a:solidFill>
                            <a:schemeClr val="tx1"/>
                          </a:solidFill>
                        </a:rPr>
                        <a:t>37,380</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algn="l" indent="0" marL="0">
                        <a:buNone/>
                      </a:pPr>
                      <a:r>
                        <a:rPr lang="en-US" sz="1150" dirty="0">
                          <a:solidFill>
                            <a:schemeClr val="tx1"/>
                          </a:solidFill>
                        </a:rPr>
                        <a:t>Investigación de campo</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algn="l" indent="0" marL="0">
                        <a:buNone/>
                      </a:pPr>
                      <a:r>
                        <a:rPr lang="en-US" sz="1150" dirty="0">
                          <a:solidFill>
                            <a:schemeClr val="tx1"/>
                          </a:solidFill>
                        </a:rPr>
                        <a:t>Workshop y 15 entrevistas, 13 clubes</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algn="r" indent="0" marL="0">
                        <a:buNone/>
                      </a:pPr>
                      <a:r>
                        <a:rPr lang="en-US" sz="1150" dirty="0">
                          <a:solidFill>
                            <a:schemeClr val="tx1"/>
                          </a:solidFill>
                        </a:rPr>
                        <a:t>32</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algn="r" indent="0" marL="0">
                        <a:buNone/>
                      </a:pPr>
                      <a:r>
                        <a:rPr lang="en-US" sz="1150" dirty="0">
                          <a:solidFill>
                            <a:schemeClr val="tx1"/>
                          </a:solidFill>
                        </a:rPr>
                        <a:t>42,720</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algn="l" indent="0" marL="0">
                        <a:buNone/>
                      </a:pPr>
                      <a:r>
                        <a:rPr lang="en-US" sz="1150" dirty="0">
                          <a:solidFill>
                            <a:schemeClr val="tx1"/>
                          </a:solidFill>
                        </a:rPr>
                        <a:t>Documentación del sistema</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algn="l" indent="0" marL="0">
                        <a:buNone/>
                      </a:pPr>
                      <a:r>
                        <a:rPr lang="en-US" sz="1150" dirty="0">
                          <a:solidFill>
                            <a:schemeClr val="tx1"/>
                          </a:solidFill>
                        </a:rPr>
                        <a:t>31 documentos, 80,482 palabras</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algn="r" indent="0" marL="0">
                        <a:buNone/>
                      </a:pPr>
                      <a:r>
                        <a:rPr lang="en-US" sz="1150" dirty="0">
                          <a:solidFill>
                            <a:schemeClr val="tx1"/>
                          </a:solidFill>
                        </a:rPr>
                        <a:t>96</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algn="r" indent="0" marL="0">
                        <a:buNone/>
                      </a:pPr>
                      <a:r>
                        <a:rPr lang="en-US" sz="1150" dirty="0">
                          <a:solidFill>
                            <a:schemeClr val="tx1"/>
                          </a:solidFill>
                        </a:rPr>
                        <a:t>128,160</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algn="l" indent="0" marL="0">
                        <a:buNone/>
                      </a:pPr>
                      <a:r>
                        <a:rPr lang="en-US" sz="1150" dirty="0">
                          <a:solidFill>
                            <a:schemeClr val="tx1"/>
                          </a:solidFill>
                        </a:rPr>
                        <a:t>Especificación UX v4.2</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algn="l" indent="0" marL="0">
                        <a:buNone/>
                      </a:pPr>
                      <a:r>
                        <a:rPr lang="en-US" sz="1150" dirty="0">
                          <a:solidFill>
                            <a:schemeClr val="tx1"/>
                          </a:solidFill>
                        </a:rPr>
                        <a:t>22,727 palabras</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algn="r" indent="0" marL="0">
                        <a:buNone/>
                      </a:pPr>
                      <a:r>
                        <a:rPr lang="en-US" sz="1150" dirty="0">
                          <a:solidFill>
                            <a:schemeClr val="tx1"/>
                          </a:solidFill>
                        </a:rPr>
                        <a:t>28</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algn="r" indent="0" marL="0">
                        <a:buNone/>
                      </a:pPr>
                      <a:r>
                        <a:rPr lang="en-US" sz="1150" dirty="0">
                          <a:solidFill>
                            <a:schemeClr val="tx1"/>
                          </a:solidFill>
                        </a:rPr>
                        <a:t>37,380</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algn="l" indent="0" marL="0">
                        <a:buNone/>
                      </a:pPr>
                      <a:r>
                        <a:rPr lang="en-US" sz="1150" dirty="0">
                          <a:solidFill>
                            <a:schemeClr val="tx1"/>
                          </a:solidFill>
                        </a:rPr>
                        <a:t>Proceso comercial y propuestas comerciales</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algn="l" indent="0" marL="0">
                        <a:buNone/>
                      </a:pPr>
                      <a:r>
                        <a:rPr lang="en-US" sz="1150" dirty="0">
                          <a:solidFill>
                            <a:schemeClr val="tx1"/>
                          </a:solidFill>
                        </a:rPr>
                        <a:t>13 documentos, 81,615 palabras</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algn="r" indent="0" marL="0">
                        <a:buNone/>
                      </a:pPr>
                      <a:r>
                        <a:rPr lang="en-US" sz="1150" dirty="0">
                          <a:solidFill>
                            <a:schemeClr val="tx1"/>
                          </a:solidFill>
                        </a:rPr>
                        <a:t>72</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algn="r" indent="0" marL="0">
                        <a:buNone/>
                      </a:pPr>
                      <a:r>
                        <a:rPr lang="en-US" sz="1150" dirty="0">
                          <a:solidFill>
                            <a:schemeClr val="tx1"/>
                          </a:solidFill>
                        </a:rPr>
                        <a:t>96,120</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algn="l" indent="0" marL="0">
                        <a:buNone/>
                      </a:pPr>
                      <a:r>
                        <a:rPr lang="en-US" sz="1150" dirty="0">
                          <a:solidFill>
                            <a:schemeClr val="tx1"/>
                          </a:solidFill>
                        </a:rPr>
                        <a:t>Software demostrable</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algn="l" indent="0" marL="0">
                        <a:buNone/>
                      </a:pPr>
                      <a:r>
                        <a:rPr lang="en-US" sz="1150" dirty="0">
                          <a:solidFill>
                            <a:schemeClr val="tx1"/>
                          </a:solidFill>
                        </a:rPr>
                        <a:t>24,329 líneas de código</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algn="r" indent="0" marL="0">
                        <a:buNone/>
                      </a:pPr>
                      <a:r>
                        <a:rPr lang="en-US" sz="1150" dirty="0">
                          <a:solidFill>
                            <a:schemeClr val="tx1"/>
                          </a:solidFill>
                        </a:rPr>
                        <a:t>96</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algn="r" indent="0" marL="0">
                        <a:buNone/>
                      </a:pPr>
                      <a:r>
                        <a:rPr lang="en-US" sz="1150" dirty="0">
                          <a:solidFill>
                            <a:schemeClr val="tx1"/>
                          </a:solidFill>
                        </a:rPr>
                        <a:t>128,160</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algn="l" indent="0" marL="0">
                        <a:buNone/>
                      </a:pPr>
                      <a:r>
                        <a:rPr lang="en-US" sz="1150" dirty="0">
                          <a:solidFill>
                            <a:schemeClr val="tx1"/>
                          </a:solidFill>
                        </a:rPr>
                        <a:t>Agente conversacional</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algn="l" indent="0" marL="0">
                        <a:buNone/>
                      </a:pPr>
                      <a:r>
                        <a:rPr lang="en-US" sz="1150" dirty="0">
                          <a:solidFill>
                            <a:schemeClr val="tx1"/>
                          </a:solidFill>
                        </a:rPr>
                        <a:t>3 demos, base de conocimiento</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algn="r" indent="0" marL="0">
                        <a:buNone/>
                      </a:pPr>
                      <a:r>
                        <a:rPr lang="en-US" sz="1150" dirty="0">
                          <a:solidFill>
                            <a:schemeClr val="tx1"/>
                          </a:solidFill>
                        </a:rPr>
                        <a:t>28</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algn="r" indent="0" marL="0">
                        <a:buNone/>
                      </a:pPr>
                      <a:r>
                        <a:rPr lang="en-US" sz="1150" dirty="0">
                          <a:solidFill>
                            <a:schemeClr val="tx1"/>
                          </a:solidFill>
                        </a:rPr>
                        <a:t>37,380</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algn="l" indent="0" marL="0">
                        <a:buNone/>
                      </a:pPr>
                      <a:r>
                        <a:rPr lang="en-US" sz="1150" dirty="0">
                          <a:solidFill>
                            <a:schemeClr val="tx1"/>
                          </a:solidFill>
                        </a:rPr>
                        <a:t>Documentos contractuales y administrativos</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algn="l" indent="0" marL="0">
                        <a:buNone/>
                      </a:pPr>
                      <a:r>
                        <a:rPr lang="en-US" sz="1150" dirty="0">
                          <a:solidFill>
                            <a:schemeClr val="tx1"/>
                          </a:solidFill>
                        </a:rPr>
                        <a:t>4 versiones, 2 addenda, separados</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algn="r" indent="0" marL="0">
                        <a:buNone/>
                      </a:pPr>
                      <a:r>
                        <a:rPr lang="en-US" sz="1150" dirty="0">
                          <a:solidFill>
                            <a:schemeClr val="tx1"/>
                          </a:solidFill>
                        </a:rPr>
                        <a:t>24</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algn="r" indent="0" marL="0">
                        <a:buNone/>
                      </a:pPr>
                      <a:r>
                        <a:rPr lang="en-US" sz="1150" dirty="0">
                          <a:solidFill>
                            <a:schemeClr val="tx1"/>
                          </a:solidFill>
                        </a:rPr>
                        <a:t>32,040</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algn="l" indent="0" marL="0">
                        <a:buNone/>
                      </a:pPr>
                      <a:r>
                        <a:rPr lang="en-US" sz="1150" dirty="0">
                          <a:solidFill>
                            <a:schemeClr val="tx1"/>
                          </a:solidFill>
                        </a:rPr>
                        <a:t>Gestión del proyecto y reuniones</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algn="l" indent="0" marL="0">
                        <a:buNone/>
                      </a:pPr>
                      <a:r>
                        <a:rPr lang="en-US" sz="1150" dirty="0">
                          <a:solidFill>
                            <a:schemeClr val="tx1"/>
                          </a:solidFill>
                        </a:rPr>
                        <a:t>7 meses, más de 20 reuniones</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algn="r" indent="0" marL="0">
                        <a:buNone/>
                      </a:pPr>
                      <a:r>
                        <a:rPr lang="en-US" sz="1150" dirty="0">
                          <a:solidFill>
                            <a:schemeClr val="tx1"/>
                          </a:solidFill>
                        </a:rPr>
                        <a:t>32</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algn="r" indent="0" marL="0">
                        <a:buNone/>
                      </a:pPr>
                      <a:r>
                        <a:rPr lang="en-US" sz="1150" dirty="0">
                          <a:solidFill>
                            <a:schemeClr val="tx1"/>
                          </a:solidFill>
                        </a:rPr>
                        <a:t>42,720</a:t>
                      </a:r>
                      <a:endParaRPr lang="en-US" sz="1150" dirty="0"/>
                    </a:p>
                  </a:txBody>
                  <a:tcPr marL="45720" marR="45720" marT="45720" marB="45720"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bl>
          </a:graphicData>
        </a:graphic>
      </p:graphicFrame>
      <p:sp>
        <p:nvSpPr>
          <p:cNvPr id="6" name="totales"/>
          <p:cNvSpPr/>
          <p:nvPr/>
        </p:nvSpPr>
        <p:spPr>
          <a:xfrm>
            <a:off x="548640" y="4983480"/>
            <a:ext cx="11091672" cy="868680"/>
          </a:xfrm>
          <a:prstGeom prst="roundRect">
            <a:avLst>
              <a:gd name="adj" fmla="val 8421"/>
            </a:avLst>
          </a:prstGeom>
          <a:solidFill>
            <a:schemeClr val="tx1"/>
          </a:solidFill>
          <a:ln w="9525">
            <a:solidFill>
              <a:schemeClr val="tx1"/>
            </a:solidFill>
            <a:prstDash val="solid"/>
          </a:ln>
        </p:spPr>
      </p:sp>
      <p:sp>
        <p:nvSpPr>
          <p:cNvPr id="7" name="t1"/>
          <p:cNvSpPr txBox="1"/>
          <p:nvPr/>
        </p:nvSpPr>
        <p:spPr>
          <a:xfrm>
            <a:off x="822960" y="5120640"/>
            <a:ext cx="3931920" cy="594360"/>
          </a:xfrm>
          <a:prstGeom prst="rect">
            <a:avLst/>
          </a:prstGeom>
          <a:noFill/>
          <a:ln/>
        </p:spPr>
        <p:txBody>
          <a:bodyPr wrap="square" lIns="0" tIns="0" rIns="0" bIns="0" rtlCol="0" anchor="ctr"/>
          <a:lstStyle/>
          <a:p>
            <a:pPr indent="0" marL="0">
              <a:buNone/>
            </a:pPr>
            <a:r>
              <a:rPr lang="en-US" sz="1300" dirty="0">
                <a:solidFill>
                  <a:schemeClr val="accent3"/>
                </a:solidFill>
              </a:rPr>
              <a:t>460 horas × 1,335 MXN = </a:t>
            </a:r>
            <a:pPr indent="0" marL="0">
              <a:buNone/>
            </a:pPr>
            <a:r>
              <a:rPr lang="en-US" sz="1300" b="1" dirty="0">
                <a:solidFill>
                  <a:schemeClr val="accent3"/>
                </a:solidFill>
              </a:rPr>
              <a:t>614,100 MXN</a:t>
            </a:r>
            <a:endParaRPr lang="en-US" sz="1300" dirty="0"/>
          </a:p>
        </p:txBody>
      </p:sp>
      <p:sp>
        <p:nvSpPr>
          <p:cNvPr id="8" name="t2"/>
          <p:cNvSpPr txBox="1"/>
          <p:nvPr/>
        </p:nvSpPr>
        <p:spPr>
          <a:xfrm>
            <a:off x="4846320" y="5120640"/>
            <a:ext cx="3291840" cy="594360"/>
          </a:xfrm>
          <a:prstGeom prst="rect">
            <a:avLst/>
          </a:prstGeom>
          <a:noFill/>
          <a:ln/>
        </p:spPr>
        <p:txBody>
          <a:bodyPr wrap="square" lIns="0" tIns="0" rIns="0" bIns="0" rtlCol="0" anchor="ctr"/>
          <a:lstStyle/>
          <a:p>
            <a:pPr indent="0" marL="0">
              <a:buNone/>
            </a:pPr>
            <a:r>
              <a:rPr lang="en-US" sz="1300" dirty="0">
                <a:solidFill>
                  <a:schemeClr val="accent3"/>
                </a:solidFill>
              </a:rPr>
              <a:t>Honorarios legales erogados: </a:t>
            </a:r>
            <a:pPr indent="0" marL="0">
              <a:buNone/>
            </a:pPr>
            <a:r>
              <a:rPr lang="en-US" sz="1300" b="1" dirty="0">
                <a:solidFill>
                  <a:schemeClr val="accent3"/>
                </a:solidFill>
              </a:rPr>
              <a:t>35,000 MXN</a:t>
            </a:r>
            <a:endParaRPr lang="en-US" sz="1300" dirty="0"/>
          </a:p>
        </p:txBody>
      </p:sp>
      <p:sp>
        <p:nvSpPr>
          <p:cNvPr id="9" name="t3"/>
          <p:cNvSpPr txBox="1"/>
          <p:nvPr/>
        </p:nvSpPr>
        <p:spPr>
          <a:xfrm>
            <a:off x="8229600" y="5074920"/>
            <a:ext cx="3136392" cy="685800"/>
          </a:xfrm>
          <a:prstGeom prst="rect">
            <a:avLst/>
          </a:prstGeom>
          <a:noFill/>
          <a:ln/>
        </p:spPr>
        <p:txBody>
          <a:bodyPr wrap="square" lIns="0" tIns="0" rIns="0" bIns="0" rtlCol="0" anchor="ctr"/>
          <a:lstStyle/>
          <a:p>
            <a:pPr algn="r" indent="0" marL="0">
              <a:buNone/>
            </a:pPr>
            <a:r>
              <a:rPr lang="en-US" sz="2600" dirty="0">
                <a:solidFill>
                  <a:schemeClr val="bg1"/>
                </a:solidFill>
                <a:latin typeface="Cambria" pitchFamily="34" charset="0"/>
                <a:ea typeface="Cambria" pitchFamily="34" charset="-122"/>
                <a:cs typeface="Cambria" pitchFamily="34" charset="-120"/>
              </a:rPr>
              <a:t>649,100 MXN</a:t>
            </a:r>
            <a:endParaRPr lang="en-US" sz="2600" dirty="0"/>
          </a:p>
        </p:txBody>
      </p:sp>
      <p:sp>
        <p:nvSpPr>
          <p:cNvPr id="10" name="nota"/>
          <p:cNvSpPr txBox="1"/>
          <p:nvPr/>
        </p:nvSpPr>
        <p:spPr>
          <a:xfrm>
            <a:off x="548640" y="5943600"/>
            <a:ext cx="11091672" cy="365760"/>
          </a:xfrm>
          <a:prstGeom prst="rect">
            <a:avLst/>
          </a:prstGeom>
          <a:noFill/>
          <a:ln/>
        </p:spPr>
        <p:txBody>
          <a:bodyPr wrap="square" lIns="0" tIns="0" rIns="0" bIns="0" rtlCol="0" anchor="ctr"/>
          <a:lstStyle/>
          <a:p>
            <a:pPr indent="0" marL="0">
              <a:buNone/>
            </a:pPr>
            <a:r>
              <a:rPr lang="en-US" sz="1100" dirty="0">
                <a:solidFill>
                  <a:schemeClr val="tx2"/>
                </a:solidFill>
              </a:rPr>
              <a:t>Tarifa: USD 75 (MXN 1,335) por hora sin IVA, la misma que fija el contrato del 29 de septiembre. Horas estimadas de forma conservadora. Nada se ha facturado.</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1672" cy="274320"/>
          </a:xfrm>
          <a:prstGeom prst="rect">
            <a:avLst/>
          </a:prstGeom>
          <a:noFill/>
          <a:ln/>
        </p:spPr>
        <p:txBody>
          <a:bodyPr wrap="square" lIns="0" tIns="0" rIns="0" bIns="0" rtlCol="0"/>
          <a:lstStyle/>
          <a:p>
            <a:pPr indent="0" marL="0">
              <a:buNone/>
            </a:pPr>
            <a:r>
              <a:rPr lang="en-US" sz="1100" spc="300" kern="0" dirty="0">
                <a:solidFill>
                  <a:schemeClr val="accent1"/>
                </a:solidFill>
              </a:rPr>
              <a:t>CIERRE · BASE DE LA PROPUESTA</a:t>
            </a:r>
            <a:endParaRPr lang="en-US" sz="11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000" dirty="0">
                <a:solidFill>
                  <a:schemeClr val="tx1"/>
                </a:solidFill>
              </a:rPr>
              <a:t>Lo que sostiene la propuesta</a:t>
            </a:r>
            <a:endParaRPr lang="en-US" sz="3000" dirty="0"/>
          </a:p>
        </p:txBody>
      </p:sp>
      <p:sp>
        <p:nvSpPr>
          <p:cNvPr id="5" name="q0"/>
          <p:cNvSpPr/>
          <p:nvPr/>
        </p:nvSpPr>
        <p:spPr>
          <a:xfrm>
            <a:off x="548640" y="1691640"/>
            <a:ext cx="6035040" cy="1234440"/>
          </a:xfrm>
          <a:prstGeom prst="roundRect">
            <a:avLst>
              <a:gd name="adj" fmla="val 5926"/>
            </a:avLst>
          </a:prstGeom>
          <a:solidFill>
            <a:schemeClr val="accent6"/>
          </a:solidFill>
          <a:ln w="9525">
            <a:solidFill>
              <a:schemeClr val="accent5"/>
            </a:solidFill>
            <a:prstDash val="solid"/>
          </a:ln>
        </p:spPr>
      </p:sp>
      <p:sp>
        <p:nvSpPr>
          <p:cNvPr id="6" name="qt0"/>
          <p:cNvSpPr txBox="1"/>
          <p:nvPr/>
        </p:nvSpPr>
        <p:spPr>
          <a:xfrm>
            <a:off x="777240" y="1801368"/>
            <a:ext cx="5577840" cy="731520"/>
          </a:xfrm>
          <a:prstGeom prst="rect">
            <a:avLst/>
          </a:prstGeom>
          <a:noFill/>
          <a:ln/>
        </p:spPr>
        <p:txBody>
          <a:bodyPr wrap="square" lIns="0" tIns="0" rIns="0" bIns="0" rtlCol="0" anchor="t"/>
          <a:lstStyle/>
          <a:p>
            <a:pPr indent="0" marL="0">
              <a:buNone/>
            </a:pPr>
            <a:r>
              <a:rPr lang="en-US" sz="1400" i="1" dirty="0">
                <a:solidFill>
                  <a:schemeClr val="tx1"/>
                </a:solidFill>
                <a:latin typeface="Cambria" pitchFamily="34" charset="0"/>
                <a:ea typeface="Cambria" pitchFamily="34" charset="-122"/>
                <a:cs typeface="Cambria" pitchFamily="34" charset="-120"/>
              </a:rPr>
              <a:t>Sports World solicitó por escrito veinte entregables entre marzo y septiembre; todos fueron atendidos.</a:t>
            </a:r>
            <a:endParaRPr lang="en-US" sz="1400" dirty="0"/>
          </a:p>
        </p:txBody>
      </p:sp>
      <p:sp>
        <p:nvSpPr>
          <p:cNvPr id="7" name="qs0"/>
          <p:cNvSpPr txBox="1"/>
          <p:nvPr/>
        </p:nvSpPr>
        <p:spPr>
          <a:xfrm>
            <a:off x="777240" y="2560320"/>
            <a:ext cx="5577840" cy="274320"/>
          </a:xfrm>
          <a:prstGeom prst="rect">
            <a:avLst/>
          </a:prstGeom>
          <a:noFill/>
          <a:ln/>
        </p:spPr>
        <p:txBody>
          <a:bodyPr wrap="square" lIns="0" tIns="0" rIns="0" bIns="0" rtlCol="0" anchor="ctr"/>
          <a:lstStyle/>
          <a:p>
            <a:pPr indent="0" marL="0">
              <a:buNone/>
            </a:pPr>
            <a:r>
              <a:rPr lang="en-US" sz="1100" dirty="0">
                <a:solidFill>
                  <a:schemeClr val="tx2"/>
                </a:solidFill>
              </a:rPr>
              <a:t>Correspondencia entre Final Upgrade y Sports World, 2026</a:t>
            </a:r>
            <a:endParaRPr lang="en-US" sz="1100" dirty="0"/>
          </a:p>
        </p:txBody>
      </p:sp>
      <p:sp>
        <p:nvSpPr>
          <p:cNvPr id="8" name="q1"/>
          <p:cNvSpPr/>
          <p:nvPr/>
        </p:nvSpPr>
        <p:spPr>
          <a:xfrm>
            <a:off x="548640" y="3108960"/>
            <a:ext cx="6035040" cy="1234440"/>
          </a:xfrm>
          <a:prstGeom prst="roundRect">
            <a:avLst>
              <a:gd name="adj" fmla="val 5926"/>
            </a:avLst>
          </a:prstGeom>
          <a:solidFill>
            <a:schemeClr val="accent6"/>
          </a:solidFill>
          <a:ln w="9525">
            <a:solidFill>
              <a:schemeClr val="accent5"/>
            </a:solidFill>
            <a:prstDash val="solid"/>
          </a:ln>
        </p:spPr>
      </p:sp>
      <p:sp>
        <p:nvSpPr>
          <p:cNvPr id="9" name="qt1"/>
          <p:cNvSpPr txBox="1"/>
          <p:nvPr/>
        </p:nvSpPr>
        <p:spPr>
          <a:xfrm>
            <a:off x="777240" y="3218688"/>
            <a:ext cx="5577840" cy="731520"/>
          </a:xfrm>
          <a:prstGeom prst="rect">
            <a:avLst/>
          </a:prstGeom>
          <a:noFill/>
          <a:ln/>
        </p:spPr>
        <p:txBody>
          <a:bodyPr wrap="square" lIns="0" tIns="0" rIns="0" bIns="0" rtlCol="0" anchor="t"/>
          <a:lstStyle/>
          <a:p>
            <a:pPr indent="0" marL="0">
              <a:buNone/>
            </a:pPr>
            <a:r>
              <a:rPr lang="en-US" sz="1400" i="1" dirty="0">
                <a:solidFill>
                  <a:schemeClr val="tx1"/>
                </a:solidFill>
                <a:latin typeface="Cambria" pitchFamily="34" charset="0"/>
                <a:ea typeface="Cambria" pitchFamily="34" charset="-122"/>
                <a:cs typeface="Cambria" pitchFamily="34" charset="-120"/>
              </a:rPr>
              <a:t>Legal de Sports World recibe el contrato final para firma.</a:t>
            </a:r>
            <a:endParaRPr lang="en-US" sz="1400" dirty="0"/>
          </a:p>
        </p:txBody>
      </p:sp>
      <p:sp>
        <p:nvSpPr>
          <p:cNvPr id="10" name="qs1"/>
          <p:cNvSpPr txBox="1"/>
          <p:nvPr/>
        </p:nvSpPr>
        <p:spPr>
          <a:xfrm>
            <a:off x="777240" y="3977640"/>
            <a:ext cx="5577840" cy="274320"/>
          </a:xfrm>
          <a:prstGeom prst="rect">
            <a:avLst/>
          </a:prstGeom>
          <a:noFill/>
          <a:ln/>
        </p:spPr>
        <p:txBody>
          <a:bodyPr wrap="square" lIns="0" tIns="0" rIns="0" bIns="0" rtlCol="0" anchor="ctr"/>
          <a:lstStyle/>
          <a:p>
            <a:pPr indent="0" marL="0">
              <a:buNone/>
            </a:pPr>
            <a:r>
              <a:rPr lang="en-US" sz="1100" dirty="0">
                <a:solidFill>
                  <a:schemeClr val="tx2"/>
                </a:solidFill>
              </a:rPr>
              <a:t>29 de septiembre de 2026</a:t>
            </a:r>
            <a:endParaRPr lang="en-US" sz="1100" dirty="0"/>
          </a:p>
        </p:txBody>
      </p:sp>
      <p:sp>
        <p:nvSpPr>
          <p:cNvPr id="11" name="q2"/>
          <p:cNvSpPr/>
          <p:nvPr/>
        </p:nvSpPr>
        <p:spPr>
          <a:xfrm>
            <a:off x="548640" y="4526280"/>
            <a:ext cx="6035040" cy="1234440"/>
          </a:xfrm>
          <a:prstGeom prst="roundRect">
            <a:avLst>
              <a:gd name="adj" fmla="val 5926"/>
            </a:avLst>
          </a:prstGeom>
          <a:solidFill>
            <a:schemeClr val="accent6"/>
          </a:solidFill>
          <a:ln w="9525">
            <a:solidFill>
              <a:schemeClr val="accent5"/>
            </a:solidFill>
            <a:prstDash val="solid"/>
          </a:ln>
        </p:spPr>
      </p:sp>
      <p:sp>
        <p:nvSpPr>
          <p:cNvPr id="12" name="qt2"/>
          <p:cNvSpPr txBox="1"/>
          <p:nvPr/>
        </p:nvSpPr>
        <p:spPr>
          <a:xfrm>
            <a:off x="777240" y="4636008"/>
            <a:ext cx="5577840" cy="731520"/>
          </a:xfrm>
          <a:prstGeom prst="rect">
            <a:avLst/>
          </a:prstGeom>
          <a:noFill/>
          <a:ln/>
        </p:spPr>
        <p:txBody>
          <a:bodyPr wrap="square" lIns="0" tIns="0" rIns="0" bIns="0" rtlCol="0" anchor="t"/>
          <a:lstStyle/>
          <a:p>
            <a:pPr indent="0" marL="0">
              <a:buNone/>
            </a:pPr>
            <a:r>
              <a:rPr lang="en-US" sz="1400" i="1" dirty="0">
                <a:solidFill>
                  <a:schemeClr val="tx1"/>
                </a:solidFill>
                <a:latin typeface="Cambria" pitchFamily="34" charset="0"/>
                <a:ea typeface="Cambria" pitchFamily="34" charset="-122"/>
                <a:cs typeface="Cambria" pitchFamily="34" charset="-120"/>
              </a:rPr>
              <a:t>Sports World comunica la autorización interna del presupuesto y pide acelerar.</a:t>
            </a:r>
            <a:endParaRPr lang="en-US" sz="1400" dirty="0"/>
          </a:p>
        </p:txBody>
      </p:sp>
      <p:sp>
        <p:nvSpPr>
          <p:cNvPr id="13" name="qs2"/>
          <p:cNvSpPr txBox="1"/>
          <p:nvPr/>
        </p:nvSpPr>
        <p:spPr>
          <a:xfrm>
            <a:off x="777240" y="5394960"/>
            <a:ext cx="5577840" cy="274320"/>
          </a:xfrm>
          <a:prstGeom prst="rect">
            <a:avLst/>
          </a:prstGeom>
          <a:noFill/>
          <a:ln/>
        </p:spPr>
        <p:txBody>
          <a:bodyPr wrap="square" lIns="0" tIns="0" rIns="0" bIns="0" rtlCol="0" anchor="ctr"/>
          <a:lstStyle/>
          <a:p>
            <a:pPr indent="0" marL="0">
              <a:buNone/>
            </a:pPr>
            <a:r>
              <a:rPr lang="en-US" sz="1100" dirty="0">
                <a:solidFill>
                  <a:schemeClr val="tx2"/>
                </a:solidFill>
              </a:rPr>
              <a:t>5 de mayo de 2026</a:t>
            </a:r>
            <a:endParaRPr lang="en-US" sz="1100" dirty="0"/>
          </a:p>
        </p:txBody>
      </p:sp>
      <p:sp>
        <p:nvSpPr>
          <p:cNvPr id="14" name="hechos"/>
          <p:cNvSpPr/>
          <p:nvPr/>
        </p:nvSpPr>
        <p:spPr>
          <a:xfrm>
            <a:off x="6858000" y="1691640"/>
            <a:ext cx="4782312" cy="4251960"/>
          </a:xfrm>
          <a:prstGeom prst="roundRect">
            <a:avLst>
              <a:gd name="adj" fmla="val 1720"/>
            </a:avLst>
          </a:prstGeom>
          <a:solidFill>
            <a:schemeClr val="tx1"/>
          </a:solidFill>
          <a:ln w="9525">
            <a:solidFill>
              <a:schemeClr val="tx1"/>
            </a:solidFill>
            <a:prstDash val="solid"/>
          </a:ln>
        </p:spPr>
      </p:sp>
      <p:sp>
        <p:nvSpPr>
          <p:cNvPr id="15" name="h"/>
          <p:cNvSpPr txBox="1"/>
          <p:nvPr/>
        </p:nvSpPr>
        <p:spPr>
          <a:xfrm>
            <a:off x="7086600" y="1828800"/>
            <a:ext cx="4325112" cy="365760"/>
          </a:xfrm>
          <a:prstGeom prst="rect">
            <a:avLst/>
          </a:prstGeom>
          <a:noFill/>
          <a:ln/>
        </p:spPr>
        <p:txBody>
          <a:bodyPr wrap="square" lIns="0" tIns="0" rIns="0" bIns="0" rtlCol="0" anchor="ctr"/>
          <a:lstStyle/>
          <a:p>
            <a:pPr indent="0" marL="0">
              <a:buNone/>
            </a:pPr>
            <a:r>
              <a:rPr lang="en-US" sz="1500" b="1" dirty="0">
                <a:solidFill>
                  <a:schemeClr val="bg1"/>
                </a:solidFill>
              </a:rPr>
              <a:t>Hechos que sostienen la propuesta</a:t>
            </a:r>
            <a:endParaRPr lang="en-US" sz="1500" dirty="0"/>
          </a:p>
        </p:txBody>
      </p:sp>
      <p:sp>
        <p:nvSpPr>
          <p:cNvPr id="16" name="lista"/>
          <p:cNvSpPr txBox="1"/>
          <p:nvPr/>
        </p:nvSpPr>
        <p:spPr>
          <a:xfrm>
            <a:off x="7086600" y="2286000"/>
            <a:ext cx="4325112" cy="3566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accent3"/>
                </a:solidFill>
              </a:rPr>
              <a:t>Documentación, especificaciones, procesos, código y demos son obra de Final Upgrade; ningún derecho de uso se ha cedido.</a:t>
            </a:r>
            <a:endParaRPr lang="en-US" sz="1250" dirty="0"/>
          </a:p>
          <a:p>
            <a:pPr marL="342900" indent="-342900">
              <a:spcAft>
                <a:spcPts val="600"/>
              </a:spcAft>
              <a:buSzPct val="100000"/>
              <a:buChar char="•"/>
            </a:pPr>
            <a:r>
              <a:rPr lang="en-US" sz="1250" dirty="0">
                <a:solidFill>
                  <a:schemeClr val="accent3"/>
                </a:solidFill>
              </a:rPr>
              <a:t>El consolidado de costos de Final Upgrade se compartió con el proveedor actual el 17 de septiembre, bajo un acuerdo de confidencialidad vigente.</a:t>
            </a:r>
            <a:endParaRPr lang="en-US" sz="1250" dirty="0"/>
          </a:p>
          <a:p>
            <a:pPr marL="342900" indent="-342900">
              <a:spcAft>
                <a:spcPts val="600"/>
              </a:spcAft>
              <a:buSzPct val="100000"/>
              <a:buChar char="•"/>
            </a:pPr>
            <a:r>
              <a:rPr lang="en-US" sz="1250" dirty="0">
                <a:solidFill>
                  <a:schemeClr val="accent3"/>
                </a:solidFill>
              </a:rPr>
              <a:t>Nunca se comunicaron bases ni criterios de comparación entre proveedores.</a:t>
            </a:r>
            <a:endParaRPr lang="en-US" sz="1250" dirty="0"/>
          </a:p>
          <a:p>
            <a:pPr marL="342900" indent="-342900">
              <a:spcAft>
                <a:spcPts val="600"/>
              </a:spcAft>
              <a:buSzPct val="100000"/>
              <a:buChar char="•"/>
            </a:pPr>
            <a:r>
              <a:rPr lang="en-US" sz="1250" dirty="0">
                <a:solidFill>
                  <a:schemeClr val="accent3"/>
                </a:solidFill>
              </a:rPr>
              <a:t>Final Upgrade es proveedor dado de alta, con un contrato previo cumplido, y busca continuar en 2027.</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548640" y="411480"/>
            <a:ext cx="11091672" cy="274320"/>
          </a:xfrm>
          <a:prstGeom prst="rect">
            <a:avLst/>
          </a:prstGeom>
          <a:noFill/>
          <a:ln/>
        </p:spPr>
        <p:txBody>
          <a:bodyPr wrap="square" lIns="0" tIns="0" rIns="0" bIns="0" rtlCol="0" anchor="ctr"/>
          <a:lstStyle/>
          <a:p>
            <a:pPr indent="0" marL="0">
              <a:buNone/>
            </a:pPr>
            <a:r>
              <a:rPr lang="en-US" sz="1100" spc="300" kern="0" dirty="0">
                <a:solidFill>
                  <a:schemeClr val="accent3"/>
                </a:solidFill>
              </a:rPr>
              <a:t>CIERRE · PROPUESTA</a:t>
            </a:r>
            <a:endParaRPr lang="en-US" sz="1100" dirty="0"/>
          </a:p>
        </p:txBody>
      </p:sp>
      <p:sp>
        <p:nvSpPr>
          <p:cNvPr id="3" name="titulo"/>
          <p:cNvSpPr txBox="1"/>
          <p:nvPr/>
        </p:nvSpPr>
        <p:spPr>
          <a:xfrm>
            <a:off x="548640" y="713232"/>
            <a:ext cx="11091672" cy="640080"/>
          </a:xfrm>
          <a:prstGeom prst="rect">
            <a:avLst/>
          </a:prstGeom>
          <a:noFill/>
          <a:ln/>
        </p:spPr>
        <p:txBody>
          <a:bodyPr wrap="square" lIns="0" tIns="0" rIns="0" bIns="0" rtlCol="0" anchor="ctr"/>
          <a:lstStyle/>
          <a:p>
            <a:pPr indent="0" marL="0">
              <a:buNone/>
            </a:pPr>
            <a:r>
              <a:rPr lang="en-US" sz="3000" dirty="0">
                <a:solidFill>
                  <a:schemeClr val="bg1"/>
                </a:solidFill>
                <a:latin typeface="Cambria" pitchFamily="34" charset="0"/>
                <a:ea typeface="Cambria" pitchFamily="34" charset="-122"/>
                <a:cs typeface="Cambria" pitchFamily="34" charset="-120"/>
              </a:rPr>
              <a:t>Dos formas de cerrar</a:t>
            </a:r>
            <a:endParaRPr lang="en-US" sz="3000" dirty="0"/>
          </a:p>
        </p:txBody>
      </p:sp>
      <p:sp>
        <p:nvSpPr>
          <p:cNvPr id="4" name="op0"/>
          <p:cNvSpPr/>
          <p:nvPr/>
        </p:nvSpPr>
        <p:spPr>
          <a:xfrm>
            <a:off x="548640" y="1600200"/>
            <a:ext cx="5362956" cy="4206240"/>
          </a:xfrm>
          <a:prstGeom prst="roundRect">
            <a:avLst>
              <a:gd name="adj" fmla="val 1739"/>
            </a:avLst>
          </a:prstGeom>
          <a:solidFill>
            <a:schemeClr val="bg1"/>
          </a:solidFill>
          <a:ln w="12700">
            <a:solidFill>
              <a:schemeClr val="bg1"/>
            </a:solidFill>
            <a:prstDash val="solid"/>
          </a:ln>
        </p:spPr>
      </p:sp>
      <p:sp>
        <p:nvSpPr>
          <p:cNvPr id="5" name="e0"/>
          <p:cNvSpPr txBox="1"/>
          <p:nvPr/>
        </p:nvSpPr>
        <p:spPr>
          <a:xfrm>
            <a:off x="822960" y="1783080"/>
            <a:ext cx="4814316" cy="274320"/>
          </a:xfrm>
          <a:prstGeom prst="rect">
            <a:avLst/>
          </a:prstGeom>
          <a:noFill/>
          <a:ln/>
        </p:spPr>
        <p:txBody>
          <a:bodyPr wrap="square" lIns="0" tIns="0" rIns="0" bIns="0" rtlCol="0" anchor="ctr"/>
          <a:lstStyle/>
          <a:p>
            <a:pPr indent="0" marL="0">
              <a:buNone/>
            </a:pPr>
            <a:r>
              <a:rPr lang="en-US" sz="1050" spc="200" kern="0" dirty="0">
                <a:solidFill>
                  <a:schemeClr val="accent1"/>
                </a:solidFill>
              </a:rPr>
              <a:t>OPCIÓN 1 · COMPENSACIÓN</a:t>
            </a:r>
            <a:endParaRPr lang="en-US" sz="1050" dirty="0"/>
          </a:p>
        </p:txBody>
      </p:sp>
      <p:sp>
        <p:nvSpPr>
          <p:cNvPr id="6" name="k0"/>
          <p:cNvSpPr txBox="1"/>
          <p:nvPr/>
        </p:nvSpPr>
        <p:spPr>
          <a:xfrm>
            <a:off x="822960" y="2103120"/>
            <a:ext cx="4814316" cy="822960"/>
          </a:xfrm>
          <a:prstGeom prst="rect">
            <a:avLst/>
          </a:prstGeom>
          <a:noFill/>
          <a:ln/>
        </p:spPr>
        <p:txBody>
          <a:bodyPr wrap="square" lIns="0" tIns="0" rIns="0" bIns="0" rtlCol="0" anchor="ctr"/>
          <a:lstStyle/>
          <a:p>
            <a:pPr indent="0" marL="0">
              <a:buNone/>
            </a:pPr>
            <a:r>
              <a:rPr lang="en-US" sz="4000" dirty="0">
                <a:solidFill>
                  <a:schemeClr val="tx1"/>
                </a:solidFill>
                <a:latin typeface="Cambria" pitchFamily="34" charset="0"/>
                <a:ea typeface="Cambria" pitchFamily="34" charset="-122"/>
                <a:cs typeface="Cambria" pitchFamily="34" charset="-120"/>
              </a:rPr>
              <a:t>350,000 MXN</a:t>
            </a:r>
            <a:endParaRPr lang="en-US" sz="4000" dirty="0"/>
          </a:p>
        </p:txBody>
      </p:sp>
      <p:sp>
        <p:nvSpPr>
          <p:cNvPr id="7" name="s0"/>
          <p:cNvSpPr txBox="1"/>
          <p:nvPr/>
        </p:nvSpPr>
        <p:spPr>
          <a:xfrm>
            <a:off x="822960" y="2926080"/>
            <a:ext cx="4814316" cy="274320"/>
          </a:xfrm>
          <a:prstGeom prst="rect">
            <a:avLst/>
          </a:prstGeom>
          <a:noFill/>
          <a:ln/>
        </p:spPr>
        <p:txBody>
          <a:bodyPr wrap="square" lIns="0" tIns="0" rIns="0" bIns="0" rtlCol="0" anchor="ctr"/>
          <a:lstStyle/>
          <a:p>
            <a:pPr indent="0" marL="0">
              <a:buNone/>
            </a:pPr>
            <a:r>
              <a:rPr lang="en-US" sz="1150" dirty="0">
                <a:solidFill>
                  <a:schemeClr val="tx2"/>
                </a:solidFill>
              </a:rPr>
              <a:t>más IVA · pago inmediato</a:t>
            </a:r>
            <a:endParaRPr lang="en-US" sz="1150" dirty="0"/>
          </a:p>
        </p:txBody>
      </p:sp>
      <p:sp>
        <p:nvSpPr>
          <p:cNvPr id="8" name="lista"/>
          <p:cNvSpPr txBox="1"/>
          <p:nvPr/>
        </p:nvSpPr>
        <p:spPr>
          <a:xfrm>
            <a:off x="822960" y="3291840"/>
            <a:ext cx="4814316" cy="2423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2"/>
                </a:solidFill>
              </a:rPr>
              <a:t>Compensa el trabajo ejecutado a petición de Sports World entre febrero y octubre de 2026.</a:t>
            </a:r>
            <a:endParaRPr lang="en-US" sz="1250" dirty="0"/>
          </a:p>
          <a:p>
            <a:pPr marL="342900" indent="-342900">
              <a:spcAft>
                <a:spcPts val="600"/>
              </a:spcAft>
              <a:buSzPct val="100000"/>
              <a:buChar char="•"/>
            </a:pPr>
            <a:r>
              <a:rPr lang="en-US" sz="1250" dirty="0">
                <a:solidFill>
                  <a:schemeClr val="tx2"/>
                </a:solidFill>
              </a:rPr>
              <a:t>Se acredita al 100 % contra el valor del proyecto si Sports World lo retoma, en 2027 o antes.</a:t>
            </a:r>
            <a:endParaRPr lang="en-US" sz="1250" dirty="0"/>
          </a:p>
          <a:p>
            <a:pPr marL="342900" indent="-342900">
              <a:spcAft>
                <a:spcPts val="600"/>
              </a:spcAft>
              <a:buSzPct val="100000"/>
              <a:buChar char="•"/>
            </a:pPr>
            <a:r>
              <a:rPr lang="en-US" sz="1250" dirty="0">
                <a:solidFill>
                  <a:schemeClr val="tx2"/>
                </a:solidFill>
              </a:rPr>
              <a:t>Final Upgrade conserva la propiedad de los entregables; Sports World no los usa ni los comparte con terceros.</a:t>
            </a:r>
            <a:endParaRPr lang="en-US" sz="1250" dirty="0"/>
          </a:p>
          <a:p>
            <a:pPr marL="342900" indent="-342900">
              <a:spcAft>
                <a:spcPts val="600"/>
              </a:spcAft>
              <a:buSzPct val="100000"/>
              <a:buChar char="•"/>
            </a:pPr>
            <a:r>
              <a:rPr lang="en-US" sz="1250" dirty="0">
                <a:solidFill>
                  <a:schemeClr val="tx2"/>
                </a:solidFill>
              </a:rPr>
              <a:t>Equivale a 54 % del valor de lo entregado (649,100 MXN). Deja abierta la relación y el proyecto listo para arrancar.</a:t>
            </a:r>
            <a:endParaRPr lang="en-US" sz="1250" dirty="0"/>
          </a:p>
        </p:txBody>
      </p:sp>
      <p:sp>
        <p:nvSpPr>
          <p:cNvPr id="9" name="op1"/>
          <p:cNvSpPr/>
          <p:nvPr/>
        </p:nvSpPr>
        <p:spPr>
          <a:xfrm>
            <a:off x="6277356" y="1600200"/>
            <a:ext cx="5362956" cy="4206240"/>
          </a:xfrm>
          <a:prstGeom prst="roundRect">
            <a:avLst>
              <a:gd name="adj" fmla="val 1739"/>
            </a:avLst>
          </a:prstGeom>
          <a:solidFill>
            <a:schemeClr val="bg1"/>
          </a:solidFill>
          <a:ln w="12700">
            <a:solidFill>
              <a:schemeClr val="bg1"/>
            </a:solidFill>
            <a:prstDash val="solid"/>
          </a:ln>
        </p:spPr>
      </p:sp>
      <p:sp>
        <p:nvSpPr>
          <p:cNvPr id="10" name="e1"/>
          <p:cNvSpPr txBox="1"/>
          <p:nvPr/>
        </p:nvSpPr>
        <p:spPr>
          <a:xfrm>
            <a:off x="6551676" y="1783080"/>
            <a:ext cx="4814316" cy="274320"/>
          </a:xfrm>
          <a:prstGeom prst="rect">
            <a:avLst/>
          </a:prstGeom>
          <a:noFill/>
          <a:ln/>
        </p:spPr>
        <p:txBody>
          <a:bodyPr wrap="square" lIns="0" tIns="0" rIns="0" bIns="0" rtlCol="0" anchor="ctr"/>
          <a:lstStyle/>
          <a:p>
            <a:pPr indent="0" marL="0">
              <a:buNone/>
            </a:pPr>
            <a:r>
              <a:rPr lang="en-US" sz="1050" spc="200" kern="0" dirty="0">
                <a:solidFill>
                  <a:schemeClr val="accent2"/>
                </a:solidFill>
              </a:rPr>
              <a:t>OPCIÓN 2 · ADQUISICIÓN DE TODAS LAS ETAPAS</a:t>
            </a:r>
            <a:endParaRPr lang="en-US" sz="1050" dirty="0"/>
          </a:p>
        </p:txBody>
      </p:sp>
      <p:sp>
        <p:nvSpPr>
          <p:cNvPr id="11" name="k1"/>
          <p:cNvSpPr txBox="1"/>
          <p:nvPr/>
        </p:nvSpPr>
        <p:spPr>
          <a:xfrm>
            <a:off x="6551676" y="2103120"/>
            <a:ext cx="4814316" cy="822960"/>
          </a:xfrm>
          <a:prstGeom prst="rect">
            <a:avLst/>
          </a:prstGeom>
          <a:noFill/>
          <a:ln/>
        </p:spPr>
        <p:txBody>
          <a:bodyPr wrap="square" lIns="0" tIns="0" rIns="0" bIns="0" rtlCol="0" anchor="ctr"/>
          <a:lstStyle/>
          <a:p>
            <a:pPr indent="0" marL="0">
              <a:buNone/>
            </a:pPr>
            <a:r>
              <a:rPr lang="en-US" sz="4000" dirty="0">
                <a:solidFill>
                  <a:schemeClr val="tx1"/>
                </a:solidFill>
                <a:latin typeface="Cambria" pitchFamily="34" charset="0"/>
                <a:ea typeface="Cambria" pitchFamily="34" charset="-122"/>
                <a:cs typeface="Cambria" pitchFamily="34" charset="-120"/>
              </a:rPr>
              <a:t>650,000 MXN</a:t>
            </a:r>
            <a:endParaRPr lang="en-US" sz="4000" dirty="0"/>
          </a:p>
        </p:txBody>
      </p:sp>
      <p:sp>
        <p:nvSpPr>
          <p:cNvPr id="12" name="s1"/>
          <p:cNvSpPr txBox="1"/>
          <p:nvPr/>
        </p:nvSpPr>
        <p:spPr>
          <a:xfrm>
            <a:off x="6551676" y="2926080"/>
            <a:ext cx="4814316" cy="274320"/>
          </a:xfrm>
          <a:prstGeom prst="rect">
            <a:avLst/>
          </a:prstGeom>
          <a:noFill/>
          <a:ln/>
        </p:spPr>
        <p:txBody>
          <a:bodyPr wrap="square" lIns="0" tIns="0" rIns="0" bIns="0" rtlCol="0" anchor="ctr"/>
          <a:lstStyle/>
          <a:p>
            <a:pPr indent="0" marL="0">
              <a:buNone/>
            </a:pPr>
            <a:r>
              <a:rPr lang="en-US" sz="1150" dirty="0">
                <a:solidFill>
                  <a:schemeClr val="tx2"/>
                </a:solidFill>
              </a:rPr>
              <a:t>más IVA · a la firma de la cesión</a:t>
            </a:r>
            <a:endParaRPr lang="en-US" sz="1150" dirty="0"/>
          </a:p>
        </p:txBody>
      </p:sp>
      <p:sp>
        <p:nvSpPr>
          <p:cNvPr id="13" name="lista"/>
          <p:cNvSpPr txBox="1"/>
          <p:nvPr/>
        </p:nvSpPr>
        <p:spPr>
          <a:xfrm>
            <a:off x="6551676" y="3291840"/>
            <a:ext cx="4814316" cy="2423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2"/>
                </a:solidFill>
              </a:rPr>
              <a:t>Sports World adquiere todos los entregables de todas las etapas: diagnóstico, investigación, arquitectura, especificación UX, proceso comercial, Academia, demos y código.</a:t>
            </a:r>
            <a:endParaRPr lang="en-US" sz="1250" dirty="0"/>
          </a:p>
          <a:p>
            <a:pPr marL="342900" indent="-342900">
              <a:spcAft>
                <a:spcPts val="600"/>
              </a:spcAft>
              <a:buSzPct val="100000"/>
              <a:buChar char="•"/>
            </a:pPr>
            <a:r>
              <a:rPr lang="en-US" sz="1250" dirty="0">
                <a:solidFill>
                  <a:schemeClr val="tx2"/>
                </a:solidFill>
              </a:rPr>
              <a:t>Cesión de derechos de uso y entrega de archivos editables.</a:t>
            </a:r>
            <a:endParaRPr lang="en-US" sz="1250" dirty="0"/>
          </a:p>
          <a:p>
            <a:pPr marL="342900" indent="-342900">
              <a:spcAft>
                <a:spcPts val="600"/>
              </a:spcAft>
              <a:buSzPct val="100000"/>
              <a:buChar char="•"/>
            </a:pPr>
            <a:r>
              <a:rPr lang="en-US" sz="1250" dirty="0">
                <a:solidFill>
                  <a:schemeClr val="tx2"/>
                </a:solidFill>
              </a:rPr>
              <a:t>Sports World puede ejecutarlo con el proveedor que elija.</a:t>
            </a:r>
            <a:endParaRPr lang="en-US" sz="1250" dirty="0"/>
          </a:p>
          <a:p>
            <a:pPr marL="342900" indent="-342900">
              <a:spcAft>
                <a:spcPts val="600"/>
              </a:spcAft>
              <a:buSzPct val="100000"/>
              <a:buChar char="•"/>
            </a:pPr>
            <a:r>
              <a:rPr lang="en-US" sz="1250" dirty="0">
                <a:solidFill>
                  <a:schemeClr val="tx2"/>
                </a:solidFill>
              </a:rPr>
              <a:t>Cubre el valor íntegro de lo entregado (649,100 MXN) y equivale a 37 % del contrato final de 1,742,600 MXN.</a:t>
            </a:r>
            <a:endParaRPr lang="en-US" sz="1250" dirty="0"/>
          </a:p>
        </p:txBody>
      </p:sp>
      <p:sp>
        <p:nvSpPr>
          <p:cNvPr id="14" name="pie"/>
          <p:cNvSpPr txBox="1"/>
          <p:nvPr/>
        </p:nvSpPr>
        <p:spPr>
          <a:xfrm>
            <a:off x="548640" y="5989320"/>
            <a:ext cx="11091672" cy="274320"/>
          </a:xfrm>
          <a:prstGeom prst="rect">
            <a:avLst/>
          </a:prstGeom>
          <a:noFill/>
          <a:ln/>
        </p:spPr>
        <p:txBody>
          <a:bodyPr wrap="square" lIns="0" tIns="0" rIns="0" bIns="0" rtlCol="0" anchor="ctr"/>
          <a:lstStyle/>
          <a:p>
            <a:pPr indent="0" marL="0">
              <a:buNone/>
            </a:pPr>
            <a:r>
              <a:rPr lang="en-US" sz="1100" dirty="0">
                <a:solidFill>
                  <a:schemeClr val="accent3"/>
                </a:solidFill>
              </a:rPr>
              <a:t>Ambas opciones cierran el proyecto de forma limpia y conservan la relación comercial</a:t>
            </a:r>
            <a:endParaRPr lang="en-US" sz="1100" dirty="0"/>
          </a:p>
        </p:txBody>
      </p:sp>
      <p:sp>
        <p:nvSpPr>
          <p:cNvPr id="16" name="Text 0"/>
          <p:cNvSpPr/>
          <p:nvPr>
            <p:ph idx="100" type="title" hasCustomPrompt="1"/>
          </p:nvPr>
        </p:nvSpPr>
        <p:spPr>
          <a:xfrm>
            <a:off x="548640" y="1463040"/>
            <a:ext cx="11091672" cy="2011680"/>
          </a:xfrm>
          <a:prstGeom prst="rect">
            <a:avLst/>
          </a:prstGeom>
          <a:noFill/>
          <a:ln/>
        </p:spPr>
        <p:txBody>
          <a:bodyPr wrap="square" lIns="0" tIns="0" rIns="0" bIns="0" rtlCol="0" anchor="t"/>
          <a:lstStyle/>
          <a:p>
            <a:pPr algn="l" indent="0" marL="0">
              <a:buNone/>
            </a:pPr>
            <a:endParaRPr lang="en-US" sz="4000" dirty="0"/>
          </a:p>
        </p:txBody>
      </p:sp>
      <p:sp>
        <p:nvSpPr>
          <p:cNvPr id="17" name="Text 0"/>
          <p:cNvSpPr/>
          <p:nvPr>
            <p:ph idx="101" type="body" hasCustomPrompt="1"/>
          </p:nvPr>
        </p:nvSpPr>
        <p:spPr>
          <a:xfrm>
            <a:off x="548640" y="3657600"/>
            <a:ext cx="9262872" cy="1463040"/>
          </a:xfrm>
          <a:prstGeom prst="rect">
            <a:avLst/>
          </a:prstGeom>
          <a:noFill/>
          <a:ln/>
        </p:spPr>
        <p:txBody>
          <a:bodyPr wrap="square" lIns="0" tIns="0" rIns="0" bIns="0" rtlCol="0" anchor="t"/>
          <a:lstStyle/>
          <a:p>
            <a:pPr indent="0" marL="0">
              <a:buNone/>
            </a:pP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1672" cy="274320"/>
          </a:xfrm>
          <a:prstGeom prst="rect">
            <a:avLst/>
          </a:prstGeom>
          <a:noFill/>
          <a:ln/>
        </p:spPr>
        <p:txBody>
          <a:bodyPr wrap="square" lIns="0" tIns="0" rIns="0" bIns="0" rtlCol="0"/>
          <a:lstStyle/>
          <a:p>
            <a:pPr indent="0" marL="0">
              <a:buNone/>
            </a:pPr>
            <a:r>
              <a:rPr lang="en-US" sz="1100" spc="300" kern="0" dirty="0">
                <a:solidFill>
                  <a:schemeClr val="accent1"/>
                </a:solidFill>
              </a:rPr>
              <a:t>CIERRE · PRÓXIMOS PASOS</a:t>
            </a:r>
            <a:endParaRPr lang="en-US" sz="11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000" dirty="0">
                <a:solidFill>
                  <a:schemeClr val="tx1"/>
                </a:solidFill>
              </a:rPr>
              <a:t>Quince días para cerrar</a:t>
            </a:r>
            <a:endParaRPr lang="en-US" sz="3000" dirty="0"/>
          </a:p>
        </p:txBody>
      </p:sp>
      <p:graphicFrame>
        <p:nvGraphicFramePr>
          <p:cNvPr id="15" name="tabla"/>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548640"/>
                <a:gridCol w="6400800"/>
                <a:gridCol w="2011680"/>
                <a:gridCol w="2130552"/>
              </a:tblGrid>
              <a:tr h="0">
                <a:tc>
                  <a:txBody>
                    <a:bodyPr/>
                    <a:lstStyle/>
                    <a:p>
                      <a:pPr indent="0" marL="0">
                        <a:buNone/>
                      </a:pPr>
                      <a:r>
                        <a:rPr lang="en-US" sz="1250" b="1" dirty="0">
                          <a:solidFill>
                            <a:schemeClr val="bg1"/>
                          </a:solidFill>
                        </a:rPr>
                        <a:t>#</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Acción</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Responsable</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Fecha propuesta</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tx1"/>
                    </a:solidFill>
                  </a:tcPr>
                </a:tc>
              </a:tr>
              <a:tr h="0">
                <a:tc>
                  <a:txBody>
                    <a:bodyPr/>
                    <a:lstStyle/>
                    <a:p>
                      <a:pPr indent="0" marL="0">
                        <a:buNone/>
                      </a:pPr>
                      <a:r>
                        <a:rPr lang="en-US" sz="1250" dirty="0">
                          <a:solidFill>
                            <a:schemeClr val="tx1"/>
                          </a:solidFill>
                        </a:rPr>
                        <a:t>1</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Decisión por escrito, con razones y mes de reconsideración</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Sports World</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16 de octubre</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250" dirty="0">
                          <a:solidFill>
                            <a:schemeClr val="tx1"/>
                          </a:solidFill>
                        </a:rPr>
                        <a:t>2</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Alcance y precio de las «otras opciones» comparadas</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Sports World</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16 de octubre</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250" dirty="0">
                          <a:solidFill>
                            <a:schemeClr val="tx1"/>
                          </a:solidFill>
                        </a:rPr>
                        <a:t>3</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Objeción de Legal y Sistemas al contrato del 29 de septiembre; sesión técnica de 45 minutos</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Ambas partes</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13 a 17 de octubre</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250" dirty="0">
                          <a:solidFill>
                            <a:schemeClr val="tx1"/>
                          </a:solidFill>
                        </a:rPr>
                        <a:t>4</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Elección de la opción de cierre y firma del acuerdo</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Sports World</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23 de octubre</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r h="0">
                <a:tc>
                  <a:txBody>
                    <a:bodyPr/>
                    <a:lstStyle/>
                    <a:p>
                      <a:pPr indent="0" marL="0">
                        <a:buNone/>
                      </a:pPr>
                      <a:r>
                        <a:rPr lang="en-US" sz="1250" dirty="0">
                          <a:solidFill>
                            <a:schemeClr val="tx1"/>
                          </a:solidFill>
                        </a:rPr>
                        <a:t>5</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Pago de la compensación o de la adquisición</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Sports World</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31 de octubre</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accent6"/>
                    </a:solidFill>
                  </a:tcPr>
                </a:tc>
              </a:tr>
              <a:tr h="0">
                <a:tc>
                  <a:txBody>
                    <a:bodyPr/>
                    <a:lstStyle/>
                    <a:p>
                      <a:pPr indent="0" marL="0">
                        <a:buNone/>
                      </a:pPr>
                      <a:r>
                        <a:rPr lang="en-US" sz="1250" dirty="0">
                          <a:solidFill>
                            <a:schemeClr val="tx1"/>
                          </a:solidFill>
                        </a:rPr>
                        <a:t>6</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No uso ni compartición de entregables mientras no haya pago</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Sports World</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Desde hoy</a:t>
                      </a:r>
                      <a:endParaRPr lang="en-US" sz="1250" dirty="0"/>
                    </a:p>
                  </a:txBody>
                  <a:tcPr marL="54864" marR="54864" marT="54864" marB="54864" anchor="ctr">
                    <a:lnL w="6350" cap="flat" cmpd="sng" algn="ctr">
                      <a:solidFill>
                        <a:srgbClr val="D9D6CE"/>
                      </a:solidFill>
                      <a:prstDash val="solid"/>
                      <a:round/>
                      <a:headEnd type="none" w="med" len="med"/>
                      <a:tailEnd type="none" w="med" len="med"/>
                    </a:lnL>
                    <a:lnR w="6350" cap="flat" cmpd="sng" algn="ctr">
                      <a:solidFill>
                        <a:srgbClr val="D9D6CE"/>
                      </a:solidFill>
                      <a:prstDash val="solid"/>
                      <a:round/>
                      <a:headEnd type="none" w="med" len="med"/>
                      <a:tailEnd type="none" w="med" len="med"/>
                    </a:lnR>
                    <a:lnT w="6350" cap="flat" cmpd="sng" algn="ctr">
                      <a:solidFill>
                        <a:srgbClr val="D9D6CE"/>
                      </a:solidFill>
                      <a:prstDash val="solid"/>
                      <a:round/>
                      <a:headEnd type="none" w="med" len="med"/>
                      <a:tailEnd type="none" w="med" len="med"/>
                    </a:lnT>
                    <a:lnB w="6350" cap="flat" cmpd="sng" algn="ctr">
                      <a:solidFill>
                        <a:srgbClr val="D9D6CE"/>
                      </a:solidFill>
                      <a:prstDash val="solid"/>
                      <a:round/>
                      <a:headEnd type="none" w="med" len="med"/>
                      <a:tailEnd type="none" w="med" len="med"/>
                    </a:lnB>
                    <a:solidFill>
                      <a:schemeClr val="bg2"/>
                    </a:solidFill>
                  </a:tcPr>
                </a:tc>
              </a:tr>
            </a:tbl>
          </a:graphicData>
        </a:graphic>
      </p:graphicFrame>
      <p:sp>
        <p:nvSpPr>
          <p:cNvPr id="6" name="cierre"/>
          <p:cNvSpPr txBox="1"/>
          <p:nvPr/>
        </p:nvSpPr>
        <p:spPr>
          <a:xfrm>
            <a:off x="548640" y="5120640"/>
            <a:ext cx="11091672" cy="731520"/>
          </a:xfrm>
          <a:prstGeom prst="rect">
            <a:avLst/>
          </a:prstGeom>
          <a:noFill/>
          <a:ln/>
        </p:spPr>
        <p:txBody>
          <a:bodyPr wrap="square" lIns="0" tIns="0" rIns="0" bIns="0" rtlCol="0" anchor="t"/>
          <a:lstStyle/>
          <a:p>
            <a:pPr indent="0" marL="0">
              <a:buNone/>
            </a:pPr>
            <a:r>
              <a:rPr lang="en-US" sz="1300" dirty="0">
                <a:solidFill>
                  <a:schemeClr val="tx2"/>
                </a:solidFill>
              </a:rPr>
              <a:t>Si Sports World retoma el proyecto, la compensación de la Opción 1 se descuenta íntegra del total contratado. El proyecto puede arrancar dos semanas después de la firma.</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731520"/>
            <a:ext cx="11091672" cy="274320"/>
          </a:xfrm>
          <a:prstGeom prst="rect">
            <a:avLst/>
          </a:prstGeom>
          <a:noFill/>
          <a:ln/>
        </p:spPr>
        <p:txBody>
          <a:bodyPr wrap="square" lIns="0" tIns="0" rIns="0" bIns="0" rtlCol="0" anchor="ctr"/>
          <a:lstStyle/>
          <a:p>
            <a:pPr indent="0" marL="0">
              <a:buNone/>
            </a:pPr>
            <a:r>
              <a:rPr lang="en-US" sz="1100" spc="300" kern="0" dirty="0">
                <a:solidFill>
                  <a:schemeClr val="accent3"/>
                </a:solidFill>
              </a:rPr>
              <a:t>CIERRE</a:t>
            </a:r>
            <a:endParaRPr lang="en-US" sz="1100" dirty="0"/>
          </a:p>
        </p:txBody>
      </p:sp>
      <p:sp>
        <p:nvSpPr>
          <p:cNvPr id="3" name="tesis"/>
          <p:cNvSpPr txBox="1"/>
          <p:nvPr/>
        </p:nvSpPr>
        <p:spPr>
          <a:xfrm>
            <a:off x="548640" y="1371600"/>
            <a:ext cx="11091672" cy="2377440"/>
          </a:xfrm>
          <a:prstGeom prst="rect">
            <a:avLst/>
          </a:prstGeom>
          <a:noFill/>
          <a:ln/>
        </p:spPr>
        <p:txBody>
          <a:bodyPr wrap="square" lIns="0" tIns="0" rIns="0" bIns="0" rtlCol="0" anchor="t"/>
          <a:lstStyle/>
          <a:p>
            <a:pPr indent="0" marL="0">
              <a:buNone/>
            </a:pPr>
            <a:r>
              <a:rPr lang="en-US" sz="2800" dirty="0">
                <a:solidFill>
                  <a:schemeClr val="bg1"/>
                </a:solidFill>
                <a:latin typeface="Cambria" pitchFamily="34" charset="0"/>
                <a:ea typeface="Cambria" pitchFamily="34" charset="-122"/>
                <a:cs typeface="Cambria" pitchFamily="34" charset="-120"/>
              </a:rPr>
              <a:t>Final Upgrade trajo este proyecto a Sports World cuando nadie lo había visto, lo construyó durante siete meses a petición de Sports World, bajó el precio 27 % cuando se le pidió y respondió cada pregunta el mismo día.</a:t>
            </a:r>
            <a:endParaRPr lang="en-US" sz="2800" dirty="0"/>
          </a:p>
        </p:txBody>
      </p:sp>
      <p:sp>
        <p:nvSpPr>
          <p:cNvPr id="4" name="sub"/>
          <p:cNvSpPr txBox="1"/>
          <p:nvPr/>
        </p:nvSpPr>
        <p:spPr>
          <a:xfrm>
            <a:off x="548640" y="4023360"/>
            <a:ext cx="9262872" cy="914400"/>
          </a:xfrm>
          <a:prstGeom prst="rect">
            <a:avLst/>
          </a:prstGeom>
          <a:noFill/>
          <a:ln/>
        </p:spPr>
        <p:txBody>
          <a:bodyPr wrap="square" lIns="0" tIns="0" rIns="0" bIns="0" rtlCol="0" anchor="t"/>
          <a:lstStyle/>
          <a:p>
            <a:pPr indent="0" marL="0">
              <a:buNone/>
            </a:pPr>
            <a:r>
              <a:rPr lang="en-US" sz="1800" dirty="0">
                <a:solidFill>
                  <a:schemeClr val="accent3"/>
                </a:solidFill>
              </a:rPr>
              <a:t>Queremos seguir trabajando con Sports World en 2027. Para eso, este cierre tiene que ser claro, justo y rápido.</a:t>
            </a:r>
            <a:endParaRPr lang="en-US" sz="1800" dirty="0"/>
          </a:p>
        </p:txBody>
      </p:sp>
      <p:sp>
        <p:nvSpPr>
          <p:cNvPr id="5" name="firma"/>
          <p:cNvSpPr txBox="1"/>
          <p:nvPr/>
        </p:nvSpPr>
        <p:spPr>
          <a:xfrm>
            <a:off x="548640" y="5760720"/>
            <a:ext cx="11091672" cy="274320"/>
          </a:xfrm>
          <a:prstGeom prst="rect">
            <a:avLst/>
          </a:prstGeom>
          <a:noFill/>
          <a:ln/>
        </p:spPr>
        <p:txBody>
          <a:bodyPr wrap="square" lIns="0" tIns="0" rIns="0" bIns="0" rtlCol="0" anchor="ctr"/>
          <a:lstStyle/>
          <a:p>
            <a:pPr indent="0" marL="0">
              <a:buNone/>
            </a:pPr>
            <a:r>
              <a:rPr lang="en-US" sz="1100" dirty="0">
                <a:solidFill>
                  <a:schemeClr val="accent3"/>
                </a:solidFill>
              </a:rPr>
              <a:t>Eric Toledano · Final Upgrade AI · eric@finalupgrade.ai</a:t>
            </a:r>
            <a:endParaRPr lang="en-US" sz="1100" dirty="0"/>
          </a:p>
        </p:txBody>
      </p:sp>
      <p:sp>
        <p:nvSpPr>
          <p:cNvPr id="7" name="Text 0"/>
          <p:cNvSpPr/>
          <p:nvPr>
            <p:ph idx="100" type="title" hasCustomPrompt="1"/>
          </p:nvPr>
        </p:nvSpPr>
        <p:spPr>
          <a:xfrm>
            <a:off x="548640" y="1463040"/>
            <a:ext cx="11091672" cy="2011680"/>
          </a:xfrm>
          <a:prstGeom prst="rect">
            <a:avLst/>
          </a:prstGeom>
          <a:noFill/>
          <a:ln/>
        </p:spPr>
        <p:txBody>
          <a:bodyPr wrap="square" lIns="0" tIns="0" rIns="0" bIns="0" rtlCol="0" anchor="t"/>
          <a:lstStyle/>
          <a:p>
            <a:pPr algn="l" indent="0" marL="0">
              <a:buNone/>
            </a:pPr>
            <a:endParaRPr lang="en-US" sz="4000" dirty="0"/>
          </a:p>
        </p:txBody>
      </p:sp>
      <p:sp>
        <p:nvSpPr>
          <p:cNvPr id="8" name="Text 0"/>
          <p:cNvSpPr/>
          <p:nvPr>
            <p:ph idx="101" type="body" hasCustomPrompt="1"/>
          </p:nvPr>
        </p:nvSpPr>
        <p:spPr>
          <a:xfrm>
            <a:off x="548640" y="3657600"/>
            <a:ext cx="9262872" cy="1463040"/>
          </a:xfrm>
          <a:prstGeom prst="rect">
            <a:avLst/>
          </a:prstGeom>
          <a:noFill/>
          <a:ln/>
        </p:spPr>
        <p:txBody>
          <a:bodyPr wrap="square" lIns="0" tIns="0" rIns="0" bIns="0" rtlCol="0" anchor="t"/>
          <a:lstStyle/>
          <a:p>
            <a:pPr indent="0" marL="0">
              <a:buNone/>
            </a:pPr>
            <a:endParaRPr lang="en-US" sz="1800" dirty="0"/>
          </a:p>
        </p:txBody>
      </p:sp>
    </p:spTree>
  </p:cSld>
  <p:clrMapOvr>
    <a:masterClrMapping/>
  </p:clrMapOvr>
</p:sld>
</file>

<file path=ppt/theme/theme1.xml><?xml version="1.0" encoding="utf-8"?>
<a:theme xmlns:a="http://schemas.openxmlformats.org/drawingml/2006/main" name="Final Upgrade Cierre">
  <a:themeElements>
    <a:clrScheme name="Final Upgrade Cierre">
      <a:dk1>
        <a:srgbClr val="14213D"/>
      </a:dk1>
      <a:lt1>
        <a:srgbClr val="FFFFFF"/>
      </a:lt1>
      <a:dk2>
        <a:srgbClr val="4A5568"/>
      </a:dk2>
      <a:lt2>
        <a:srgbClr val="F4F3EE"/>
      </a:lt2>
      <a:accent1>
        <a:srgbClr val="0B6E7F"/>
      </a:accent1>
      <a:accent2>
        <a:srgbClr val="B8862B"/>
      </a:accent2>
      <a:accent3>
        <a:srgbClr val="BFD8D5"/>
      </a:accent3>
      <a:accent4>
        <a:srgbClr val="ECEAE3"/>
      </a:accent4>
      <a:accent5>
        <a:srgbClr val="D9D6CE"/>
      </a:accent5>
      <a:accent6>
        <a:srgbClr val="FFFFFC"/>
      </a:accent6>
      <a:hlink>
        <a:srgbClr val="0B6E7F"/>
      </a:hlink>
      <a:folHlink>
        <a:srgbClr val="4A5568"/>
      </a:folHlink>
    </a:clrScheme>
    <a:fontScheme name="Final Upgrade Cier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Sports World · Cierre justo del proyecto</dc:title>
  <dc:subject>PptxGenJS Presentation</dc:subject>
  <dc:creator>Final Upgrade AI</dc:creator>
  <cp:lastModifiedBy>Final Upgrade AI</cp:lastModifiedBy>
  <cp:revision>1</cp:revision>
  <dcterms:created xsi:type="dcterms:W3CDTF">2026-10-09T18:22:40Z</dcterms:created>
  <dcterms:modified xsi:type="dcterms:W3CDTF">2026-10-09T18:22:40Z</dcterms:modified>
</cp:coreProperties>
</file>